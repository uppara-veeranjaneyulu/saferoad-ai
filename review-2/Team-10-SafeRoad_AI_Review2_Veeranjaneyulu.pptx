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pic>
        <p:nvPicPr>
          <p:cNvPr id="3" name="Picture 2" descr="slide_1_Picture 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3120" y="320040"/>
            <a:ext cx="9509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0000"/>
                </a:solidFill>
                <a:latin typeface="Times New Roman"/>
              </a:defRPr>
            </a:pPr>
            <a:r>
              <a:t>NEURAL NETWORKS AND DEEP LEARNING (23CSE473)</a:t>
            </a:r>
          </a:p>
          <a:p>
            <a:pPr>
              <a:defRPr sz="1400" b="1">
                <a:solidFill>
                  <a:srgbClr val="475569"/>
                </a:solidFill>
                <a:latin typeface="Times New Roman"/>
              </a:defRPr>
            </a:pPr>
            <a:r>
              <a:t>CASE STUDY REVIEW 2 — INDIVIDUAL MODULE EVALUATION (TEAM 10)</a:t>
            </a:r>
          </a:p>
          <a:p>
            <a:pPr>
              <a:spcBef>
                <a:spcPts val="300"/>
              </a:spcBef>
              <a:defRPr sz="2200" b="1">
                <a:solidFill>
                  <a:srgbClr val="8B0000"/>
                </a:solidFill>
                <a:latin typeface="Times New Roman"/>
              </a:defRPr>
            </a:pPr>
            <a:r>
              <a:t>SafeRoad AI: Road-Scene Risk Classification &amp; Traffic Monitoring</a:t>
            </a:r>
          </a:p>
          <a:p>
            <a:pPr>
              <a:defRPr sz="1350" b="1">
                <a:solidFill>
                  <a:srgbClr val="C00000"/>
                </a:solidFill>
                <a:latin typeface="Times New Roman"/>
              </a:defRPr>
            </a:pPr>
            <a:r>
              <a:t>INDIVIDUAL MODULE FOCUS: EFFICIENTNETB0 DEEP CLASSIFIER &amp; FULL-STACK WEB PLATFORM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57400"/>
          <a:ext cx="1109167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468880"/>
                <a:gridCol w="1920240"/>
                <a:gridCol w="3108960"/>
                <a:gridCol w="3044952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Sl No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Student Name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Roll Number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College Email ID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Project Module Focus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Chaitanya Chitturi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CB.SC.U4CSE23214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cb.sc.u4cse23214@cb.students.amrita.edu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YOLOv8 &amp; DnCNN Image Denoising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 Hema Sai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CB.SC.U4CSE23266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cb.sc.u4cse23266@cb.students.amrita.edu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MobileNetV2 Risk Classification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U Veeranjaneyulu (Presenter)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CB.SC.U4CSE23351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cb.sc.u4cse23351@cb.students.amrita.edu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EfficientNetB0 &amp; Full-Stack Web Platform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Charan Kola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CB.SC.U4CSE23332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cb.sc.u4cse23332@cb.students.amrita.edu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ResNet-50 &amp; Dataset Benchmarking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526280"/>
            <a:ext cx="11091672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90872"/>
            <a:ext cx="10634472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Ownership &amp; Mentorship Coordinates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Presenter Details: </a:t>
            </a:r>
            <a:r>
              <a:rPr sz="1450">
                <a:solidFill>
                  <a:srgbClr val="0F172A"/>
                </a:solidFill>
                <a:latin typeface="Times New Roman"/>
              </a:rPr>
              <a:t>U Veeranjaneyulu | Roll Number: CB.SC.U4CSE23351 | Contact: 9848267497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Assigned Module Scope: </a:t>
            </a:r>
            <a:r>
              <a:rPr sz="1450">
                <a:solidFill>
                  <a:srgbClr val="0F172A"/>
                </a:solidFill>
                <a:latin typeface="Times New Roman"/>
              </a:rPr>
              <a:t>Deep Learning Classification using EfficientNetB0 &amp; Production Full-Stack Web Platform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Faculty Guide &amp; Course: </a:t>
            </a:r>
            <a:r>
              <a:rPr sz="1450">
                <a:solidFill>
                  <a:srgbClr val="0F172A"/>
                </a:solidFill>
                <a:latin typeface="Times New Roman"/>
              </a:rPr>
              <a:t>Professor – Dr. T Senthil Kumar (Department of CSE) | Course: 23CSE473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Source Code &amp; Live App: </a:t>
            </a:r>
            <a:r>
              <a:rPr sz="1450">
                <a:solidFill>
                  <a:srgbClr val="0F172A"/>
                </a:solidFill>
                <a:latin typeface="Times New Roman"/>
              </a:rPr>
              <a:t>GitHub: https://github.com/Uppara-Veeranjaneyulu/SafeRoad-AI | Live: https://saferoad-ai-one.vercel.app/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Real-World Context: The Urgent Need for Proactive Road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Global &amp; National Crisis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1.19 Million Fatalities Annually: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According to WHO 2023 reports, road traffic injuries remain the leading global cause of death for children and young adults aged 5–29.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Economic Drain: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Road crashes cost most countries approximately 3% of their total Gross Domestic Product (GDP).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Vulnerable Road Users (VRUs):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Pedestrians, cyclists, and two-wheeler riders account for more than half of all global traffic deaths, bearing disproportionate risk.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Preventable Epidemic: </a:t>
            </a:r>
            <a:r>
              <a:rPr sz="1550">
                <a:solidFill>
                  <a:srgbClr val="0F172A"/>
                </a:solidFill>
                <a:latin typeface="Times New Roman"/>
              </a:rPr>
              <a:t>Over 90% of road casualties occur in low- and middle-income nations, where infrastructure and active safety alerts 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Indian Road Reality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1.68 Lakh Deaths in 2022: </a:t>
            </a:r>
            <a:r>
              <a:rPr sz="1550">
                <a:solidFill>
                  <a:srgbClr val="0F172A"/>
                </a:solidFill>
                <a:latin typeface="Times New Roman"/>
              </a:rPr>
              <a:t>MoRTH official statistics record 4.61 lakh accidents annually, resulting in a devastating loss of 19 lives every single hour.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High Collision Fatality Rate: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India accounts for 11% of global road deaths despite having only 1% of the world's vehicular fleet.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Urban Heterogeneity: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Traffic mixes high-speed cars, auto-rickshaws, stray animals, and pedestrians on lanes without physical median dividers.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Sensory Overload: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Human drivers experience severe perceptual fatigue, especially during night driving and extreme monsoon weather.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Problem Statement &amp; Identified Research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The Operational Problem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Reactive, Not Proactive: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Traditional safety systems (airbags, ABS) activate during or milliseconds before collision; they fail to prevent accident buildup.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Perceptual Limitations: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Human drivers suffer from blind spots, night glare, fatigue, and delayed reaction time under adverse weather.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Computational Heavyweights: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Existing high-accuracy vision architectures (ResNet-152, Vision Transformers) exceed the compute budgets of affordable vehicle edge devices.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Imbalanced Real-World Data: </a:t>
            </a:r>
            <a:r>
              <a:rPr sz="1550">
                <a:solidFill>
                  <a:srgbClr val="0F172A"/>
                </a:solidFill>
                <a:latin typeface="Times New Roman"/>
              </a:rPr>
              <a:t>Accident situations are rare (&lt;10% of driving footage), causing standard deep learning classifiers to heavily favor the 'Safe'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Specific Research Gaps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Gap 1 — Edge Deployment Trade-off: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Prior road safety research prioritized top-1 accuracy at the expense of latency; models require costly GPU rigs unsuitable for mass deployment.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Gap 2 — Adverse Condition Blindness: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Detectors trained exclusively on clean benchmark imagery fail catastrophically when presented with camera sensor noise or heavy rain.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Gap 3 — Neglect of Rare Hazards: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Severe class imbalance (11.7:1 in natural road video) leads to &gt;40% false-negative rates on imminent crash scenarios.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Gap 4 — Fragmented Pipelines: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Previous studies separated risk classification from traffic object detection; SafeRoad AI unifies both into an end-to-end driver alert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Core Motivation &amp; UN Sustainable Development Goals (SDG)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Core Technical Motivation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Proactive Edge Intelligence: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Shift road safety from passive collision mitigation to active real-time danger prediction using lightweight deep neural networks.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Democratizing Vehicle Safety: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Deliver sub-25ms inference latency on affordable hardware (NVIDIA Jetson / Raspberry Pi), bringing ADAS-level protection to mass-market vehicles.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Weather &amp; Noise Invariance: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Integrate deep image restoration upstream so perception remains razor-sharp through rain, fog, and sensor degradation.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Actionable Driver Alerts: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Translate high-dimensional image tensors into simple 3-tier risk warnings (Safe, Moderate, High) with under 50ms total response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Alignment with UN Sustainable Goals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SDG 3.6 — Half Global Traffic Casualties: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Target: Halve the number of global deaths and injuries from road traffic crashes through proactive hazard warning.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SDG 11.2 — Safe, Sustainable Transport: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Target: Provide access to safe, affordable, accessible, and sustainable transport systems for all, notably expanding public transit safety.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SDG 9.5 — Upgrading Technological Capabilities: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Target: Enhance scientific research and upgrade the technological capabilities of industrial sectors through edge-AI innovations.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Social Equity: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Bringing autonomous-grade collision prevention to commercial trucks and auto-rickshaws where casualty rates are highest.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Literature Survey: 20 SCImago-Verified Research Papers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645920"/>
                <a:gridCol w="2560320"/>
                <a:gridCol w="322783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Research Sub-Domain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Papers Analyzed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SCImago Ranking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Leading Journals / Conferences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Primary Technical Takeaway for SafeRoad AI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Road Hazard &amp; Risk Classification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5 Papers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(SJR 1.85 – 2.59)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TITS, IEEE TVT, Expert Systems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Class-weighted focal loss resolves the 11.7:1 real-world road data imbalance.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Lightweight Deep Architectures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5 Papers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(SJR 1.81 – 2.50)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TIP, Applied Soft Computing, ESWA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Compound scaling in EfficientNetB0 delivers 79.0% accuracy with only 4.21M parameters.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Real-Time Object Detection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5 Papers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(SJR 1.81 – 2.87)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Access, Neurocomputing, Engineering Apps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Anchor-free decoupled heads (YOLOv8) maximize multi-agent localization speed.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Image Restoration &amp; Denoising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5 Papers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/ Q2 (SJR 0.70 – 2.50)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TIP, Digital Signal Processing, Elsevier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Residual learning (DnCNN) cleans dashcam sensor noise, boosting PSNR by +5.86 dB.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Literature Survey: Chaitanya Chitturi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2377440"/>
                <a:gridCol w="1188720"/>
                <a:gridCol w="313639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Sl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 Title &amp; Authors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Journal &amp; Year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SCImago Rank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Direct Relevance to SafeRoad AI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Real-Time Object Detection in Autonomous Driving (Chen et al.)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TVT (2023)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2.145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Demonstrates latency-critical YOLO pipelines for fast vehicle and obstacle bounding box extraction.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Multi-Task Feature Fusion for Road Hazards (Wang &amp; Liu)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Expert Systems with Apps (2024)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1.854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Validates the integration of detection heads alongside scene risk classification networks.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Attention Mechanisms in Edge-AI Driving (Kumar et al.)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Applied Soft Computing (2023)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1.810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Informs our deployment of lightweight attention layers to isolate distant road hazards.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Robust Driving Vision under Extreme Weather (Zhao et al.)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TITS (2022)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2.589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Provides architectural baselines for handling raindrop occlusion and nighttime highway glare.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Literature Survey: T Hema Sai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2377440"/>
                <a:gridCol w="1188720"/>
                <a:gridCol w="313639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Sl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 Title &amp; Authors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Journal &amp; Year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SCImago Rank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Direct Relevance to SafeRoad AI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MobileNetV2: Inverted Residuals and Linear Bottlenecks (Sandler et al.)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CVPR (2018)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Top Conf / Q1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Foundational paper proving depthwise separable convolutions preserve accuracy while cutting MACs by 70%.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Dynamic Loss Balancing for Road Safety Assessment (Kačan et al.)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TITS (2024)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2.589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Standard Paper: Directly adopted their class-weighted loss formulation to conquer our 11.7:1 data imbalance.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Edge-AI Collision Warning on Inverted Residual Nets (Gupta et al.)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Access (2023)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0.925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Confirms that inverted residuals achieve sub-15ms latency on embedded Jetson devices.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Bayesian Optimization for Deep Vision Tuning (Snoek et al.)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NeurIPS / JMLR (2021)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3.120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Underpins our automated Optuna Bayesian optimization search for learning rates and dropout.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Literature Survey: U Veeranjaneyulu (Presenter)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2377440"/>
                <a:gridCol w="1188720"/>
                <a:gridCol w="313639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Sl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 Title &amp; Authors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Journal &amp; Year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SCImago Rank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Direct Relevance to SafeRoad AI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Beyond a Gaussian Denoiser: Residual Learning of Deep CNN (Zhang et al.)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TIP (2017)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2.502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Standard Paper: Supplies our 17-layer DnCNN architecture: learning noise residual R(y) rather than clean images.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EfficientNet: Rethinking Model Scaling for CNNs (Tan &amp; Le)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ICML (2019)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Top Conf / Q1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Foundational theory of compound scaling (depth, width, resolution) powering our EfficientNetB0 classifier.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Decomposed Neural Architecture Search for image denoising (Elsevier)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Applied Soft Computing (2022)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1.810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Guides optimization of convolutional layer depth and filter counts for low-latency dashcam pre-filtering.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Squeeze-and-Excitation Networks (Hu, Shen, Albanie, Sun &amp; Enhua)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TPAMI (2020)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4.860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Validates channel-wise attention recalibration inside EfficientNetB0 MBConv blocks to capture road hazards.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Literature Survey: Charan Kola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2377440"/>
                <a:gridCol w="1188720"/>
                <a:gridCol w="313639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Sl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 Title &amp; Authors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Journal &amp; Year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SCImago Rank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Direct Relevance to SafeRoad AI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Deep Residual Learning for Image Recognition (He et al.)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CVPR (2016)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Top Conf / Q1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Provides ResNet-50 benchmark baseline: analyzes skip connections and vanishing gradient mitigation.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BDD100K: A Diverse Driving Dataset for Heterogeneous Scenes (Yu et al.)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CVPR (2020)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Top Conf / Q1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Primary data source for multi-weather, day/night road imagery comprising 6,949 frames.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Focal Loss for Dense Object Detection (Lin et al.)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ICCV (2017)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Top Conf / Q1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Theoretical underpinning for dynamically scaling loss against easily classified negative road samples.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Benchmarking Deep Vision Models on Low-Power Edge Devices (Al-Qizwini)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IEEE TVT (2023)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Q1 SJR: 2.145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Supplies empirical latency vs accuracy trade-off metrics comparing MobileNet, EfficientNet, and ResNet.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Overall Application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035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Core Architecture Highlights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Layer 1 — Sensory Ingestion: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Captures dashcam frames (1080p @ 30 FPS), downsamples to 224x224, and normalizes tensors.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Layer 2 — Restorative Pre-Filter (DnCNN):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17-layer residual network strips sensor thermal noise, compression artifacts, and blur.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Layer 3 — EfficientNetB0 Classifier: </a:t>
            </a:r>
            <a:r>
              <a:rPr sz="1500">
                <a:solidFill>
                  <a:srgbClr val="0F172A"/>
                </a:solidFill>
                <a:latin typeface="Times New Roman"/>
              </a:rPr>
              <a:t>MBConv blocks with Squeeze-and-Excitation extract multi-scale spatial road risk cues in 22.7 ms.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Layer 4 — Traffic Parsing (YOLOv8):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Anchor-free object detection simultaneously tracks pedestrians, vehicles, and signs.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Layer 5 — Full-Stack Interface: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React 18 + Tailwind dashboard delivers live telemetry, safety advice, and risk gauges.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SafeRoad AI Data Pipeline &amp; Processing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3474720"/>
                <a:gridCol w="277063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Pipeline Stage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Input Data &amp; Format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Transformations Applied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Output Latency &amp; Consumer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1. Ingestion &amp; Preprocessing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Raw RGB Dashcam Video (1080p / 720p)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Frame extraction, bilinear resize to 224x224, [0, 1] normalization.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&lt; 2.0 ms -&gt; Input Buffer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2. DnCNN Noise Cleansing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Corrupted 224x224x3 image tensor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17-layer Conv+BN+ReLU residual noise extraction: x_clean = y - R(y).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7.1 ms -&gt; Dual Downstream Heads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3. EfficientNetB0 Classification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Cleaned 224x224x3 restored tensor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Compound scaling, 7 MBConv stages, Squeeze-and-Excitation attention.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22.7 ms -&gt; Safety Logic Engine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4. UI Broadcast &amp; Alerting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3-Tier Probability Vector + Object Counts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Threshold validation, TTS audio alert generation, WebSocket telemetry.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&lt; 3.0 ms -&gt; React Infotainment UI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Module Details: Module 1 &amp; Module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1: Data Acquisition &amp; Preprocessing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Multi-Source Dataset: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Consolidates 6,949 driving frames from BDD100K, Indian Driving Dataset (IDD), and high-risk YouTube dashcam feeds.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Multi-Attribute Annotation: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Every frame is labeled with 14 environmental attributes including weather, lighting, road type, and obstacle count.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Automated Preprocessing: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Resizing, standardization, and stratified train/val/test splitting maintaining realistic class distributions.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Stratified Split Quality: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60% Train (4,169), 20% Val (1,390), and 20% Test (1,043) with identical class ratios.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2: Robustness &amp; Image Denoising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Synthetic Noisy Dataset (1,270 frames):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Curates realistic degraded camera feeds incorporating Gaussian noise, Salt-and-Pepper, Motion Blur, and Compression artifacts.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DnCNN Residual Architecture: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Employs a 17-layer convolutional network that learns the residual noise map R(y) rather than the clean image directly.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High-Frequency Restoration: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Preserves critical edge gradients, vehicle silhouettes, and lane boundaries essential for downstream classification.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Empirical Quality Gains: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Enhances input PSNR from 25.36 dB to &gt;31.2 dB across degraded road scenes.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Module Details: Module 3 &amp; Module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3: Intelligent Traffic Monitoring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Object Detection Core: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Employs YOLOv8n (Ultralytics), an anchor-free single-stage detector optimized for rapid vehicular and pedestrian localization.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Multi-Class Parsing: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Simultaneously detects cars, motorcycles, auto-rickshaws, buses, heavy trucks, pedestrians, and road signs.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Traffic Density Computation: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Extracts spatial object counts to assess road occupancy and congestion levels.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Ultra-Fast Latency: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Executes at under 12 ms on edge GPUs, enabling real-time frame evaluation alongside the classifier.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4: Deep Learning Risk Classification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Holistic Scene Evaluation: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Classifies full road scenes into three safety tiers: Safe (normal flow), Moderate Risk (dense traffic), and High Risk (imminent collision danger).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Model Zoo Benchmarking: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Compares 4 architectures on the identical held-out test split: Custom CNN, MobileNetV2, EfficientNetB0, and ResNet-50.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EfficientNetB0 Performance: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Achieved 79.00% Accuracy, 79.97% High-Risk Recall, and 94.84% High-Risk Precision in 22.7 ms with 4.21M parameters.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Optuna Hyperparameter Tuning: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Automated Bayesian search identified optimal learning rate (0.000554), batch size (16), dense units (256), and dropout (0.50).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Module Details: Module 5 &amp; Module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5: Interactive Full-Stack Web Platform (Presenter)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React 18 + Tailwind Frontend: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Constructed by U Veeranjaneyulu: modern glassmorphic interface with real-time risk gauges and micro-animations.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High-Throughput Flask API: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RESTful backend exposing /api/predict, /api/models, and /api/stats with multi-threading.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Production Cloud Deployment: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Deployed live on Vercel edge CDN: https://saferoad-ai-one.vercel.app/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Active Driver Assistant: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Translates neural network outputs into instant actionable warnings (e.g., 'Heavy Rain Detected — Reduce Speed').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Module 6: Evaluation &amp; Safety Metrics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Safety-Critical Prioritization: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Prioritizes High-Risk Recall over generic accuracy to minimize life-threatening false negatives.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Rigorous Statistical Validation: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Per-class precision, recall, F1-score, and confusion matrices evaluated on 1,043 unseen test images.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Edge Latency Auditing: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End-to-end latency profiled across tensor conversion, denoising, inference, and UI rendering.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Standard Benchmark Alignment: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All metrics benchmarked directly against top-tier SCImago Q1 transportation literature.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Performance Metrics: Classification &amp; Safety Formulations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Accuracy &amp; Multi-Class Precision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Accuracy = (TP + TN) / (TP + TN + FP + FN)   |   Precision_c = TP_c / (TP_c + FP_c)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Accuracy measures total correct predictions; Precision ensures triggered collision alerts are genuine.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2588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High-Risk Recall (Safety-Critical Metric)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Recall_{High} = TP_{High} / ( TP_{High} + FN_{High} )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The single most important metric in SafeRoad AI: quantifies the proportion of genuine road hazards successfully caught.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Macro-Averaged F1-Score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Macro-F1 = (1 / C) * sum_{c=1}^C [ 2 * (P_c * R_c) / (P_c + R_c) ]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Treats all risk tiers equally, penalizing models that achieve high accuracy by sacrificing the rare Moderate Risk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1188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74904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Mean Inference Latency (FPS)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Latency = t_{end} - t_{start}  [in ms]   |   FPS = 1000 / Latency_{ms}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Measures the wall-clock execution time per frame on edge hardware; must be &lt;50 ms (&gt;20 FPS) for real-time collision prevention.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Performance Metrics: Loss &amp; Denoising Formulations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Class-Weighted Categorical Cross-Entropy Loss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L_{CE} = - (1 / N) * sum_{i=1}^N sum_{c=1}^C w_c * y_{i,c} * log( p_{i,c} )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Penalizes misclassifications on rare high-risk hazards using inverse-frequency class weights (w_{High} = 4.2).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2588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DnCNN Residual Learning Loss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L_{DnCNN}(Theta) = (1 / 2N) * sum_{i=1}^N || R(y_i; Theta) - (y_i - x_i) ||_F^2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Minimizes the Frobenius norm error between predicted noise residual R(y_i) and true noise (y_i - x_i).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394960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49377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Peak Signal-to-Noise Ratio (PSNR)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PSNR = 20 * log10( 255 / sqrt(MSE) )  [in dB]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Logarithmic ratio between peak signal power and mean squared reconstruction error; &gt;30 dB denotes crisp visual fidelity.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11880"/>
            <a:ext cx="5422392" cy="2240280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C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749040"/>
            <a:ext cx="496519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Structural Similarity Index (SSIM)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  <a:latin typeface="Times New Roman"/>
              </a:defRPr>
            </a:pPr>
            <a:r>
              <a:t>SSIM(x, y) = [ (2*mu_x*mu_y + C_1)(2*sigma_xy + C_2) ] / [ (mu_x^2 + mu_y^2 + C_1)(sigma_x^2 + sigma_y^2 + C_2) ]</a:t>
            </a:r>
          </a:p>
          <a:p>
            <a:pPr>
              <a:defRPr sz="1500">
                <a:solidFill>
                  <a:srgbClr val="0F172A"/>
                </a:solidFill>
                <a:latin typeface="Times New Roman"/>
              </a:defRPr>
            </a:pPr>
            <a:r>
              <a:t>Evaluates luminance, contrast, and structural preservation, ensuring road edge contours remain sharp.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Performance Metrics Suitability &amp; Literature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3108960"/>
                <a:gridCol w="2377440"/>
                <a:gridCol w="167335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 Name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Mathematical Nature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Suitability for Road Safety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Literature Reference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Benchmark Threshold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High-Risk Recall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Sensitivity on Class 2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Vital: A missed hazard causes crashes. False alarms cause mild braking.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Kačan et al. (IEEE TITS 2024)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Target: &gt; 78.0%
Achieved: 79.97%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Macro-F1 Score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Unweighted harmonic mean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Forces equal performance across the 11.7:1 imbalanced risk classes.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Marin et al. (IEEE TVT 2023)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Target: &gt; 60.0%
Achieved: 64.79%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Inference Latency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Temporal wall-clock time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Critical: Must execute within 50 ms human reaction headroom.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Al-Qizwini (IEEE TVT 2023)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Target: &lt; 35.0 ms
Achieved: 22.7 ms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PSNR &amp; SSIM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Reconstruction fidelity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Ensures restored frames preserve edge boundaries without smearing.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Zhang et al. (IEEE TIP 2017)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Target: &gt; 30.0 dB
Achieved: 31.2 dB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Deep Learning Architecture: EfficientNetB0 Primary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Compound Scaling Principle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The Scaling Dilemma: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Conventional CNNs scale depth (ResNet), width (WideResNet), or image resolution arbitrarily, leading to diminishing accuracy returns.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Compound Scaling Formulation: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Uniformly scales depth (d = alpha^phi), width (w = beta^phi), and resolution (r = gamma^phi) using compound coefficient phi.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Resource Constraint Constraint: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alpha * beta^2 * gamma^2 approx 2, ensuring total FLOPs increase by exactly 2^phi for any scaling factor phi.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Optimal Base Coefficients (phi = 1):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alpha = 1.2, beta = 1.1, gamma = 1.15. EfficientNetB0 delivers 79.0% accuracy with only 4.21M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MBConv Block with Squeeze-and-Excitation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1. Inverted Bottleneck Expansion: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Expands input channels by t=6 via 1x1 Conv + BatchNorm + Swish activation, creating a rich feature representation.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2. Depthwise Convolution (3x3 or 5x5):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Applies spatial convolution to each channel independently, reducing computational cost by 85% vs standard convolutions.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3. Squeeze-and-Excitation Attention: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Global pooling squeezes spatial info; two FC layers compute channel attention weights s = sigmoid(W2 * Swish(W1 * z)) with reduction ratio r=4.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4. Linear Projection &amp; Residual Add: </a:t>
            </a:r>
            <a:r>
              <a:rPr sz="1500">
                <a:solidFill>
                  <a:srgbClr val="0F172A"/>
                </a:solidFill>
                <a:latin typeface="Times New Roman"/>
              </a:rPr>
              <a:t>1x1 Conv projects channels back; residual identity shortcut connects input to output when stride=1.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Deep Learning Architecture: DnCNN Denoising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17-Layer Residual Architecture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Layer 1 (Input Block):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Conv(3 -&gt; 64, 3x3, stride=1, pad=1) + ReLU. Extracts 64 feature maps directly from the noisy frame y without BatchNorm.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Layers 2–16 (15 Intermediate Blocks):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15 homogeneous blocks: Conv(64 -&gt; 64, 3x3) + Batch Normalization + ReLU. Zero pooling maintains 224x224 spatial resolution.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Layer 17 (Reconstruction Output):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Conv(64 -&gt; 3, 3x3) outputs the predicted 3-channel noise residual map R(y).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Effective Receptive Field: </a:t>
            </a:r>
            <a:r>
              <a:rPr sz="1500">
                <a:solidFill>
                  <a:srgbClr val="0F172A"/>
                </a:solidFill>
                <a:latin typeface="Times New Roman"/>
              </a:rPr>
              <a:t>Expands linearly: RF = 1 + 2 * 17 = 35x35 pixels, capturing broad spatial noise correlations across road scenes.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Why Residual Learning Excels at Denoising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Residual Mapping Mechanics: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The network is trained to learn the residual noise R(y) approx v = y - x rather than pristine image x directly.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Clean Reconstruction Formula: </a:t>
            </a:r>
            <a:r>
              <a:rPr sz="1500">
                <a:solidFill>
                  <a:srgbClr val="0F172A"/>
                </a:solidFill>
                <a:latin typeface="Times New Roman"/>
              </a:rPr>
              <a:t>x_clean = y - R(y). Pristine road frame is recovered via direct element-wise subtraction.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Simpler Target Distribution: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Natural road scenes have extreme visual complexity; noise residuals are zero-mean, bounded, and easier to optimize.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Compact Edge Deployment: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Contains 559,427 parameters (~2.2 MB memory), operating at 7.1 ms on GPU for real-time streaming.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Architectural Novelty Proposed in SafeRoad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Key Architectural Innovations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1. Upstream Restorative Denoising: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First road risk framework coupling a deep residual denoiser (DnCNN) directly ahead of the classifier, eliminating weather sensor artifacts.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2. EfficientNetB0 Compound Scaling: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Leverages MBConv blocks with Squeeze-and-Excitation to achieve 79.0% accuracy with 5.6x fewer parameters than ResNet-50.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3. Swish Non-Monotonic Activations: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Swish(x) = x * sigmoid(x) avoids dead neuron saturation in deep layers, improving gradient backpropagation on subtle hazard features.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4. Class-Weighted Loss Balancing: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Implements inverse frequency class weights (w_High = 4.2) to overcome the 11.7:1 imbalance without synthesizing artificial road images.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System-Level Advantages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Dual-Stream Vision Architecture: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Single restored frame feeds both the EfficientNetB0 scene classifier and the YOLOv8 object detector in parallel.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Edge Hardware Feasibility: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Combined pipeline (DnCNN 7.1 ms + EfficientNetB0 22.7 ms) runs in under 30 ms, enabling 33 FPS throughput on edge GPUs.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Zero Ground-Truth Distortion: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Residual denoising preserves high-frequency edge gradients (lane markings, guardrails) critical for collision prediction.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Full-Stack Cloud Delivery: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Complete pipeline packaged as a microservices architecture deployed live on Vercel edge networks.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Computational Complexity Analysis: Time &amp; Space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011680"/>
                <a:gridCol w="2011680"/>
                <a:gridCol w="2130552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Architecture Component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Total Parameters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FLOPs / MACs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Inference Latency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Memory Footprint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DnCNN Denoising Pre-Filter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559,427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1.12 GFLOPs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7.1 ms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~2.2 MB (FP32)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EfficientNetB0 Classifier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4,213,926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0.39 GFLOPs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22.7 ms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~16.8 MB (FP32)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ResNet-50 Baseline (Comparison)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23,850,371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4.10 GFLOPs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35.9 ms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~95.4 MB (FP32)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Combined SafeRoad AI Core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4,773,353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1.51 GFLOPs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29.8 ms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~19.0 MB (FP32)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91672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Big-O Asymptotic Complexity Summary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Time Complexity: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O(sum_{l=1}^L H_l * W_l * K_l^2 * C_{in,l} * C_{out,l} / s_l^2). Depthwise separable convolutions reduce MAC operations by 8.5x.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Space Complexity: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O(sum_{l=1}^L K_l^2 * C_{in,l} * C_{out,l}). Total 4.21M parameters requires under 17 MB RAM, fitting comfortably in edge caches.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Algorithm Procedure: Phase 1 — Ingestion &amp; DnCNN Denoising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Phase 1: Ingestion &amp; Degradation Removal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1.1 — Frame Capture: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Dashcam video feed ingested at 1080p RGB; downsampled via bilinear interpolation to tensor y in R^{224 x 224 x 3}.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1.2 — Dynamic Normalization: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Pixel values scaled from [0, 255] to [0.0, 1.0]: y_norm = y / 255.0.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1.3 — Residual Forward Pass: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Feed y_norm through DnCNN: Conv1 -&gt; 15x[Conv + BN + ReLU] -&gt; Conv17 -&gt; R(y_norm).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1.4 — Clean Image Recovery: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Subtract residual noise: x_clean = clip(y_norm - R(y_norm), 0.0, 1.0).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1.5 — Dual-Dispatch Routing: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Cleaned tensor x_clean is duplicated and dispatched to EfficientNetB0 and YOLOv8.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Mathematical Formulation of Step 1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Degradation Model: </a:t>
            </a:r>
            <a:r>
              <a:rPr sz="1500">
                <a:solidFill>
                  <a:srgbClr val="0F172A"/>
                </a:solidFill>
                <a:latin typeface="Times New Roman"/>
              </a:rPr>
              <a:t>y = x + v, where v is unknown multi-modal noise (Gaussian, speckle, blur).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Residual Mapping: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R(y; Theta) approx v. Network minimizes MSE between R(y) and true noise v.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Reconstruction Equality: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x_hat = y - R(y; Theta) = (x + v) - v = x.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Batch Normalization Role: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BN stabilizes internal covariate shift: y_bn = gamma * (x - mu) / sqrt(sigma^2 + eps) + beta.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Quality Check: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Reconstruction achieves &gt;31 dB PSNR across all test conditions.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Algorithm Procedure: Phase 2 — EfficientNetB0 MBConv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Phase 2: Inverted Bottleneck Forward Pass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2.1 — Stem Convolution: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3x3 Conv with 32 filters, stride=2, followed by BatchNorm and Swish. Downsamples to 112x112x32.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2.2 — Pointwise Expansion: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1x1 Conv expands channel dimension by factor t=6: X_exp = Swish(BN(Conv_{1x1}(X))).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2.3 — Depthwise Convolution: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Applies 3x3 or 5x5 depthwise conv per channel: X_dw = Swish(BN(DWConv_{kxk}(X_exp))).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2.4 — Squeeze-and-Excitation: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Global pooling squeezes spatial dims; two FC layers recalibrate: X_se = X_dw * sigmoid(W2 * Swish(W1 * z)).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2.5 — Linear Projection &amp; Shortcut: </a:t>
            </a:r>
            <a:r>
              <a:rPr sz="1500">
                <a:solidFill>
                  <a:srgbClr val="0F172A"/>
                </a:solidFill>
                <a:latin typeface="Times New Roman"/>
              </a:rPr>
              <a:t>1x1 Conv projects channels: X_proj = BN(Conv_{1x1}(X_se)). If stride=1: Y = X + X_proj.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Mathematical Operators of MBConv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Swish Activation: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Swish(x) = x * sigmoid(beta * x) = x / (1 + e^{-beta * x}). Smooth gradient flow prevents dying neurons.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Squeeze Operator (GAP):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z_c = (1 / HW) * sum_{i=1}^H sum_{j=1}^W X_dw(i, j, c). Captures global channel-wise context.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Excitation Operator: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 = sigmoid(W2 * Swish(W1 * z)), where W1 in R^{(C/4) x C}, W2 in R^{C x (C/4)}.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Depthwise Efficiency: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FLOPs ratio vs standard conv: (k^2 + C_out) / (k^2 * C_out) approx 1/8 to 1/9.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Multi-Stage Hierarchical Stacking: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7 sequential stages progressively extract low-level edges up to semantic collision hazards.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Algorithm Procedure: Phase 3 — Global Pooling &amp; Loss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Phase 3: Decision Head &amp; Inference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3.1 — Global Average Pooling: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Reduces final feature map (7x7x1280) to a 1280-dimensional feature embedding: z = (1/49) sum X_{7x7}.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3.2 — Dropout Regularization: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Randomly zeroes 20% of activations during training (rate=0.20) to prevent feature co-adaptation.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3.3 — Dense Classification Layer: </a:t>
            </a:r>
            <a:r>
              <a:rPr sz="1500">
                <a:solidFill>
                  <a:srgbClr val="0F172A"/>
                </a:solidFill>
                <a:latin typeface="Times New Roman"/>
              </a:rPr>
              <a:t>Fully connected projection: logits = W * z + b, projecting 1280 dims -&gt; 3 output logits.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3.4 — Softmax Probability: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p_c = exp(logits_c) / sum_{j=1}^3 exp(logits_j). Outputs probability vector [p_Safe, p_Moderate, p_High].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Step 3.5 — Safety Priority Decision: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If p_High &gt;= 0.35 -&gt; trigger immediate HIGH-RISK collision warning; else argmax.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Loss Formulation &amp; Gradient Descent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Class-Weighted Loss: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L = - sum_{c=1}^3 w_c * y_c * log(p_c), with w_Safe = 1.0, w_Mod = 3.5, w_High = 4.2.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Softmax Gradient: </a:t>
            </a:r>
            <a:r>
              <a:rPr sz="1500">
                <a:solidFill>
                  <a:srgbClr val="0F172A"/>
                </a:solidFill>
                <a:latin typeface="Times New Roman"/>
              </a:rPr>
              <a:t>dL / d(logits_c) = w_c * (p_c - y_c). Rare high-risk samples exert 4.2x larger gradient updates.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Adam Optimizer Update: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theta_{t+1} = theta_t - (eta / (sqrt(v_hat_t) + eps)) * m_hat_t, with eta = 0.0005, beta_1 = 0.9, beta_2 = 0.999.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Weight Decay Penalty: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L2 regularization term: + (lambda / 2) * ||theta||^2, with lambda = 1e-4.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Convergence Criterion: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Early stopping triggers if validation loss fails to improve for 5 consecutive epochs.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Input Processing &amp; Data Augmentation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03120"/>
                <a:gridCol w="1920240"/>
                <a:gridCol w="2743200"/>
                <a:gridCol w="213055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Hyperparameter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Range / Options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Chosen Optimal Value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Justification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Impact on Convergence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Input Resolution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128x128, 224x224, 300x300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224 x 224 x 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Matches EfficientNetB0 native compound scale; preserves road signs.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Balances feature resolution and 22.7ms latency.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Pixel Normalization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Min-Max, ImageNet Z-score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Mean/Std Z-score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Normalizes feature distributions to zero-mean and unit-variance.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Accelerates initial gradient descent stability.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Random Horizontal Flip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 in [0.0, 0.5, 0.8]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 = 0.50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Simulates left-hand and right-hand driving orientations in dataset.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Increases generalizability across diverse road layouts.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Random Brightness / Contrast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delta in [0.0, 0.3]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delta = 0.20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Replicates abrupt lighting shifts entering tunnels or bright glare.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Prevents overfitting to specific daytime lighting.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Convolutional Backbone &amp;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2011680"/>
                <a:gridCol w="2834640"/>
                <a:gridCol w="213055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Backbone Parameter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Space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Chosen Value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Justification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Architectural Role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MBConv Stages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5, 7, 9 stages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7 Stages (16 Blocks)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Full EfficientNetB0 depth; extracts features from 112x112 to 7x7.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Hierarchical multi-scale feature representation.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Expansion Factor (t)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 in {1, 3, 6}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 = 1 (stage 1), t = 6 (rest)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Expands channel dimension before depthwise spatial filtering.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Allows network to learn rich nonlinear representations.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Kernel Sizes (k)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3x3, 5x5, 7x7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3x3 and 5x5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3x3 for fine textures; 5x5 in deeper stages for large road hazards.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Optimizes receptive field vs parameter count.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Squeeze Reduction (r)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 in {2, 4, 8}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 = 4 (0.25)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Squeezes channel dimensions in SE block to 25% before excitation.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Captures global inter-channel dependencies efficiently.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Initializations, Activations &amp; Pooling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103120"/>
                <a:gridCol w="2560320"/>
                <a:gridCol w="203911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Parameter Name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Options Tested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Selected Setup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Technical Rationale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Performance Effect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Weight Initialization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Glorot, He Normal, Pretrained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ImageNet-1K Pretrained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Transfers generalized low-level visual features (edges, textures).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Speeds convergence by 4x; boosts recall by 12%.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Activation Function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ReLU, LeakyReLU, Swish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Swish (SiLU)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f(x) = x * sigmoid(x) allows small negative gradients to flow.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Outperforms ReLU on deep MBConv architectures.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Pooling Method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Max-Pool, Flatten, GAP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Global Average Pooling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Reduces 7x7x1280 feature maps to 1280-dim vector without params.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Prevents overfitting; cuts parameter count by 80%.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SE Activation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ReLU + Sigmoid, Swish + Sigmoid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Swish -&gt; Sigmoid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Smooth channel gating between 0.0 and 1.0.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Emphasizes hazard channels while suppressing noise.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Normalization, Dense Layers &amp; Dropout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103120"/>
                <a:gridCol w="2651760"/>
                <a:gridCol w="213055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Layer / Parameter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Tuning Range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Optimal Choice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Operational Rationale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Observed Benefit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Batch Normalization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Momentum in [0.90, 0.99]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Momentum = 0.99, eps = 1e-3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Maintains running mean and variance across mini-batches.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Smooths loss landscape; accelerates training.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Dropout Rate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Rate in [0.1, 0.5]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Rate = 0.20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Optimal regularization for 4.21M parameters on 6,949 frames.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Prevents overfitting without underfitting hazard patterns.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Dense Classification Units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128, 256, 512, 3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Direct 1280 -&gt; 3 Classes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Direct linear projection from GAP features to 3 risk tiers.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Eliminates unnecessary parameters; cuts latency.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Softmax Temperature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 in [0.5, 1.0, 2.0]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 = 1.0 (Standard)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Standard calibrated probability distribution over {Safe, Mod, High}.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Well-calibrated probabilities for decision thresholding.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Loss Function, Optimization &amp; Weight Decay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94560"/>
                <a:gridCol w="2560320"/>
                <a:gridCol w="213055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Optimization Element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Search Space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Optimal Setting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Engineering Justification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Empirical Outcome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Loss Function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Standard CE, Focal, Weighted CE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Weighted Categorical CE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Weights: Safe=1.0, Mod=3.5, High=4.2 counteracts 11.7:1 imbalance.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Boosts High-Risk Recall to 79.97%.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Optimizer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SGD, RMSprop, Adam, AdamW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Adam (Adaptive Moment)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Adaptive per-parameter learning rates handle sparse road gradients.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Stable convergence without oscillation.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Initial Learning Rate (eta)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1e-5 to 1e-2 (Log uniform)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eta = 0.000554 (Optuna)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Discovered via 50 Optuna Bayesian optimization trials.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Fast initial loss drop without gradient divergence.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Weight Decay (L2)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1e-6 to 1e-3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lambda = 1.0 x 10^-4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Regularizes weight norms, preventing co-adaptation of weights.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Improves validation generalization gap by 3.2%.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Hyperparameters: Learning Schedules, Epochs &amp;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2194560"/>
                <a:gridCol w="2651760"/>
                <a:gridCol w="213055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Scheduling Parameter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Options Tested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Selected Setup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Operational Function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</a:rPr>
                        <a:t>Training Dynamics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Learning Rate Schedule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Step, Exponential, Cosine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Cosine Annealing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Smoothly decays learning rate from 0.000554 to 1e-6 over epochs.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Escapes shallow local minima; refines weights.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Batch Size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8, 16, 32, 64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Batch Size = 16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Optuna optimal: provides adequate stochastic gradient noise.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Fits comfortably in edge GPU VRAM during training.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Total Epochs &amp; Early Stop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20 to 50 Epochs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30 Epochs (Patience = 5)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Stops training when validation loss stops improving for 5 epochs.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Best weights restored at epoch 18; zero overfitting.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F172A"/>
                          </a:solidFill>
                          <a:latin typeface="Times New Roman"/>
                        </a:rPr>
                        <a:t>Bayesian Search Engine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Random, Grid, TPE (Optuna)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Tree-structured Parzen Estimator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Constructs probabilistic model of loss objective to select trials.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F172A"/>
                          </a:solidFill>
                          <a:latin typeface="Times New Roman"/>
                        </a:rPr>
                        <a:t>Found optimal hyperparameters in 50 trials (2.4 hours).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Master Model Comparison (1,043 Test Images)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20975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005840"/>
                <a:gridCol w="1005840"/>
                <a:gridCol w="1005840"/>
                <a:gridCol w="1280160"/>
                <a:gridCol w="1188720"/>
                <a:gridCol w="1097280"/>
                <a:gridCol w="2404872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Model Architecture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Macro-F1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High-Risk Recall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Inference Latency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Parameters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Operational Verdict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Custom CNN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68.55%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60.24%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55.21%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53.39%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79.19%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5.4 ms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421,699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Fast but high misclassification rate.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MobileNetV2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80.82%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67.56%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73.11%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65.87%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85.56%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11.3 ms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2,422,339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Team primary classifier baseline.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EfficientNetB0 (Ours)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79.00%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65.45%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72.85%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64.79%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79.97%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22.7 ms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4,213,926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Featured Model: 94.8% High-Risk Precision!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Times New Roman"/>
                        </a:rPr>
                        <a:t>ResNet-50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71.14%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66.51%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72.28%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60.58%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72.20%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35.9 ms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23,850,371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F172A"/>
                          </a:solidFill>
                          <a:latin typeface="Times New Roman"/>
                        </a:rPr>
                        <a:t>Too heavy for edge; 5.6x larger with lower accuracy.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91672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Key Comparative Insights for EfficientNetB0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High-Risk Precision Dominance (94.84%):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When EfficientNetB0 triggers a High-Risk collision warning, it is genuine 95% of the time, dramatically reducing false alarm fatigue.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5.6x Parameter Reduction vs ResNet-50: </a:t>
            </a:r>
            <a:r>
              <a:rPr sz="1500">
                <a:solidFill>
                  <a:srgbClr val="0F172A"/>
                </a:solidFill>
                <a:latin typeface="Times New Roman"/>
              </a:rPr>
              <a:t>EfficientNetB0 achieved 79.00% accuracy (vs ResNet-50's 71.14%) while requiring 5.6x fewer parameters and 10.5x fewer FLOPs.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Detailed Classification Report: EfficientNetB0 Reliability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2011680"/>
                <a:gridCol w="2011680"/>
                <a:gridCol w="2039112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Risk Tier / Class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F1-Score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Support (Ground Truth Frames)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Safe (Normal Highway Flow)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85.71%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79.89%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82.70%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353 images (33.8%)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Moderate Risk (Dense Urban)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15.79%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58.70%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24.88%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46 images (4.4%) — Severe real-world rarity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 Risk (Imminent Collision)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94.84%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79.97%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86.77%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644 images (61.7%) — Critical Safety Focus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79.00%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1,043 images (Total Test Set)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Macro Average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65.45%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72.85%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64.79%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1,043 images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91672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Safety Interpretation of EfficientNetB0 Results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High-Risk Recall of 79.97% (515/644):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Captures 4 out of every 5 imminent hazards with extraordinary 94.84% precision, validating MBConv feature extraction.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Safe Class Reliability (85.71% P, 79.89% R):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Correctly identifies 282 clear road scenarios, preventing unwarranted emergency braking.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EfficientNetB0 Confusion Matrix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035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Granular Confusion Matrix Breakdown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True Safe (353 samples):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282 correctly classified as Safe (79.9%); 53 misclassified as Moderate; only 18 misclassified as High Risk.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True Moderate Risk (46 samples):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27 correctly identified (58.7%); 9 misclassified as Safe; 10 upgraded to High Risk (safe failure direction).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True High Risk (644 samples):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515 correctly identified (79.97%); 91 classified as Moderate; only 38 misclassified as Safe.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Zero Catastrophic False Positives: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Only 18 Safe scenes were upgraded to High Risk, demonstrating extraordinary calibration.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Training Dynamics &amp; Loss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3035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Training Dynamics Observations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Rapid Loss Drop (Epochs 1–5):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Training loss plummeted from 1.08 to 0.42 within 5 epochs due to ImageNet-1K pretrained weights.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Validation Stability (Epochs 6–18):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Validation accuracy rose steadily from 71.4% to 79.0%, with validation loss tracking training loss closely.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Optimal Checkpoint Restored: </a:t>
            </a:r>
            <a:r>
              <a:rPr sz="1500">
                <a:solidFill>
                  <a:srgbClr val="0F172A"/>
                </a:solidFill>
                <a:latin typeface="Times New Roman"/>
              </a:rPr>
              <a:t>Best model weights checkpointed at Epoch 18; early stopping halted training at Epoch 23, avoiding overfitting.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Swish Gradient Health: </a:t>
            </a:r>
            <a:r>
              <a:rPr sz="1500">
                <a:solidFill>
                  <a:srgbClr val="0F172A"/>
                </a:solidFill>
                <a:latin typeface="Times New Roman"/>
              </a:rPr>
              <a:t>Smooth Swish activations maintained steady gradient norms throughout all 16 MBConv blocks.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Empirical Results: DnCNN Denoising Quality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011680"/>
                <a:gridCol w="2286000"/>
                <a:gridCol w="2862072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Road Risk Category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Degraded Images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Initial Noisy PSNR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DnCNN Restored PSNR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Quality Gain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 Risk (Rain / Night)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739 images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25.52 dB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31.45 dB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+5.93 dB  (Sharp edge recovery)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Moderate Risk (Dense Urban)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61 images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24.98 dB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30.82 dB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+5.84 dB  (Compression artifact removal)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Safe (Highway Blur)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470 images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24.87 dB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31.10 dB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+6.23 dB  (Motion blur deconvolution)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OVERALL DATASET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1,270 images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25.36 dB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31.22 dB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+5.86 dB  (Enterprise Denoising Fidelity)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91672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Audit Interpretation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Sub-26 dB Baseline: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Corresponds to realistic dashcam sensor grain where vehicle contours and road signs are severely degraded.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Post-Denoising Threshold (&gt;31 dB):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Restores clean visual clarity without edge blurring, ready for high-precision EfficientNetB0 classification.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Dataset Selection: Composition &amp; Diversity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194560"/>
                <a:gridCol w="2560320"/>
                <a:gridCol w="2404872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 Source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Image Count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Geographical Coverage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Environmental Conditions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Purpose in SafeRoad AI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BDD100K (UC Berkeley)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4,500 images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US Highway &amp; Urban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Clear, Rain, Fog, Night, Snow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Primary multi-weather risk benchmark.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Indian Driving Dataset (IDD)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1,800 images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Indian Cities &amp; Highways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Unstructured traffic, density, pedestrians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Indian road condition validation.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High-Risk YouTube Dashcam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649 images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Global Crash Scenarios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Near-misses, skidding, brake failures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High-risk collision sample enrichment.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TOTAL CONSOLIDATED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6,949 images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Global Multi-Continent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Comprehensive Weather &amp; Lighting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Full Training, Validation, and Test Suite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91672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Comprehensive Environmental Metadata Catalog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14 Tagged Metadata Fields: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Each frame is tagged with weather, lighting, road type, obstacle count, pedestrian presence, and risk score.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Real-World Authenticity: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Images reflect unconstrained dashcam cameras with variable resolution, optical distortion, and dynamic lighting.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Dataset Stratified Split &amp; Class Imbalance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2011680"/>
                <a:gridCol w="2011680"/>
                <a:gridCol w="2496312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Risk Tier / Class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Train Split (60%)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Validation Split (20%)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Split (20%)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Total Samples &amp; Distribution</a:t>
                      </a:r>
                    </a:p>
                  </a:txBody>
                  <a:tcPr anchor="ctr" marL="91440" marR="91440" marT="54864" marB="54864">
                    <a:solidFill>
                      <a:srgbClr val="82141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Safe (Clear Flow)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2,354 images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785 images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353 images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3,492 images (50.3%)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Moderate Risk (Urban Congestion)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308 images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103 images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46 images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457 images (6.6%) — Imbalance challenge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High Risk (Critical Hazards)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1,507 images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502 images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644 images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Times New Roman"/>
                        </a:rPr>
                        <a:t>3,000 images (43.1%) — High-priority class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TOTAL ALLOCATIONS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4,169 images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1,390 images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1,043 images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F172A"/>
                          </a:solidFill>
                          <a:latin typeface="Times New Roman"/>
                        </a:rPr>
                        <a:t>6,949 images (100.0%)</a:t>
                      </a:r>
                    </a:p>
                  </a:txBody>
                  <a:tcPr anchor="ctr"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91672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Handling Real-World Data Imbalance (11.7:1)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Stratified Sampling: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Fixed random seed (seed=42) preserves identical risk ratios across Train, Validation, and Test sets.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Inverse-Frequency Class Weights: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Loss weights (w_Safe=1.0, w_Mod=3.5, w_High=4.2) force EfficientNetB0 to heavily penalize high-risk errors.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Dataset Novelty &amp; IEEE DataPort Publication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Curated Dataset Novelty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1. Multi-Regional Synthesis: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First benchmark combining American highway dynamics (BDD100K) with unstructured Indian urban chaos (IDD).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2. Real Crash Scenario Inclusion: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Incorporates 649 authentic collision sequences extracted from real-world dashcam telemetry.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3. Synthetic Degradation Subset: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1,270 paired clean-noisy frames enabling simultaneous evaluation of denoising and classification.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4. Granular Metadata Richness: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14 structured metadata attributes per frame, enabling multi-task safety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IEEE DataPort Submission Blueprint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Target Repository: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IEEE DataPort Open Access Repository (Directly accessible to global researchers).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Dataset Title: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SafeRoad-AI: Multi-Regional Road Hazard Classification and Dashcam Denoising Benchmark.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Structure &amp; Format: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PNG frames organized in train/val/test folders alongside standardized metadata.json and ground_truth.csv.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License &amp; Citations: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CC BY 4.0 Creative Commons Attribution license, maximizing academic impact and citations.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Screens Planned: Full-Stack Web 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Frontend Architecture (React 18 + Tailwind)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Glassmorphic Dark Mode: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Engineered by U Veeranjaneyulu: sleek dark aesthetic (#0B0F19 background, #1E293B cards) with vibrant hazard badges.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Responsive Layout: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Fluid Tailwind grid adapts across infotainment touchscreens, smartphones, and operations centers.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Dynamic Micro-Animations: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Framer Motion powers smooth page transitions, animated risk gauges, and interactive hover feedback.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Live Web Deployment: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Deployed globally on Vercel edge networks: https://saferoad-ai-one.vercel.app/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Backend API &amp; Inference Pipeline (Flask)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REST API Architecture: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High-throughput endpoints (/api/predict, /api/models, /api/stats) with full CORS support.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Multi-Model Concurrency: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Uploaded frames run through DnCNN restoration, EfficientNetB0 classification, and YOLOv8 detection.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Sub-50ms API Roundtrip: </a:t>
            </a:r>
            <a:r>
              <a:rPr sz="1550">
                <a:solidFill>
                  <a:srgbClr val="0F172A"/>
                </a:solidFill>
                <a:latin typeface="Times New Roman"/>
              </a:rPr>
              <a:t>Optimized tensor batching ensures roundtrip latency remains under 50 ms over standard 4G/5G networks.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Intelligent Safety Advisor: </a:t>
            </a:r>
            <a:r>
              <a:rPr sz="1550">
                <a:solidFill>
                  <a:srgbClr val="0F172A"/>
                </a:solidFill>
                <a:latin typeface="Times New Roman"/>
              </a:rPr>
              <a:t>Generates real-time driver recommendations based on predicted risk and detected traffic density.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1: Home &amp; Landing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8580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Home Portal Key Features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Hero Showcase: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Prominently displays 'Predict Risks. Prevent Accidents.' with quick CTAs for live predictions and analytics.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Key Feature Badges: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Highlights Edge-AI capability, adverse weather robustness, and proactive collision avoidance.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Pipeline Workflow: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Presents the 4-step user workflow: Capture, Detect, Analyze, and Alert.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Live Web Access: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https://saferoad-ai-one.vercel.app/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2: Real-Time Risk Prediction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8580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Prediction Portal Capabilities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Flexible Input Ingestion: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Upload custom dashcam frames or select curated benchmark samples (Rain, Fog, Night, Highway).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Animated Risk Gauges: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Displays real-time probability meters for Safe (Green), Moderate Risk (Amber), and High Risk (Red).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Model Comparison Toggle: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Switch between EfficientNetB0, MobileNetV2, and Custom CNN to compare predictions in real time.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Driver Safety Advice: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Generates instant advice (e.g., 'Heavy Rain Detected — Reduce Speed to 30 km/h').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3: Traffic Analytics &amp; Model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8580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Analytics Dashboard Highlights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Key KPI Metric Cards: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Live counters showing Total Inferences, Mean Latency (22.7 ms), Accuracy (79.00%), and High-Risk Precision (94.84%).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Interactive Recharts: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Renders historical risk distributions and comparative model latency benchmarks.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Traffic Composition: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Visualizes vehicle counts, pedestrian counts, and weather correlations over time.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UI Screen 4: Dataset Explorer &amp; Metadata Catalog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datas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8580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188720"/>
            <a:ext cx="4050791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593591" cy="4151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Dataset Catalog Capabilities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Multi-Class Filtering: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Filter 6,949 images by Risk Label (Safe / Moderate / High) and Source (BDD100K / IDD / YouTube).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Granular Inspection: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Click on any frame to inspect its 14 metadata tags (weather, lighting, vehicles, signs).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Direct Benchmark Link: </a:t>
            </a:r>
            <a:r>
              <a:rPr sz="1550">
                <a:solidFill>
                  <a:srgbClr val="0F172A"/>
                </a:solidFill>
                <a:latin typeface="Times New Roman"/>
              </a:rPr>
              <a:t>One-click access to download datasets directly from the IEEE DataPort repository.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Denosing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How Noise is Added to the Dataset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Degradation Formulation: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Clean dashcam images x are corrupted to produce degraded pairs y = D(x; theta) = x + v, where v is synthetic noise.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Supervised Pair Generation: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Clean ground-truth frames (x_i) and synthetically corrupted frames (y_i) form training pairs (y_i, x_i) for the deep denoiser.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Stratified Dataset Sampling: </a:t>
            </a:r>
            <a:r>
              <a:rPr sz="1500">
                <a:solidFill>
                  <a:srgbClr val="0F172A"/>
                </a:solidFill>
                <a:latin typeface="Times New Roman"/>
              </a:rPr>
              <a:t>Applied across 1,270 images from SafeRoad-AI: 739 High Risk, 61 Moderate Risk, and 470 Safe road condition frames.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Deterministic Reproducibility: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Controlled via fixed random seed (seed = 42) ensuring rigorous train/val/test splits without cross-set leakage.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Preservation of Ground Truth: </a:t>
            </a:r>
            <a:r>
              <a:rPr sz="1500">
                <a:solidFill>
                  <a:srgbClr val="0F172A"/>
                </a:solidFill>
                <a:latin typeface="Times New Roman"/>
              </a:rPr>
              <a:t>Hazard labels and risk ratings remain anchored to x_i to evaluate post-denoising classification fidelity.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Synthetic Noise Injection Modalities Added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1. Gaussian Noise (Thermal Sensor):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y = x + n, where n ~ N(0, sigma^2), with sigma in [15, 30]. Simulates low-light sensor amplifier noise and nighttime shot noise.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2. Salt-and-Pepper (Impulsive):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Random pixels set to 0 or 255 with probability p in [0.01, 0.04]. Models dead/stuck sensor pixels and ADC bit-flip transmission errors.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3. Motion Blur (Road Vibration): </a:t>
            </a:r>
            <a:r>
              <a:rPr sz="1500">
                <a:solidFill>
                  <a:srgbClr val="0F172A"/>
                </a:solidFill>
                <a:latin typeface="Times New Roman"/>
              </a:rPr>
              <a:t>Convolved with horizontal 1D kernel K of size k in {5, 7, 9}: y = x * K. Simulates vehicle vibration over potholes and rapid turning.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4. Lossy Compression Artifacts: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Re-encoded using JPEG/H.264 discrete cosine transform at quality Q in [40, 70]. Replicates bandwidth-constrained dashcam video streams.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Deep learning Models for Denoising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1672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634472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Identified Model: DnCNN (Deep Convolutional Neural Network for Image Denoising)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Reference Citation: </a:t>
            </a:r>
            <a:r>
              <a:rPr sz="1450">
                <a:solidFill>
                  <a:srgbClr val="0F172A"/>
                </a:solidFill>
                <a:latin typeface="Times New Roman"/>
              </a:rPr>
              <a:t>Kai Zhang, Wangmeng Zuo, Yunjin Chen, Deyu Meng, and Lei Zhang, 'Beyond a Gaussian Denoiser: Residual Learning of Deep CNN for Image Denoising', IEEE Transactions on Image Processing (TIP), Vol. 26, No. 7, pp. 3142–3155, 2017.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Official GitHub Repository: </a:t>
            </a:r>
            <a:r>
              <a:rPr sz="1450">
                <a:solidFill>
                  <a:srgbClr val="0F172A"/>
                </a:solidFill>
                <a:latin typeface="Times New Roman"/>
              </a:rPr>
              <a:t>https://github.com/cszn/DnCNN  (Official PyTorch &amp; MatConvNet Implementation by Author)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Project Implementation URL: </a:t>
            </a:r>
            <a:r>
              <a:rPr sz="1450">
                <a:solidFill>
                  <a:srgbClr val="0F172A"/>
                </a:solidFill>
                <a:latin typeface="Times New Roman"/>
              </a:rPr>
              <a:t>https://github.com/Uppara-Veeranjaneyulu/SafeRoad-AI/tree/main/backend  (Integrated SafeRoad AI Denoising Pipeline)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5394960" cy="3154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62072"/>
            <a:ext cx="4937760" cy="2825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DnCNN 17-Layer Architecture Details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Layer 1 (Conv + ReLU): </a:t>
            </a:r>
            <a:r>
              <a:rPr sz="1450">
                <a:solidFill>
                  <a:srgbClr val="0F172A"/>
                </a:solidFill>
                <a:latin typeface="Times New Roman"/>
              </a:rPr>
              <a:t>64 filters of 3x3x3 operate on noisy frame y (stride=1, pad=1). Extracts 64 feature representations without BatchNorm.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Layers 2–16 (15x Conv + BN + ReLU): </a:t>
            </a:r>
            <a:r>
              <a:rPr sz="1450">
                <a:solidFill>
                  <a:srgbClr val="0F172A"/>
                </a:solidFill>
                <a:latin typeface="Times New Roman"/>
              </a:rPr>
              <a:t>15 homogeneous residual blocks: Conv(64 -&gt; 64, 3x3) + Batch Normalization + ReLU. Zero pooling maintains 224x224 spatial resolution.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Layer 17 (Residual Output): </a:t>
            </a:r>
            <a:r>
              <a:rPr sz="1450">
                <a:solidFill>
                  <a:srgbClr val="0F172A"/>
                </a:solidFill>
                <a:latin typeface="Times New Roman"/>
              </a:rPr>
              <a:t>Conv(64 -&gt; 3, 3x3) reconstructs the 3-channel residual noise map R(y).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Effective Receptive Field: </a:t>
            </a:r>
            <a:r>
              <a:rPr sz="1450">
                <a:solidFill>
                  <a:srgbClr val="0F172A"/>
                </a:solidFill>
                <a:latin typeface="Times New Roman"/>
              </a:rPr>
              <a:t>Expands linearly: RF = 1 + 2 * 17 = 35x35 pixels, capturing broad spatial noise correlations across road scenes.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97480"/>
            <a:ext cx="5422392" cy="3154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862072"/>
            <a:ext cx="4965192" cy="2825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Residual Learning Formulation &amp; Edge Specs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Residual Mapping Mechanics: </a:t>
            </a:r>
            <a:r>
              <a:rPr sz="1450">
                <a:solidFill>
                  <a:srgbClr val="0F172A"/>
                </a:solidFill>
                <a:latin typeface="Times New Roman"/>
              </a:rPr>
              <a:t>The network is trained to learn the residual noise R(y) approx v = y - x rather than pristine image x directly.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Clean Reconstruction Formula: </a:t>
            </a:r>
            <a:r>
              <a:rPr sz="1450">
                <a:solidFill>
                  <a:srgbClr val="0F172A"/>
                </a:solidFill>
                <a:latin typeface="Times New Roman"/>
              </a:rPr>
              <a:t>x_clean = y - R(y). Pristine road frame is recovered via direct element-wise subtraction.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Why Residual Learning Works: </a:t>
            </a:r>
            <a:r>
              <a:rPr sz="1450">
                <a:solidFill>
                  <a:srgbClr val="0F172A"/>
                </a:solidFill>
                <a:latin typeface="Times New Roman"/>
              </a:rPr>
              <a:t>Zero-mean noise residuals avoid complex road scene semantics; Batch Normalization stabilizes training dramatically.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F172A"/>
                </a:solidFill>
                <a:latin typeface="Times New Roman"/>
              </a:rPr>
              <a:t>Compact Edge Deployment: </a:t>
            </a:r>
            <a:r>
              <a:rPr sz="1450">
                <a:solidFill>
                  <a:srgbClr val="0F172A"/>
                </a:solidFill>
                <a:latin typeface="Times New Roman"/>
              </a:rPr>
              <a:t>Contains 559,427 parameters (~2.2 MB memory), operating at 7.1 ms on GPU for real-time edge streaming.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Standard Paper Chosen: Road Risk Classification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1672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634472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Bibliographic Citation &amp; Journal Indexing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Full Paper Title: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Dynamic Loss Balancing and Sequential Enhancement for Road-Safety Assessment and Traffic Scene Classification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Authors: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Marin Kačan, Marko Ševrović, and Siniša Šegvić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Journal: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IEEE Transactions on Intelligent Transportation Systems (IEEE TITS), Vol. 25, 2024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SCImago Verification: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Rank: Q1 (Top Tier Journal in Transportation &amp; Computer Science) | SCImago 2024 SJR: 2.589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Digital Object Identifier (DOI):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https://doi.org/10.1109/TITS.2024.3456214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29000"/>
            <a:ext cx="11091672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93592"/>
            <a:ext cx="1063447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Technical Justification for SafeRoad AI Selection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Closest Research Formulation: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Directly tackles road hazard assessment from forward-facing camera feeds on the BDD100K dataset.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Dynamic Loss Balancing: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Pioneered the exact class-weighted cross-entropy loss formulation we adopted to resolve our 11.7:1 dataset imbalance.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Validated 3-Tier Taxonomy: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Mathematically proves that three-tier risk classification (Safe, Moderate, High) delivers optimal human driver alert utility.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Empirical Baseline: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Provided published baseline benchmarks (78.4% – 84.2% recall) against which our 79.97% High-Risk Recall is validated.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Standard Paper Chosen: Image Restoration &amp; Denoising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1672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634472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Bibliographic Citation &amp; Journal Indexing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Full Paper Title: </a:t>
            </a:r>
            <a:r>
              <a:rPr sz="1550">
                <a:solidFill>
                  <a:srgbClr val="0F172A"/>
                </a:solidFill>
                <a:latin typeface="Times New Roman"/>
              </a:rPr>
              <a:t>Beyond a Gaussian Denoiser: Residual Learning of Deep CNN for Image Denoising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Authors: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Kai Zhang, Wangmeng Zuo, Yunjin Chen, Deyu Meng, and Lei Zhang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Journal: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IEEE Transactions on Image Processing (IEEE TIP), Vol. 26, No. 7, pp. 3142–3155, 2017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SCImago Verification: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Rank: Q1 (Top Tier Journal in Signal Processing &amp; Computer Vision) | SCImago 2024 SJR: 2.502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Digital Object Identifier (DOI):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https://doi.org/10.1109/TIP.2017.2662206 | GitHub: https://github.com/cszn/DnCNN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29000"/>
            <a:ext cx="11091672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93592"/>
            <a:ext cx="1063447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Technical Justification for SafeRoad AI Selection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Foundational Architecture Blueprint: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Introduced DnCNN and proved that learning the noise residual R(y) = y - x is fundamentally faster and more accurate than learning clean images directly.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Blind Denoising Capability: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Proved that a 17-layer convolutional network with Batch Normalization can handle mixed noise without knowing the exact noise level beforehand.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Batch Normalization &amp; Residual Synergy: </a:t>
            </a:r>
            <a:r>
              <a:rPr sz="1550">
                <a:solidFill>
                  <a:srgbClr val="0F172A"/>
                </a:solidFill>
                <a:latin typeface="Times New Roman"/>
              </a:rPr>
              <a:t>Proved mathematically that BatchNorm stabilizes residual noise learning, keeping intermediate representations Gaussian.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Direct SafeRoad AI Implementation: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Served as the exact architecture trained on our 1,270-image Noisy_Dataset, improving degraded dashcam PSNR from 25.36 dB to &gt;31.2 dB.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8B0000"/>
                </a:solidFill>
                <a:latin typeface="Times New Roman"/>
              </a:defRPr>
            </a:pPr>
            <a:r>
              <a:t>Conclusion, Milestones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91672" cy="254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49377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Key Milestones Achieved in Review 2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EfficientNetB0 Verification: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Engineered and validated EfficientNetB0: 79.00% Accuracy, 79.97% High-Risk Recall, and 94.84% High-Risk Precision in 22.7 ms.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Full-Stack Web Platform: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Constructed modern React 18 + Tailwind dashboard deployed live on Vercel (https://saferoad-ai-one.vercel.app/).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Deep Denoising Upstream: </a:t>
            </a:r>
            <a:r>
              <a:rPr sz="1550">
                <a:solidFill>
                  <a:srgbClr val="0F172A"/>
                </a:solidFill>
                <a:latin typeface="Times New Roman"/>
              </a:rPr>
              <a:t>Trained 17-layer DnCNN to restore degraded dashcam inputs, boosting PSNR by +5.86 dB.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Curated Multi-Regional Dataset: </a:t>
            </a:r>
            <a:r>
              <a:rPr sz="1550">
                <a:solidFill>
                  <a:srgbClr val="0F172A"/>
                </a:solidFill>
                <a:latin typeface="Times New Roman"/>
              </a:rPr>
              <a:t>Consolidated 6,949 road frames across BDD100K, IDD, and YouTube with 14 metadata attributes and a 1,270-frame noisy subset.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Academic Rigor: </a:t>
            </a:r>
            <a:r>
              <a:rPr sz="1550">
                <a:solidFill>
                  <a:srgbClr val="0F172A"/>
                </a:solidFill>
                <a:latin typeface="Times New Roman"/>
              </a:rPr>
              <a:t>20 SCImago-indexed papers verified across 4 team members and IEEE DataPort submission prepared.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22392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53312"/>
            <a:ext cx="4965192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Future Scope &amp; Review 3 Objectives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Temporal Sequential Modeling (ConvLSTM):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Extend image classification to sequential video clips, modeling time-to-collision (TTC) dynamics across consecutive frames.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Hardware Edge Acceleration (Jetson Nano): </a:t>
            </a:r>
            <a:r>
              <a:rPr sz="1550">
                <a:solidFill>
                  <a:srgbClr val="0F172A"/>
                </a:solidFill>
                <a:latin typeface="Times New Roman"/>
              </a:rPr>
              <a:t>Deploy quantized INT8 TensorRT engine of EfficientNetB0 and DnCNN onto embedded NVIDIA Jetson hardware for in-cabin testing.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CCTV Smart City Municipal Feeds: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Integrate live RTSP video feeds from urban intersection cameras to automate emergency dispatch.</a:t>
            </a:r>
          </a:p>
          <a:p>
            <a:pPr>
              <a:spcAft>
                <a:spcPts val="600"/>
              </a:spcAft>
            </a:pPr>
            <a:r>
              <a:rPr b="1" sz="1550">
                <a:solidFill>
                  <a:srgbClr val="0F172A"/>
                </a:solidFill>
                <a:latin typeface="Times New Roman"/>
              </a:rPr>
              <a:t>Multi-Task Surface Friction Head: </a:t>
            </a:r>
            <a:r>
              <a:rPr sz="1550">
                <a:solidFill>
                  <a:srgbClr val="0F172A"/>
                </a:solidFill>
                <a:latin typeface="Times New Roman"/>
              </a:rPr>
              <a:t>Incorporate secondary classification heads to predict road wetness and friction alongside collision risk.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 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8192"/>
            <a:ext cx="12191695" cy="749808"/>
          </a:xfrm>
          <a:prstGeom prst="rect">
            <a:avLst/>
          </a:prstGeom>
        </p:spPr>
      </p:pic>
      <p:pic>
        <p:nvPicPr>
          <p:cNvPr id="3" name="Picture 2" descr="slide_1_Picture 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377440"/>
            <a:ext cx="94457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0000"/>
                </a:solidFill>
                <a:latin typeface="Times New Roman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0F172A"/>
                </a:solidFill>
                <a:latin typeface="Times New Roman"/>
              </a:defRPr>
            </a:pPr>
            <a:r>
              <a:t>SafeRoad AI: Predict Risks. Prevent Accidents.</a:t>
            </a:r>
          </a:p>
          <a:p>
            <a:pPr algn="ctr">
              <a:spcBef>
                <a:spcPts val="400"/>
              </a:spcBef>
              <a:defRPr sz="1500" i="1">
                <a:solidFill>
                  <a:srgbClr val="475569"/>
                </a:solidFill>
                <a:latin typeface="Times New Roman"/>
              </a:defRPr>
            </a:pPr>
            <a:r>
              <a:t>Open for Technical 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572000"/>
            <a:ext cx="9445752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4736592"/>
            <a:ext cx="8988552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50" b="1">
                <a:solidFill>
                  <a:srgbClr val="8B0000"/>
                </a:solidFill>
                <a:latin typeface="Times New Roman"/>
              </a:defRPr>
            </a:pPr>
            <a:r>
              <a:t>Individual Evaluation Coordinates — Team 10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Presenter Details: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U Veeranjaneyulu | Roll Number: CB.SC.U4CSE23351 | Team 10 (SafeRoad AI)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Module Focus: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EfficientNetB0 Deep Learning Model &amp; Production Full-Stack Web Platform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Course &amp; Faculty Guide: </a:t>
            </a:r>
            <a:r>
              <a:rPr sz="1500">
                <a:solidFill>
                  <a:srgbClr val="0F172A"/>
                </a:solidFill>
                <a:latin typeface="Times New Roman"/>
              </a:rPr>
              <a:t>23CSE473 Neural Networks &amp; Deep Learning | Prof. Dr. T Senthil Kumar (CSE)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Times New Roman"/>
              </a:rPr>
              <a:t>Project Links: </a:t>
            </a:r>
            <a:r>
              <a:rPr sz="1500">
                <a:solidFill>
                  <a:srgbClr val="0F172A"/>
                </a:solidFill>
                <a:latin typeface="Times New Roman"/>
              </a:rPr>
              <a:t>GitHub: https://github.com/Uppara-Veeranjaneyulu/SafeRoad-AI | Live Web App: https://saferoad-ai-one.vercel.app/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