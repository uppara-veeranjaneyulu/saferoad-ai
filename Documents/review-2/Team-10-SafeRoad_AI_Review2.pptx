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1404" y="540332"/>
            <a:ext cx="950976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C00000"/>
                </a:solidFill>
                <a:latin typeface="Times New Roman"/>
              </a:defRPr>
            </a:pPr>
            <a:r>
              <a:rPr dirty="0"/>
              <a:t>NEURAL NETWORKS AND DEEP LEARNING (23CSE473)</a:t>
            </a:r>
          </a:p>
          <a:p>
            <a:pPr>
              <a:defRPr sz="1500" b="1">
                <a:solidFill>
                  <a:srgbClr val="475569"/>
                </a:solidFill>
                <a:latin typeface="Times New Roman"/>
              </a:defRPr>
            </a:pPr>
            <a:r>
              <a:rPr dirty="0"/>
              <a:t>CASE STUDY REVIEW 2 — TEAM 10</a:t>
            </a:r>
          </a:p>
          <a:p>
            <a:pPr>
              <a:spcBef>
                <a:spcPts val="400"/>
              </a:spcBef>
              <a:defRPr sz="2400" b="1">
                <a:solidFill>
                  <a:srgbClr val="8B0000"/>
                </a:solidFill>
                <a:latin typeface="Times New Roman"/>
              </a:defRPr>
            </a:pPr>
            <a:r>
              <a:rPr dirty="0" err="1"/>
              <a:t>SafeRoad</a:t>
            </a:r>
            <a:r>
              <a:rPr dirty="0"/>
              <a:t> AI: Road-Scene Risk Classification &amp; Traffic Monitoring</a:t>
            </a:r>
          </a:p>
          <a:p>
            <a:pPr>
              <a:defRPr sz="1400" i="1">
                <a:solidFill>
                  <a:srgbClr val="0F172A"/>
                </a:solidFill>
                <a:latin typeface="Times New Roman"/>
              </a:defRPr>
            </a:pPr>
            <a:r>
              <a:rPr lang="en-IN" dirty="0"/>
              <a:t>							</a:t>
            </a:r>
            <a:r>
              <a:rPr dirty="0"/>
              <a:t>"Predict Risks. Prevent Accidents."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290278"/>
              </p:ext>
            </p:extLst>
          </p:nvPr>
        </p:nvGraphicFramePr>
        <p:xfrm>
          <a:off x="548640" y="2148840"/>
          <a:ext cx="1109167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Sl No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Student Name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Roll Number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College Email ID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Project Module Focus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Chaitanya Chitturi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CB.SC.U4CSE23214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cb.sc.u4cse23214@cb.students.amrita.edu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YOLOv8</a:t>
                      </a:r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 &amp;</a:t>
                      </a:r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 </a:t>
                      </a:r>
                      <a:r>
                        <a:rPr lang="en-IN" sz="1200" b="0" i="0" dirty="0" err="1">
                          <a:solidFill>
                            <a:srgbClr val="0F172A"/>
                          </a:solidFill>
                          <a:latin typeface="Times New Roman"/>
                        </a:rPr>
                        <a:t>DnCNN</a:t>
                      </a:r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 Image Denoising </a:t>
                      </a:r>
                      <a:endParaRPr sz="1200" b="0" i="0" dirty="0">
                        <a:solidFill>
                          <a:srgbClr val="0F172A"/>
                        </a:solidFill>
                        <a:latin typeface="Times New Roman"/>
                      </a:endParaRP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 Hema Sai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CB.SC.U4CSE23266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cb.sc.u4cse23266@cb.students.amrita.edu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 err="1">
                          <a:solidFill>
                            <a:srgbClr val="0F172A"/>
                          </a:solidFill>
                          <a:latin typeface="Times New Roman"/>
                        </a:rPr>
                        <a:t>MobileNetV</a:t>
                      </a:r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  <a:endParaRPr sz="1200" b="0" i="0" dirty="0">
                        <a:solidFill>
                          <a:srgbClr val="0F172A"/>
                        </a:solidFill>
                        <a:latin typeface="Times New Roman"/>
                      </a:endParaRP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U Veeranjaneyulu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CB.SC.U4CSE23351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cb.sc.u4cse23351@cb.students.amrita.edu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 &amp; Full-Stack Web Platform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Charan Kola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CB.SC.U4CSE23332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cb.sc.u4cse23332@cb.students.amrita.edu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ResNet-50 &amp;</a:t>
                      </a:r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 Dataset</a:t>
                      </a:r>
                      <a:endParaRPr sz="1200" b="0" i="0" dirty="0">
                        <a:solidFill>
                          <a:srgbClr val="0F172A"/>
                        </a:solidFill>
                        <a:latin typeface="Times New Roman"/>
                      </a:endParaRP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26280"/>
            <a:ext cx="11091672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8764" y="4637778"/>
            <a:ext cx="10634472" cy="12259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Project Mentorship &amp; Repository Links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Faculty Guide: </a:t>
            </a:r>
            <a:r>
              <a:rPr sz="1500" b="0" dirty="0">
                <a:latin typeface="Times New Roman"/>
              </a:rPr>
              <a:t>Professor – Dr. T Senthil Kumar (Department of Computer Science &amp; Engineering)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Source Code Repository: </a:t>
            </a:r>
            <a:r>
              <a:rPr sz="1500" b="0" dirty="0">
                <a:latin typeface="Times New Roman"/>
              </a:rPr>
              <a:t>https://github.com/Uppara-Veeranjaneyulu/SafeRoad-AI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Live Web Application: </a:t>
            </a:r>
            <a:r>
              <a:rPr sz="1500" b="0" dirty="0">
                <a:latin typeface="Times New Roman"/>
              </a:rPr>
              <a:t>https://saferoad-ai-one.vercel.app/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Real-World Context: The Urgent Need for Proactive Road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The Global Road Safety Crisis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Global Traffic Fatalities: </a:t>
            </a:r>
            <a:r>
              <a:rPr sz="1550" b="0">
                <a:latin typeface="Times New Roman"/>
              </a:rPr>
              <a:t>WHO reports over 1.35 million deaths and 50 million severe injuries worldwide every year.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Economic Burden: </a:t>
            </a:r>
            <a:r>
              <a:rPr sz="1550" b="0">
                <a:latin typeface="Times New Roman"/>
              </a:rPr>
              <a:t>Traffic collisions cost nations between 3% and 5% of their total GDP in medical and infrastructure damages.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Human Reaction Latency: </a:t>
            </a:r>
            <a:r>
              <a:rPr sz="1550" b="0">
                <a:latin typeface="Times New Roman"/>
              </a:rPr>
              <a:t>Over 88% of vehicular crashes stem from perceptual delays—drivers failing to react to hazards in rainy, foggy, or low-visibility conditions.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Reactive Safety Deficit: </a:t>
            </a:r>
            <a:r>
              <a:rPr sz="1550" b="0">
                <a:latin typeface="Times New Roman"/>
              </a:rPr>
              <a:t>Traditional measures (airbags, crash recorders) only respond during or after an impact. Proactive accident prevention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SafeRoad AI: The Intelligent Copilot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Proactive Risk Classification: </a:t>
            </a:r>
            <a:r>
              <a:rPr sz="1550" b="0">
                <a:latin typeface="Times New Roman"/>
              </a:rPr>
              <a:t>Analyzes forward-facing camera feeds and predicts hazard levels: Safe, Moderate Risk, and High Risk in real time.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Multimodal Vision Architecture: </a:t>
            </a:r>
            <a:r>
              <a:rPr sz="1550" b="0">
                <a:latin typeface="Times New Roman"/>
              </a:rPr>
              <a:t>Combines DnCNN image restoration, YOLOv8 traffic object monitoring, and lightweight MobileNetV2 classification.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Multi-Regional Robustness: </a:t>
            </a:r>
            <a:r>
              <a:rPr sz="1550" b="0">
                <a:latin typeface="Times New Roman"/>
              </a:rPr>
              <a:t>Trained on both structured US highways (BDD100K) and chaotic Indian traffic (IDD) under varied lighting and weather.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Universal Edge Access: </a:t>
            </a:r>
            <a:r>
              <a:rPr sz="1550" b="0">
                <a:latin typeface="Times New Roman"/>
              </a:rPr>
              <a:t>Zero dependency on expensive proprietary sensors; deploys seamlessly on standard smartphones and dashcams via web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Problem Statement &amp; Identified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Formulated Problem Statement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High Cost of Commercial ADAS: </a:t>
            </a:r>
            <a:r>
              <a:rPr sz="1550" b="0">
                <a:latin typeface="Times New Roman"/>
              </a:rPr>
              <a:t>Systems like Tesla Autopilot or Mobileye require expensive proprietary hardware ($3,000–$10,000), remaining unavailable to average drivers.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Vulnerability to Weather &amp; Noise: </a:t>
            </a:r>
            <a:r>
              <a:rPr sz="1550" b="0">
                <a:latin typeface="Times New Roman"/>
              </a:rPr>
              <a:t>Adverse weather (rain, fog, nighttime darkness) and camera sensor noise cause standard computer vision models to drop accuracy by over 35%.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Absence of Holistic Risk Context: </a:t>
            </a:r>
            <a:r>
              <a:rPr sz="1550" b="0">
                <a:latin typeface="Times New Roman"/>
              </a:rPr>
              <a:t>Existing ITS research focuses heavily on isolated vehicle bounding boxes rather than comprehensive road safety evaluation.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Targeted Solution: </a:t>
            </a:r>
            <a:r>
              <a:rPr sz="1550" b="0">
                <a:latin typeface="Times New Roman"/>
              </a:rPr>
              <a:t>SafeRoad AI restores noisy visual inputs and delivers accurate three-tier risk warnings within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Key Research Gaps Addressed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Holistic Scene Risk Modeling: </a:t>
            </a:r>
            <a:r>
              <a:rPr sz="1550" b="0">
                <a:latin typeface="Times New Roman"/>
              </a:rPr>
              <a:t>Moving beyond simple car counting to assess overall environmental accident likelihood.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Affordable Edge Deployability: </a:t>
            </a:r>
            <a:r>
              <a:rPr sz="1550" b="0">
                <a:latin typeface="Times New Roman"/>
              </a:rPr>
              <a:t>Optimizing lightweight backbones (MobileNetV2) to run under 12 ms on consumer devices rather than heavy server GPUs.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Severe Class Imbalance Handling: </a:t>
            </a:r>
            <a:r>
              <a:rPr sz="1550" b="0">
                <a:latin typeface="Times New Roman"/>
              </a:rPr>
              <a:t>Formulating class-weighted cross-entropy loss to handle skewed real-world driving data where crashes are rare.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Upstream Image Restoration: </a:t>
            </a:r>
            <a:r>
              <a:rPr sz="1550" b="0">
                <a:latin typeface="Times New Roman"/>
              </a:rPr>
              <a:t>Introducing a dedicated DnCNN pre-filter to cleanse camera artifacts before features reach the classifier.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Core Motivation &amp; UN Sustainable Development Goals (SDG)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Core Motivation: Saving the 'Golden Seconds'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Human Reaction Bottleneck: </a:t>
            </a:r>
            <a:r>
              <a:rPr sz="1550" b="0">
                <a:latin typeface="Times New Roman"/>
              </a:rPr>
              <a:t>Average driver reaction time is 1.5 seconds. Early warnings delivered just 0.5 to 1.0 second earlier can prevent up to 80% of collisions.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Eliminating Driver Blindspots: </a:t>
            </a:r>
            <a:r>
              <a:rPr sz="1550" b="0">
                <a:latin typeface="Times New Roman"/>
              </a:rPr>
              <a:t>Acts as an unwavering digital co-pilot during driver fatigue, blinding headlight glare, and torrential rainfall.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Democratizing Road Safety: </a:t>
            </a:r>
            <a:r>
              <a:rPr sz="1550" b="0">
                <a:latin typeface="Times New Roman"/>
              </a:rPr>
              <a:t>Brings active ADAS safety features to commercial transport fleets, auto-rickshaws, public buses, and personal vehicles.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Smart City Traffic Intelligence: </a:t>
            </a:r>
            <a:r>
              <a:rPr sz="1550" b="0">
                <a:latin typeface="Times New Roman"/>
              </a:rPr>
              <a:t>Provides municipal authorities with real-time hazard analytics to optimize urban traffic flow and road safety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UN SDG 3: Good Health and Well-Being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Target 3.6: </a:t>
            </a:r>
            <a:r>
              <a:rPr sz="1500" b="0">
                <a:latin typeface="Times New Roman"/>
              </a:rPr>
              <a:t>Halve the global number of deaths and injuries from road traffic crashes.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Impact: </a:t>
            </a:r>
            <a:r>
              <a:rPr sz="1500" b="0">
                <a:latin typeface="Times New Roman"/>
              </a:rPr>
              <a:t>Reduces severe injuries and crash fatalities through proactive 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3776472"/>
            <a:ext cx="4965192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UN SDG 11: Sustainable Cities &amp; Communities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Target 11.2: </a:t>
            </a:r>
            <a:r>
              <a:rPr sz="1500" b="0">
                <a:latin typeface="Times New Roman"/>
              </a:rPr>
              <a:t>Provide access to safe, affordable, accessible, and sustainable transport systems.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Impact: </a:t>
            </a:r>
            <a:r>
              <a:rPr sz="1500" b="0">
                <a:latin typeface="Times New Roman"/>
              </a:rPr>
              <a:t>Enables smart urban mobility with camera-based road hazard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Literature Survey: 20 SCImago-Verified Research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95248"/>
            <a:ext cx="11091672" cy="206090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61353"/>
            <a:ext cx="1063447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Literature Review Methodology &amp; Standards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 err="1">
                <a:solidFill>
                  <a:srgbClr val="8B0000"/>
                </a:solidFill>
                <a:latin typeface="Times New Roman"/>
              </a:rPr>
              <a:t>SCImago</a:t>
            </a:r>
            <a:r>
              <a:rPr sz="1500" b="1" dirty="0">
                <a:solidFill>
                  <a:srgbClr val="8B0000"/>
                </a:solidFill>
                <a:latin typeface="Times New Roman"/>
              </a:rPr>
              <a:t> Journal Verification: </a:t>
            </a:r>
            <a:r>
              <a:rPr sz="1500" b="0" dirty="0">
                <a:latin typeface="Times New Roman"/>
              </a:rPr>
              <a:t>All 20 papers are published in reputed Q1/Q2 peer-reviewed international journals indexed in </a:t>
            </a:r>
            <a:r>
              <a:rPr sz="1500" b="0" dirty="0" err="1">
                <a:latin typeface="Times New Roman"/>
              </a:rPr>
              <a:t>SCImago</a:t>
            </a:r>
            <a:r>
              <a:rPr sz="1500" b="0" dirty="0">
                <a:latin typeface="Times New Roman"/>
              </a:rPr>
              <a:t> (2020–2025).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Equal Team Distribution: </a:t>
            </a:r>
            <a:r>
              <a:rPr sz="1500" b="0" dirty="0">
                <a:latin typeface="Times New Roman"/>
              </a:rPr>
              <a:t>Each of the 4 students selected and analyzed 5 papers strictly mapped to their specialized module in </a:t>
            </a:r>
            <a:r>
              <a:rPr sz="1500" b="0" dirty="0" err="1">
                <a:latin typeface="Times New Roman"/>
              </a:rPr>
              <a:t>SafeRoad</a:t>
            </a:r>
            <a:r>
              <a:rPr sz="1500" b="0" dirty="0">
                <a:latin typeface="Times New Roman"/>
              </a:rPr>
              <a:t> AI.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Direct Relevance: </a:t>
            </a:r>
            <a:r>
              <a:rPr sz="1500" b="0" dirty="0">
                <a:latin typeface="Times New Roman"/>
              </a:rPr>
              <a:t>Covers real-time object detection (YOLOv8), road scene classification (MobileNetV2), image denoising (</a:t>
            </a:r>
            <a:r>
              <a:rPr sz="1500" b="0" dirty="0" err="1">
                <a:latin typeface="Times New Roman"/>
              </a:rPr>
              <a:t>DnCNN</a:t>
            </a:r>
            <a:r>
              <a:rPr sz="1500" b="0" dirty="0">
                <a:latin typeface="Times New Roman"/>
              </a:rPr>
              <a:t>), and deep benchmarks.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505271"/>
              </p:ext>
            </p:extLst>
          </p:nvPr>
        </p:nvGraphicFramePr>
        <p:xfrm>
          <a:off x="548640" y="3156154"/>
          <a:ext cx="11091672" cy="2696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20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Student Name &amp; Roll No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Core Architecture Focus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Verified Journals Included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Total Papers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201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Chaitanya Chitturi
(CB.SC.U4CSE23214)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YOLOv8 </a:t>
                      </a:r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&amp; </a:t>
                      </a:r>
                      <a:r>
                        <a:rPr lang="en-IN" sz="1200" b="0" i="0" dirty="0" err="1">
                          <a:solidFill>
                            <a:srgbClr val="0F172A"/>
                          </a:solidFill>
                          <a:latin typeface="Times New Roman"/>
                        </a:rPr>
                        <a:t>DnCNN</a:t>
                      </a:r>
                      <a:endParaRPr lang="en-IN" sz="1200" b="0" i="0" dirty="0">
                        <a:solidFill>
                          <a:srgbClr val="0F172A"/>
                        </a:solidFill>
                        <a:latin typeface="Times New Roman"/>
                      </a:endParaRPr>
                    </a:p>
                    <a:p>
                      <a:pPr algn="l"/>
                      <a:endParaRPr sz="1200" b="0" i="0" dirty="0">
                        <a:solidFill>
                          <a:srgbClr val="0F172A"/>
                        </a:solidFill>
                        <a:latin typeface="Times New Roman"/>
                      </a:endParaRP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Applications, Applied Soft Computing, IEEE Access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/ Q2
(SJR 0.85 – 1.85)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201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 Hema Sai
(CB.SC.U4CSE23266)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MobileNetV2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Applications, PLOS ONE, Pattern Recognition Letters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/ Q2
(SJR 0.62 – 1.85)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201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U Veeranjaneyulu
(CB.SC.U4CSE23351)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</a:t>
                      </a:r>
                      <a:endParaRPr sz="1200" b="0" i="0" dirty="0">
                        <a:solidFill>
                          <a:srgbClr val="0F172A"/>
                        </a:solidFill>
                        <a:latin typeface="Times New Roman"/>
                      </a:endParaRP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TIP, IEEE TITS, Applied Soft Computing, Digital Signal Processing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/ Q2
(SJR 0.70 – 2.59)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201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Charan Kola
(CB.SC.U4CSE23332)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ResNet-50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Applications, Egyptian Informatics, MSSP, EAAI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/ Q3
(SJR 1.05 – 2.64)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Literature Survey: Chaitanya Chitturi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YOLO-MPAM: Efficient real-time neural networks based on multi-channel feature fusion (Yu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 (2024)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1.854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Validates multi-channel feature fusion in YOLOv8 for detecting vehicles across complex multi-lane road scenes.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Object detection with attention mechanism and C2f_DCNv2 for complex traffic scenes (Cai et al.)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 (2025)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1.854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Demonstrates how deformable convolutions resolve heavy vehicle occlusions and small-object pedestrian detection.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Enhancing vehicle detection in ITS via autonomous UAV platform and YOLOv8 (Bakirci, M.)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Applied Soft Computing (2024)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1.810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Guides our selection of YOLOv8n to maintain sub-15ms edge inference during active traffic surveillance.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Utilizing YOLOv8 for enhanced traffic monitoring in ITS applications (Bakirci, M.)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Digital Signal Processing (2024)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Q2
SJR: 0.704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Directly identifies practical surveillance failure modes under low illumination and glare, motivating our denoising step.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YOLOv8-FDD: A Real-Time Vehicle Detection Method Based on Improved YOLOv8 (Liu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Access (2024)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0.849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Provides mathematical foundation for parameter pruning to achieve high-throughput frame streaming in web dashboards.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Literature Survey: T Hema Sai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 with Spatial Attention module for traffic congestion recognition (Lin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 (2024)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1.854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Proves MobileNetV2 achieves competitive accuracy with ResNet-50 while drastically lowering FLOPs for edge deployment.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Res2Net-based multi-scale and multi-attention model for traffic scene classification (Gao et al.)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PLOS ONE (2024)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0.803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Supplies foundational evidence for multi-scale feature extraction across changing daylight, overcast, and rainy weather.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Semantic scene segmentation in unstructured environment with modified DeepLabV3+ (Baheti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Pattern Recognition Letters (2020)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1.005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Validates our use of the India Driving Dataset (IDD) to handle chaotic, heterogeneous Indian driving conditions.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Road Scene Semantic Segmentation Based on MPNet (Song et al.)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Electronics (2025)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Q2
SJR: 0.615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Confirms depthwise separable convolutions preserve sharp road boundaries while cutting inference latency.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 novel image-based CNN approach for traffic congestion estimation (Gao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 (2021)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1.854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Proves that deep CNNs can classify road traffic density directly from holistic scene images without counting every vehicle.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Literature Survey: U Veeranjaneyulu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Beyond a Gaussian Denoiser: Residual Learning of Deep CNN for Image Denoising (Zhang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Transactions on Image Processing (2017)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2.502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Provides the primary mathematical foundation for our 17-layer DnCNN model: learning noise residual R(y) rather than clean images.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Decomposed Neural Architecture Search for image denoising (Elsevier Reference)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Applied Soft Computing (2022)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1.810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Guides our optimization of DnCNN layer depth and filter count for low-latency frame restoration.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NSTBNet: Shearlet transform CNN for spatially varying image denoising (Elsevier Reference)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Digital Signal Processing (2022)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Q2
SJR: 0.704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Justifies multi-type synthetic noise augmentation (Gaussian, Salt &amp; Pepper, Motion Blur, JPEG) to mirror real dashcam sensors.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 separation–aggregation network for image denoising (Zhang et al.)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Applied Soft Computing (2019)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1.810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Demonstrates the necessity of preserving high-frequency lane contours and vehicle edges during image denoising.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Dynamic Loss Balancing and Sequential Enhancement for Road-Safety Assessment (Kačan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Transactions on ITS (2024)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2.589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Supplies our core road hazard classification framework and dynamic loss balancing strategy on BDD100K data.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Literature Survey: Charan Kol</a:t>
            </a:r>
            <a:r>
              <a:rPr lang="en-IN" dirty="0"/>
              <a:t>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Mexican traffic sign detection and classification using deep learning (Rodríguez et al.)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Applications (2022)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1.854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Justifies using ResNet-50 as a deep residual benchmark and combines object detection with deep feature classification.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Traffic sign detection and recognition in Jordan based on ML &amp; deep learning (Elsevier)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Egyptian Informatics Journal (2025)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1.050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Validates baseline performance of deep residual models for identifying mandatory and cautionary regulatory road signs.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Computer vision vehicle detection and tracking from UAV data for Indian traffic (Taylor &amp; Francis)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IETE Journal of Research (2024)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Q3
SJR: 0.380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Provides empirical support for traffic density categorization (Low/Medium/High) on heterogeneous Indian roadways.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Road friction estimation based on vision for safe autonomous driving (Zhao et al.)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Mech. Systems &amp; Signal Processing (2024)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2.636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Informs our metadata schema, directly linking wet/slippery road surfaces to elevated High-Risk safety classifications.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Real-time joint recognition of weather and ground surface conditions by multi-task CNN (Gragnaniello)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Engineering Applications of AI (2025)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
SJR: 1.652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Guides our future roadmap for multi-task joint prediction of weather state, lighting quality, and collision probabilities.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Overall 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rchitectur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188720"/>
            <a:ext cx="560527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353312"/>
            <a:ext cx="514807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End-to-End System Workflow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1. Input Ingestion: </a:t>
            </a:r>
            <a:r>
              <a:rPr sz="1550" b="0">
                <a:latin typeface="Times New Roman"/>
              </a:rPr>
              <a:t>Captures dashcam or CCTV stream (224x224 RGB frames) via web portal or camera API.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2. DnCNN Denoising: </a:t>
            </a:r>
            <a:r>
              <a:rPr sz="1550" b="0">
                <a:latin typeface="Times New Roman"/>
              </a:rPr>
              <a:t>Restores degraded or noisy frames by predicting and subtracting the residual noise map.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3. YOLOv8 Traffic Detection: </a:t>
            </a:r>
            <a:r>
              <a:rPr sz="1550" b="0">
                <a:latin typeface="Times New Roman"/>
              </a:rPr>
              <a:t>Extracts real-time bounding boxes, vehicle counts, pedestrian counts, and road signs.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4. MobileNetV2 Risk Classifier: </a:t>
            </a:r>
            <a:r>
              <a:rPr sz="1550" b="0">
                <a:latin typeface="Times New Roman"/>
              </a:rPr>
              <a:t>Classifies restored scene into Safe, Moderate Risk, or High Risk with calibrated probabilities.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5. Flask API &amp; React UI: </a:t>
            </a:r>
            <a:r>
              <a:rPr sz="1550" b="0">
                <a:latin typeface="Times New Roman"/>
              </a:rPr>
              <a:t>Dispatches instant color-coded visual/audio hazard alerts to the responsive web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SafeRoad AI Data Pipeline &amp; Processing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Pipeline Stage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Input &amp; Transformation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Deep Learning Technology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Output &amp; System Impact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1. Ingestion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Raw dashcam frame or video stream.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OpenCV VideoCapture / Pillow I/O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Standardized 224x224 RGB image tensor.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2. Image Denoising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Corrupted frame with noise, blur, or compression.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DnCNN (17-Layer Residual CNN)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Clean restored frame (PSNR &gt; 31 dB).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3. Traffic Context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Clean frame passed to object detector.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YOLOv8n (Anchor-free detection)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Vehicle, pedestrian, truck counts and signs.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4. Risk Classification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Clean frame passed to scene classifier.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 (Inverted Residuals)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Probabilities: [P(Safe), P(Moderate), P(High)].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5. Alert Dispatch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Risk score + vehicle density mapped to alert rules.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Flask REST API + React Frontend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Color-coded UI badge, audio alarm, recommendations.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1 &amp; Module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Module 1: Data Acquisition &amp; Preprocessing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Multi-Source Dataset: </a:t>
            </a:r>
            <a:r>
              <a:rPr sz="1550" b="0">
                <a:latin typeface="Times New Roman"/>
              </a:rPr>
              <a:t>Consolidates 6,949 annotated frames from BDD100K, India Driving Dataset (IDD), and YouTube dashcam videos.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14-Column Metadata: </a:t>
            </a:r>
            <a:r>
              <a:rPr sz="1550" b="0">
                <a:latin typeface="Times New Roman"/>
              </a:rPr>
              <a:t>Rich annotations including weather, lighting, road condition, traffic density, vehicle counts, pedestrian counts, and movement direction.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Stratified 70-15-15 Split: </a:t>
            </a:r>
            <a:r>
              <a:rPr sz="1550" b="0">
                <a:latin typeface="Times New Roman"/>
              </a:rPr>
              <a:t>Strict partition ensuring zero data leakage: 4,864 Training, 1,042 Validation, and 1,043 Testing frames.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Preprocessing Pipeline: </a:t>
            </a:r>
            <a:r>
              <a:rPr sz="1550" b="0">
                <a:latin typeface="Times New Roman"/>
              </a:rPr>
              <a:t>Images resized to 224x224x3 and normalized using ImageNet parameters (mu = [0.485, 0.456, 0.406], sigma = [0.229, 0.224, 0.225]).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Module 2: Robustness &amp; Image Denoising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Synthetic Noisy Dataset (1,270 frames): </a:t>
            </a:r>
            <a:r>
              <a:rPr sz="1550" b="0">
                <a:latin typeface="Times New Roman"/>
              </a:rPr>
              <a:t>Created a controlled 20% subset subjected to 4 realistic degradations: Gaussian noise, Salt &amp; Pepper, Motion Blur, and JPEG compression.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DnCNN 17-Layer Architecture: </a:t>
            </a:r>
            <a:r>
              <a:rPr sz="1550" b="0">
                <a:latin typeface="Times New Roman"/>
              </a:rPr>
              <a:t>Learns the noise residual map R(y) rather than clean pixels directly: x_clean = y - R(y).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Quality Verification: </a:t>
            </a:r>
            <a:r>
              <a:rPr sz="1550" b="0">
                <a:latin typeface="Times New Roman"/>
              </a:rPr>
              <a:t>Initial degraded mean PSNR of 25.36 dB restored cleanly to &gt;31.2 dB without losing critical edge boundaries.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Decoupled Integration: </a:t>
            </a:r>
            <a:r>
              <a:rPr sz="1550" b="0">
                <a:latin typeface="Times New Roman"/>
              </a:rPr>
              <a:t>Operates upstream of the classifier, ensuring downstream models always receive clean visual representations.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3 &amp; Module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Module 3: Intelligent Traffic Monitoring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Object Detection Core: </a:t>
            </a:r>
            <a:r>
              <a:rPr sz="1550" b="0">
                <a:latin typeface="Times New Roman"/>
              </a:rPr>
              <a:t>Employs YOLOv8n (Ultralytics), an anchor-free single-stage detector optimized for rapid vehicular and pedestrian localization.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Multi-Class Parsing: </a:t>
            </a:r>
            <a:r>
              <a:rPr sz="1550" b="0">
                <a:latin typeface="Times New Roman"/>
              </a:rPr>
              <a:t>Simultaneously detects cars, motorcycles, auto-rickshaws, buses, heavy trucks, pedestrians, and road signs.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Traffic Density Computation: </a:t>
            </a:r>
            <a:r>
              <a:rPr sz="1550" b="0">
                <a:latin typeface="Times New Roman"/>
              </a:rPr>
              <a:t>Extracts spatial object counts to assess road occupancy and congestion levels.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Ultra-Fast Latency: </a:t>
            </a:r>
            <a:r>
              <a:rPr sz="1550" b="0">
                <a:latin typeface="Times New Roman"/>
              </a:rPr>
              <a:t>Executes at under 12 ms on edge GPUs, enabling real-time frame evaluation alongside the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Module 4: Deep Learning Risk Classification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Holistic Scene Evaluation: </a:t>
            </a:r>
            <a:r>
              <a:rPr sz="1550" b="0">
                <a:latin typeface="Times New Roman"/>
              </a:rPr>
              <a:t>Classifies full road scenes into three safety tiers: Safe (normal flow), Moderate Risk (dense traffic), and High Risk (imminent collision danger).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Model Zoo Benchmarking: </a:t>
            </a:r>
            <a:r>
              <a:rPr sz="1550" b="0">
                <a:latin typeface="Times New Roman"/>
              </a:rPr>
              <a:t>Compares 4 architectures on the identical held-out test split: Custom CNN, MobileNetV2, EfficientNetB0, and ResNet-50.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MobileNetV2 Performance: </a:t>
            </a:r>
            <a:r>
              <a:rPr sz="1550" b="0">
                <a:latin typeface="Times New Roman"/>
              </a:rPr>
              <a:t>Achieved 80.82% Accuracy, 85.56% High-Risk Recall, and 11.3 ms latency with only 2.42M parameters.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Optuna Hyperparameter Tuning: </a:t>
            </a:r>
            <a:r>
              <a:rPr sz="1550" b="0">
                <a:latin typeface="Times New Roman"/>
              </a:rPr>
              <a:t>Automated Bayesian search identified optimal learning rate (0.000554), batch size (16), dense units (256), and dropout (0.50).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5 &amp; Module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Module 5: Interactive Full-Stack Web Platform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React 18 + Tailwind Frontend: </a:t>
            </a:r>
            <a:r>
              <a:rPr sz="1550" b="0">
                <a:latin typeface="Times New Roman"/>
              </a:rPr>
              <a:t>Constructed with modern glassmorphism, responsive dark-mode styling, and smooth Framer Motion page transitions.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Flask REST API Backend: </a:t>
            </a:r>
            <a:r>
              <a:rPr sz="1550" b="0">
                <a:latin typeface="Times New Roman"/>
              </a:rPr>
              <a:t>Python 3 Flask API serving endpoints for live image uploads, model metrics, and system statistics.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Core Application Portals: </a:t>
            </a:r>
            <a:r>
              <a:rPr sz="1550" b="0">
                <a:latin typeface="Times New Roman"/>
              </a:rPr>
              <a:t>(1) Home Page, (2) Real-Time Risk Prediction Portal, (3) Analytics Dashboard, (4) Dataset Explorer, (5) About &amp; Team.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Live Global Deployment: </a:t>
            </a:r>
            <a:r>
              <a:rPr sz="1550" b="0">
                <a:latin typeface="Times New Roman"/>
              </a:rPr>
              <a:t>Hosted on Vercel at https://saferoad-ai-one.vercel.app/ with automated CI/CD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Module 6: Evaluation &amp; Safety Metrics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Safety-Critical Prioritization: </a:t>
            </a:r>
            <a:r>
              <a:rPr sz="1550" b="0">
                <a:latin typeface="Times New Roman"/>
              </a:rPr>
              <a:t>Prioritizes High-Risk Recall (85.56%) over raw accuracy to prevent missed collisions (false negatives).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Macro F1-Score Metric: </a:t>
            </a:r>
            <a:r>
              <a:rPr sz="1550" b="0">
                <a:latin typeface="Times New Roman"/>
              </a:rPr>
              <a:t>Harmonic mean across classes gives equal weight to minority Moderate Risk, preventing majority class bias.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Denoising Quality Metrics: </a:t>
            </a:r>
            <a:r>
              <a:rPr sz="1550" b="0">
                <a:latin typeface="Times New Roman"/>
              </a:rPr>
              <a:t>Tracks Peak Signal-to-Noise Ratio (PSNR) and Structural Similarity Index (SSIM) for image restoration.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Held-Out Generalization Audit: </a:t>
            </a:r>
            <a:r>
              <a:rPr sz="1550" b="0">
                <a:latin typeface="Times New Roman"/>
              </a:rPr>
              <a:t>Strict evaluation on 1,043 untouched test images confirms robust generalization without overfitting.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Metrics: Classification &amp; Safety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Overall Classification Accuracy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Accuracy = (TP + TN) / (TP + TN + FP + FN)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Measures total percentage of correctly classified road scenes across Safe, Moderate, and High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Precision (Positive Predictive Value)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Precision = TP / (TP + FP)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Quantifies the reliability of hazard alerts, minimizing annoying false alarms on safe open roads.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Recall / Sensitivity (Hazard Capture)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Recall = TP / (TP + FN)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Most critical safety metric: ensures actual road hazards and dangerous situations are never missed.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Macro-Averaged F1-Score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Macro F1 = (1 / K) * sum_{k=1}^K [ 2 * (P_k * R_k) / (P_k + R_k)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Harmonic mean computed equally across all 3 classes, resolving severe dataset class imbalance.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Metrics: Loss &amp; Denoising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Class-Weighted Cross-Entropy Loss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Loss = - (1 / N) * sum [ w_k * y_k * log( y_hat_k )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Penalizes minority class errors with inverse class weights (w_Safe = 0.98, w_Mod = 7.55, w_High = 0.54).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DnCNN Residual Learning Formulation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x_clean = y - R(y)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Predicts the noise residual map R(y) from corrupted input y, subtracting it to recover the clean frame.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Peak Signal-to-Noise Ratio (PSNR)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PSNR = 20 * log10( 255 / sqrt(MSE) )  [in dB]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Quantifies visual restoration fidelity: values above 30 dB indicate clean, artifact-free road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Object Detection Mean Average Precision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mAP@0.5 = (1 / C) * sum [ AP_c  at IoU &gt;= 0.50 ]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Evaluates YOLOv8 traffic bounding box detection accuracy for vehicles, trucks, and pedestrians.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 Suitability &amp; Literature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 Name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Application Purpose in SafeRoad AI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Best Values in Published Papers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SafeRoad AI Result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Recall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Ensures dangerous scenes are never missed; critical for saving lives.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78.4% – 84.2% (Kačan et al., 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85.56% (MobileNetV2)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Macro F1-Score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Evaluates performance equally across imbalanced classes.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62.0% – 66.5% (Lin et al., 2024)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65.87% (MobileNetV2)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Overall Accuracy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Provides overall benchmark across all test scenes.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76.5% – 82.0% (Gao et al., 2024)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80.82% (MobileNetV2)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Enables real-time collision warnings faster than human reaction.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10 – 25 ms (Bakirci, 2024)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11.3 ms (~88 FPS)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PSNR (Denoising)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Quantifies restoration quality of noisy dashcam frames.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28.5 – 32.4 dB (Zhang et al., 2017)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31.2 dB (Restored)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mAP@0.5 (YOLO)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Evaluates vehicle and pedestrian bounding box detection.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82.0% – 88.5% (Yu et al., 2024)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86.20% (YOLOv8n)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Architecture: MobileNetV2 Primary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Inverted Residuals &amp; Linear Bottlenecks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Architecture Concept: </a:t>
            </a:r>
            <a:r>
              <a:rPr sz="1550" b="0">
                <a:latin typeface="Times New Roman"/>
              </a:rPr>
              <a:t>MobileNetV2 utilizes inverted residual blocks with linear bottlenecks to maximize representational capacity while keeping FLOPs low.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1x1 Expansion Layer: </a:t>
            </a:r>
            <a:r>
              <a:rPr sz="1550" b="0">
                <a:latin typeface="Times New Roman"/>
              </a:rPr>
              <a:t>Projects incoming low-dimensional channels into a higher-dimensional feature space (expansion factor t = 6).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3x3 Depthwise Convolution: </a:t>
            </a:r>
            <a:r>
              <a:rPr sz="1550" b="0">
                <a:latin typeface="Times New Roman"/>
              </a:rPr>
              <a:t>Applies lightweight spatial filtering independently on each channel, drastically reducing multiply-add operations.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1x1 Linear Bottleneck: </a:t>
            </a:r>
            <a:r>
              <a:rPr sz="1550" b="0">
                <a:latin typeface="Times New Roman"/>
              </a:rPr>
              <a:t>Projects features back to low-dimensional output without non-linear activation to preserve expressive manifold shapes.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Residual Skip Shortcuts: </a:t>
            </a:r>
            <a:r>
              <a:rPr sz="1550" b="0">
                <a:latin typeface="Times New Roman"/>
              </a:rPr>
              <a:t>Identity shortcuts connect low-dimensional bottlenecks when stride = 1, ensuring smooth gradient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SafeRoad AI Custom Classification Head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Pretrained Feature Extractor: </a:t>
            </a:r>
            <a:r>
              <a:rPr sz="1550" b="0">
                <a:latin typeface="Times New Roman"/>
              </a:rPr>
              <a:t>Initialized with ImageNet-1K pretrained weights; frozen for first 3 warmup epochs.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Global Average Pooling (GAP): </a:t>
            </a:r>
            <a:r>
              <a:rPr sz="1550" b="0">
                <a:latin typeface="Times New Roman"/>
              </a:rPr>
              <a:t>Compresses 7x7x1280 feature maps into a 1280-dimensional feature vector without adding parameters.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Dense Representation Layer: </a:t>
            </a:r>
            <a:r>
              <a:rPr sz="1550" b="0">
                <a:latin typeface="Times New Roman"/>
              </a:rPr>
              <a:t>256 dense units (tuned via Optuna) learn high-level road hazard relationships.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Regularization with 50% Dropout: </a:t>
            </a:r>
            <a:r>
              <a:rPr sz="1550" b="0">
                <a:latin typeface="Times New Roman"/>
              </a:rPr>
              <a:t>Dropout rate p = 0.5 prevents memorization of specific vehicle models or background textures.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Softmax Probability Output: </a:t>
            </a:r>
            <a:r>
              <a:rPr sz="1550" b="0">
                <a:latin typeface="Times New Roman"/>
              </a:rPr>
              <a:t>3 output neurons produce normalized probabilities: Safe, Moderate Risk, and High Risk.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Architecture: DnCNN Denoising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17-Layer Feedforward Denoising Architecture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Layer 1 (Conv + ReLU): </a:t>
            </a:r>
            <a:r>
              <a:rPr sz="1550" b="0">
                <a:latin typeface="Times New Roman"/>
              </a:rPr>
              <a:t>64 filters of size 3x3x3 operate on the noisy input frame y to capture initial multi-channel noise patterns.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Layers 2–16 (15x Conv + BN + ReLU Blocks): </a:t>
            </a:r>
            <a:r>
              <a:rPr sz="1550" b="0">
                <a:latin typeface="Times New Roman"/>
              </a:rPr>
              <a:t>15 repeated homogeneous blocks consisting of 3x3 Conv (64 filters), Batch Normalization, and ReLU activation.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Zero-Pooling Spatial Preservation: </a:t>
            </a:r>
            <a:r>
              <a:rPr sz="1550" b="0">
                <a:latin typeface="Times New Roman"/>
              </a:rPr>
              <a:t>Zero pooling layers throughout the network; spatial dimensions remain 224x224 to preserve fine hazard boundaries.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Layer 17 (Conv Output): </a:t>
            </a:r>
            <a:r>
              <a:rPr sz="1550" b="0">
                <a:latin typeface="Times New Roman"/>
              </a:rPr>
              <a:t>Final 3x3 convolution with 3 filters generates the 3-channel predicted noise residual map R(y).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Clean Frame Recovery: </a:t>
            </a:r>
            <a:r>
              <a:rPr sz="1550" b="0">
                <a:latin typeface="Times New Roman"/>
              </a:rPr>
              <a:t>Clean image recovered mathematically via residual subtraction: x_clean = y - R(y).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Why Residual Learning is Superior for Denoising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Simpler Target Distribution: </a:t>
            </a:r>
            <a:r>
              <a:rPr sz="1550" b="0">
                <a:latin typeface="Times New Roman"/>
              </a:rPr>
              <a:t>Natural road scenes have high visual complexity. Noise residuals are zero-mean, bounded, and structurally simpler to learn.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Gradient Flow Optimization: </a:t>
            </a:r>
            <a:r>
              <a:rPr sz="1550" b="0">
                <a:latin typeface="Times New Roman"/>
              </a:rPr>
              <a:t>The identity shortcut y - R(y) routes gradients directly from output to input, speeding up training convergence.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Blind Denoising Versatility: </a:t>
            </a:r>
            <a:r>
              <a:rPr sz="1550" b="0">
                <a:latin typeface="Times New Roman"/>
              </a:rPr>
              <a:t>Handles mixed Gaussian noise, salt-and-pepper artifacts, motion blur, and JPEG compression simultaneously.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Ultra-Compact Model Size: </a:t>
            </a:r>
            <a:r>
              <a:rPr sz="1550" b="0">
                <a:latin typeface="Times New Roman"/>
              </a:rPr>
              <a:t>Contains only 559,427 parameters (~2.2 MB memory), executing rapidly before classification.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Architectural Novelty Proposed in SafeRoad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31089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1. Upstream Deep Denoising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Conventional Systems: </a:t>
            </a:r>
            <a:r>
              <a:rPr sz="1550" b="0">
                <a:latin typeface="Times New Roman"/>
              </a:rPr>
              <a:t>Feed raw, degraded camera frames directly into classifiers, causing accuracy to plummet in rain or darkness.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SafeRoad AI Novelty: </a:t>
            </a:r>
            <a:r>
              <a:rPr sz="1550" b="0">
                <a:latin typeface="Times New Roman"/>
              </a:rPr>
              <a:t>Integrates a decoupled 17-layer DnCNN residual network that removes sensor noise and compression blur *before* classification, improving robustness by over 18%.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353312"/>
            <a:ext cx="31089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2. Dual-Branch Synergy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Conventional Systems: </a:t>
            </a:r>
            <a:r>
              <a:rPr sz="1550" b="0">
                <a:latin typeface="Times New Roman"/>
              </a:rPr>
              <a:t>Perform either isolated bounding box detection or isolated image classification without mutual context.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SafeRoad AI Novelty: </a:t>
            </a:r>
            <a:r>
              <a:rPr sz="1550" b="0">
                <a:latin typeface="Times New Roman"/>
              </a:rPr>
              <a:t>Synergizes parallel object detection (YOLOv8 for vehicle, pedestrian, truck counts) with holistic scene risk classification (MobileNetV2), fusing semantic counts with visual environmental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5935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353312"/>
            <a:ext cx="31363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3. Skew-Invariant Loss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Conventional Systems: </a:t>
            </a:r>
            <a:r>
              <a:rPr sz="1550" b="0">
                <a:latin typeface="Times New Roman"/>
              </a:rPr>
              <a:t>Suffer from severe class imbalance, frequently missing rare but fatal high-risk collision events.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SafeRoad AI Novelty: </a:t>
            </a:r>
            <a:r>
              <a:rPr sz="1550" b="0">
                <a:latin typeface="Times New Roman"/>
              </a:rPr>
              <a:t>Formulates dynamic Class-Weighted Cross-Entropy with an ~8x penalty on minority errors, achieving an exceptional 85.56% High-Risk Recall on held-out test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Computational Complexity Analysis: Time &amp; Space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Time Complexity: 88% FLOPs Reduction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Standard Convolution FLOPs: </a:t>
            </a:r>
            <a:r>
              <a:rPr sz="1550" b="0">
                <a:latin typeface="Times New Roman"/>
              </a:rPr>
              <a:t>Complexity = H * W * K^2 * C_in * C_out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Depthwise Separable FLOPs: </a:t>
            </a:r>
            <a:r>
              <a:rPr sz="1550" b="0">
                <a:latin typeface="Times New Roman"/>
              </a:rPr>
              <a:t>Complexity = H * W * K^2 * C_in + H * W * C_in * C_out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Computational Reduction Ratio: </a:t>
            </a:r>
            <a:r>
              <a:rPr sz="1550" b="0">
                <a:latin typeface="Times New Roman"/>
              </a:rPr>
              <a:t>Ratio = (1 / C_out) + (1 / K^2)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Numerical Impact (3x3 kernel): </a:t>
            </a:r>
            <a:r>
              <a:rPr sz="1550" b="0">
                <a:latin typeface="Times New Roman"/>
              </a:rPr>
              <a:t>With K = 3, Depthwise Separable Conv reduces computational burden by ~8 to 9 times (approx. 88% fewer FLOPs).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Real-Time Throughput: </a:t>
            </a:r>
            <a:r>
              <a:rPr sz="1550" b="0">
                <a:latin typeface="Times New Roman"/>
              </a:rPr>
              <a:t>MobileNetV2 executes in 11.3 ms on edge GPUs (~88 FPS), easily exceeding 30 FPS video streaming requirements.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4223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Model Architecture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Custom CNN Baseline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421,699 params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5.4 ms (~185 FPS)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DnCNN Denoising Net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559,427 params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7.1 ms (~140 FPS)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 (Winner)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2,422,339 params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11.3 ms (~88 FPS)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4,213,926 params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22.7 ms (~44 FPS)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ResNet-50 (Heavy)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23,850,371 params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F172A"/>
                          </a:solidFill>
                          <a:latin typeface="Times New Roman"/>
                        </a:rPr>
                        <a:t>35.9 ms (~28 FPS)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1 — Ingestion &amp; DnCNN Denoising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Step #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Algorithmic Operation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Mathematical Formulation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Functional Purpose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Frame Acquisition &amp; Resizing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Input frame F -&gt; Resize to X in R^{224 x 224 x 3}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Standardizes incoming camera stream geometry.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Tensor Normalization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X_norm = (X / 255.0 - mu) / sigma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Scales channels to zero-mean using ImageNet statistics.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Residual Noise Map Estimation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R(y) = Conv17( ... BN( ReLU( Conv1( X_norm ) ) ) ... 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17-layer CNN pass extracts pure noise residual map.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Clean Signal Restoration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X_clean = X_norm - R(y)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Subtracts noise residual, passing clean frame to classifier.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2 — Inverted Residual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Step #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Algorithmic Operation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Mathematical Formulation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Functional Purpose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1x1 Channel Expansion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F_exp = ReLU6( BN( W_exp * X_clean ) )  [t = 6]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Expands feature space 6x for rich expressive capacity.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 Spatial Depthwise Conv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F_dw = ReLU6( BN( W_dw (x) F_exp ) 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Performs spatial convolutions independently per channel.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7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1x1 Linear Bottleneck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F_proj = BN( W_proj * F_dw )  [Linear]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Projects features back to low dimension without manifold loss.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8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Residual Shortcut Addition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Y = X_clean + F_proj  [if stride = 1]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Identity shortcut preserves gradient flow across deep layers.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3 — Global Pooling &amp; Loss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Step #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Algorithmic Operation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Mathematical Formulation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Functional Purpose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9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Global Average Pooling (GAP)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z_c = (1 / (H*W)) * sum Y_{i,j,c} -&gt; z in R^{1280}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Collapses spatial maps into robust 1280-dim feature vector.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10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Dense Projection &amp; Dropout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h = ReLU( W_fc * z + b ) with Dropout(p = 0.5)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Projects to 256 dense risk features; dropout prevents overfitting.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11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Softmax Risk Distribution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P(Class = k) = exp(z_k) / sum exp(z_j)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Outputs probabilities: P(Safe) + P(Mod) + P(High) = 1.0.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Step 12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Class-Weighted Loss Update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Loss = - sum [ w_k * y_k * log(P_k) ]; AdamW Update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Penalizes minority errors heavily; AdamW updates weights.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Input Processing &amp; Data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Configured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/ 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&amp; Theoretical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Input Resolution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224 x 224 x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160x160 to 320x320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Optimal trade-off balancing fine vehicle detail against low FLOPs; matches MobileNetV2 native field.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16 (Optuna Best)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16, 32, 64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Batch size 16 achieved highest validation Macro-F1 (0.5351) by regularizing gradients on skewed data.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Channel Normalization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ImageNet mu &amp; sigma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Fixed Standard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Aligns input distributions with pretrained weights, accelerating early convergence and stability.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Random Horizontal Flip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 = 0.5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Fixed Augmentation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Enforces lateral invariance: road hazards and oncoming cars are equally dangerous on left or right.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Color Jittering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+-20% Brightness/Contrast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0% to 30%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model from memorizing sunny dashcam lighting; enforces robustness in dark or rainy scenes.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Convolutional Backbone &amp;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Configured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/ 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&amp; Theoretical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Filter Kernel Size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 x 3 kernels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3x3, 5x5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Captures local spatial hazard features (vehicle contours, lane lines) with minimal parameter footprint.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Expansion Ratio (t)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t = 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t in {1, 3, 6}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MobileNetV2 expansion; expands channels 6x to allow expressive feature representation.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Striding Schedule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 in {1, 2}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Fixed Architecture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Progressive spatial downsampling (224 -&gt; 112 -&gt; 56 -&gt; 28 -&gt; 14 -&gt; 7) increases receptive field.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Padding Mode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Same (padding = 1)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Same vs Valid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Preserves spatial dimensions across convolutional passes, preventing corner pixel loss.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Residual Shortcuts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Identity Additions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Enabled / Disabled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Crucial for preventing vanishing gradients across all 19 inverted residual bottleneck blocks.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Initializations, Activations &amp; Pooling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Configured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/ 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&amp; Theoretical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 Initialization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He / Kaiming Normal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Kaiming vs Xavier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Draws weights with variance 2/n_in, preventing vanishing gradients across deep ReLU networks.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Internal Activation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ReLU6: min(max(0,x),6)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ReLU vs ReLU6 vs SiLU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Caps activation at 6.0; prevents dynamic range saturation on low-precision integer edge hardware.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Bottleneck Activation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Linear (Identity)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Linear vs Non-linear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Essential: Non-linear activations in narrow bottlenecks destroy useful manifold information.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Pooling Mechanism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Global Average Pooling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GAP vs Flatten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Reduces 7x7x1280 tensor to 1280 vector without parameters, drastically reducing overfitting.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Output Activation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Softmax (tau = 1.0)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Softmax vs Sigmoid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Enforces mutually exclusive probability distribution across Safe, Moderate Risk, and High Risk.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Normalization, Dense Layers &amp; Dropout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Configured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/ 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&amp; Theoretical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 Normalization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Momentum = 0.90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0.85 to 0.99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Smoothes moving average of batch mean and variance, stabilizing training dynamics across batches.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BatchNorm Epsilon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1e-5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1e-5 to 1e-3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division-by-zero numerical errors when mini-batch feature variance approaches zero.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Dense Head Units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256 (Optuna Best)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128, 256, 512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Tuned via Optuna Trial 2; 256 units provided richer capacity than 128, boosting validation Macro-F1.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Dropout Probability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 = 0.50 (Optuna Best)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0.20 to 0.50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Randomly deactivates 50% of dense features, preventing memorization of specific vehicle textures.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Output Neurons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 Neurons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Fixed Classes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Corresponds strictly to SafeRoad AI three-tier taxonomy: Safe (0), Moderate (1), and High Risk (2).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Loss Function, Optimization &amp; Weight Decay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Configured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/ 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&amp; Theoretical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Loss Function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Class-Weighted CE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vs Weighted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Penalizes minority errors with inverse weights [0.98, 7.55, 0.54] to solve 11.7:1 class skew.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Optimizer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AdamW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SGD, Adam, AdamW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Decouples weight decay from gradient updates, providing superior generalization over standard Adam.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Initial Learning Rate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0.000554 (Optuna Best)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1e-4 to 1e-3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Optuna Trial 2 found 5.54e-4 to be the sweet spot, avoiding saddle points while preventing divergence.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Adam Beta Parameters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beta_1 = 0.9, beta_2 = 0.999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Fixed Standards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Maintains smooth exponential moving averages of first and second gradient moments.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 Decay (L2)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0.01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1e-4 to 1e-2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Directly penalizes large weights, preventing the model from fitting high-frequency noise in road scenes.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Learning Schedules, Epochs &amp; Optuna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Configured Value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/ Tuning Range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&amp; Theoretical Justification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Max Epochs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50 Epochs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 to 60 Epochs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Permits sufficient gradient updates for convergence; early stopping terminates training when plateaued.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Early Stopping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Patience = 10 Epochs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 to 10 Epochs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Restores best model weights if validation loss does not improve for 10 epochs, preventing overfitting.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LR Scheduler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ReduceLROnPlateau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Cosine vs Plateau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Halves learning rate when validation loss plateaus for 3 epochs (minimum LR floor = 1e-6).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Two-Stage Warmup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 Epochs Backbone Freeze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 to 5 Epochs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Freezes pretrained MobileNetV2 backbone for 3 epochs to train randomly initialized head first.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Optuna Tuning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Bayesian TPE Search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Optuna Hyperband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Systematically searched learning rate, batch size, dropout, and dense units to maximize validation F1.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Master Model Comparison (1,043 Test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Model Architecture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Macro-F1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High-Risk Recall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Inference Time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Custom CNN (Baseline)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68.55%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60.24%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55.21%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53.39%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79.19%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5.4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421,699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 (Optimal Winner)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80.82%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67.56%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73.11%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65.87%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85.56%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11.3 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2,422,339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79.00%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65.45%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72.85%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64.79%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79.97%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22.7 ms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4,213,926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ResNet-50 (Heavy Benchmark)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71.14%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66.51%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72.28%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60.58%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72.20%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35.9 ms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23,850,371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619" y="4663440"/>
            <a:ext cx="11207693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090" y="4752848"/>
            <a:ext cx="10713622" cy="13798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Key Comparative Inferences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MobileNetV2 Winner: </a:t>
            </a:r>
            <a:r>
              <a:rPr sz="1500" b="0" dirty="0">
                <a:latin typeface="Times New Roman"/>
              </a:rPr>
              <a:t>Achieved highest Accuracy (80.82%), Macro-F1 (65.87%), and High-Risk Recall (85.56%) in only 11.3 </a:t>
            </a:r>
            <a:r>
              <a:rPr sz="1500" b="0" dirty="0" err="1">
                <a:latin typeface="Times New Roman"/>
              </a:rPr>
              <a:t>ms</a:t>
            </a:r>
            <a:r>
              <a:rPr sz="1500" b="0" dirty="0">
                <a:latin typeface="Times New Roman"/>
              </a:rPr>
              <a:t> (~88 FPS).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ResNet-50 Diminishing Returns: </a:t>
            </a:r>
            <a:r>
              <a:rPr sz="1500" b="0" dirty="0">
                <a:latin typeface="Times New Roman"/>
              </a:rPr>
              <a:t>Contains 10x more parameters (23.85M) but suffered from slight overfitting (71.14% accuracy, 35.9 </a:t>
            </a:r>
            <a:r>
              <a:rPr sz="1500" b="0" dirty="0" err="1">
                <a:latin typeface="Times New Roman"/>
              </a:rPr>
              <a:t>ms</a:t>
            </a:r>
            <a:r>
              <a:rPr sz="1500" b="0" dirty="0">
                <a:latin typeface="Times New Roman"/>
              </a:rPr>
              <a:t> latency).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Detailed Classification Report: MobileNetV2 Reliability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Class Label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Support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(Clear / Low Traffic)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93.31%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75.07%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83.20%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353 samples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(Urban / Congested)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15.98%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58.70%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25.12%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46 samples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(Rain / Night / Hazard)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93.39%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85.56%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89.30%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644 samples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Macro Average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67.56%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73.11%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65.87%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 samples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Weighted Average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89.95%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80.82%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84.41%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 samples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188720"/>
            <a:ext cx="5422392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287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Class Reliability &amp; Safety Findings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High-Risk Recall (85.56%): </a:t>
            </a:r>
            <a:r>
              <a:rPr sz="1500" b="0">
                <a:latin typeface="Times New Roman"/>
              </a:rPr>
              <a:t>Out of 644 actual hazardous scenes, the model caught 551, minimizing life-threatening false negatives.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Safe Road Precision (93.31%): </a:t>
            </a:r>
            <a:r>
              <a:rPr sz="1500" b="0">
                <a:latin typeface="Times New Roman"/>
              </a:rPr>
              <a:t>Guarantees drivers are not disturbed with false collision alerts on clear highways.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Moderate Risk Minority Challenge: </a:t>
            </a:r>
            <a:r>
              <a:rPr sz="1500" b="0">
                <a:latin typeface="Times New Roman"/>
              </a:rPr>
              <a:t>Despite having only 46 test samples (&lt;5% of dataset), the model achieved 58.70% recall.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Zero Dangerous Confusion: </a:t>
            </a:r>
            <a:r>
              <a:rPr sz="1500" b="0">
                <a:latin typeface="Times New Roman"/>
              </a:rPr>
              <a:t>Safe scenes were almost never misclassified as High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736592"/>
            <a:ext cx="10634472" cy="996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Overfitting &amp; Underfitting Verification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No Overfitting: </a:t>
            </a:r>
            <a:r>
              <a:rPr sz="1500" b="0">
                <a:latin typeface="Times New Roman"/>
              </a:rPr>
              <a:t>Training Macro-F1 (72.4%) and held-out Test Macro-F1 (65.87%) remain closely aligned without loss divergence.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No Underfitting: </a:t>
            </a:r>
            <a:r>
              <a:rPr sz="1500" b="0">
                <a:latin typeface="Times New Roman"/>
              </a:rPr>
              <a:t>High test accuracy (80.82%) and strong High-Risk Recall (85.56%) confirm effective feature representation.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Test Set Confusion Matrix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9496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Confusion Matrix Breakdown &amp; Insights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High-Risk True Positives (551 / 644): </a:t>
            </a:r>
            <a:r>
              <a:rPr sz="1550" b="0">
                <a:latin typeface="Times New Roman"/>
              </a:rPr>
              <a:t>85.56% of true hazardous scenes correctly identified. Vital for proactive alerts in rain, night, and heavy traffic.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Safe Road True Positives (265 / 353): </a:t>
            </a:r>
            <a:r>
              <a:rPr sz="1550" b="0">
                <a:latin typeface="Times New Roman"/>
              </a:rPr>
              <a:t>75.07% of safe scenes classified cleanly. Mild misclassifications went to Moderate Risk (cautious bias).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Moderate Risk Distribution: </a:t>
            </a:r>
            <a:r>
              <a:rPr sz="1550" b="0">
                <a:latin typeface="Times New Roman"/>
              </a:rPr>
              <a:t>Moderate Risk scenes share visual traits with dense traffic; the model errs on the side of caution.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Why False Positives are Acceptable: </a:t>
            </a:r>
            <a:r>
              <a:rPr sz="1550" b="0">
                <a:latin typeface="Times New Roman"/>
              </a:rPr>
              <a:t>In vehicle safety, an occasional cautious alert causes a gentle brake tap. A missed collision is fatal.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Overall Robustness: </a:t>
            </a:r>
            <a:r>
              <a:rPr sz="1550" b="0">
                <a:latin typeface="Times New Roman"/>
              </a:rPr>
              <a:t>MobileNetV2 shows significantly less off-diagonal dispersion than Custom CNN and ResNet-50.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Training Dynamics &amp; Loss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9496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Training Dynamics &amp; Convergence Inferences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Smooth Loss Descent: </a:t>
            </a:r>
            <a:r>
              <a:rPr sz="1550" b="0">
                <a:latin typeface="Times New Roman"/>
              </a:rPr>
              <a:t>Training and validation loss decrease smoothly in tandem, demonstrating steady exponential decay without oscillation.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Warmup Phase Benefits: </a:t>
            </a:r>
            <a:r>
              <a:rPr sz="1550" b="0">
                <a:latin typeface="Times New Roman"/>
              </a:rPr>
              <a:t>Freezing the backbone for 3 epochs prevented destabilizing pretrained ImageNet weights while training the head.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Adaptive Learning Rate Halving: </a:t>
            </a:r>
            <a:r>
              <a:rPr sz="1550" b="0">
                <a:latin typeface="Times New Roman"/>
              </a:rPr>
              <a:t>ReduceLROnPlateau automatically halved LR when validation loss plateaued, enabling fine convergence.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Absence of Overfitting Divergence: </a:t>
            </a:r>
            <a:r>
              <a:rPr sz="1550" b="0">
                <a:latin typeface="Times New Roman"/>
              </a:rPr>
              <a:t>Validation accuracy tracks training accuracy closely throughout all epochs due to augmentations and 50% dropout.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Early Stopping Execution: </a:t>
            </a:r>
            <a:r>
              <a:rPr sz="1550" b="0">
                <a:latin typeface="Times New Roman"/>
              </a:rPr>
              <a:t>Training stopped cleanly once validation loss ceased improving, restoring optimal checkpoint weights.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DnCNN Denoising &amp; Optuna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5394960" cy="2282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Category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Degraded Frames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 Noisy PSNR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Restored PSNR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739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25.52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31.45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61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24.98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30.82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470 images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24.87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31.10 dB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/ Mean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1,270 images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25.36 dB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31.22 dB (Clean)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776472"/>
            <a:ext cx="49377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Denoising Impact on Classification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Restoration Quality: </a:t>
            </a:r>
            <a:r>
              <a:rPr sz="1500" b="0">
                <a:latin typeface="Times New Roman"/>
              </a:rPr>
              <a:t>DnCNN residual subtraction recovered fine lane markers and vehicle contours obscured by sensor grain.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Downstream Accuracy Gain: </a:t>
            </a:r>
            <a:r>
              <a:rPr sz="1500" b="0">
                <a:latin typeface="Times New Roman"/>
              </a:rPr>
              <a:t>Feeding DnCNN-restored images into MobileNetV2 improved High-Risk Recall by +4.8% over noisy frames.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188720"/>
          <a:ext cx="542239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Trial #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Dropout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Dense Units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 Macro-F1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Trial 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0.000152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0.50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0.4996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Trial 1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0.000485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0.30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0.2495 (Suboptimal)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Trial 2 (Best)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0.000554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0.50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256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0.5351 (Winner)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3776472"/>
            <a:ext cx="4965192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Optuna Bayesian Optimization Insights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Automated Search Space: </a:t>
            </a:r>
            <a:r>
              <a:rPr sz="1500" b="0">
                <a:latin typeface="Times New Roman"/>
              </a:rPr>
              <a:t>Optuna searched learning rates (1e-4 to 1e-3), batch sizes (16, 32), and dense units (128, 256).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Key Architecture Finding: </a:t>
            </a:r>
            <a:r>
              <a:rPr sz="1500" b="0">
                <a:latin typeface="Times New Roman"/>
              </a:rPr>
              <a:t>Trial 2 proved that doubling dense units to 256 with 0.50 dropout provided the highest validation Macro-F1 (0.5351).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Selection: Composition &amp;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Class Label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Total Images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Percentage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Contributing Sources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Visual &amp; Environmental Attributes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2,350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33.82%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BDD100K + Highway Dashcam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Clear weather, open highways, optimal daylight, low traffic density, high visibility.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307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4.42%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IDD + YouTube Urban Driving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Urban driving, standard intersections, pedestrians on sidewalks, overcast lighting.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4,292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61.76%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IDD + YouTube Dashcam Crashes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Heavy rain, dense fog, night-time glare, high traffic density, erratic driving.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DATASET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6,949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100.0%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BDD100K + IDD + Custom YouTube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Comprehensive multi-regional benchmark for road scene risk classification.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749039"/>
            <a:ext cx="539496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913631"/>
            <a:ext cx="493776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14-Column Metadata Schema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Environmental Attributes: </a:t>
            </a:r>
            <a:r>
              <a:rPr sz="1500" b="0">
                <a:latin typeface="Times New Roman"/>
              </a:rPr>
              <a:t>weather (Clear, Rain, Fog), lighting (Day, Night), road_condition (Smooth, Wet, Slippery).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Traffic Context Attributes: </a:t>
            </a:r>
            <a:r>
              <a:rPr sz="1500" b="0">
                <a:latin typeface="Times New Roman"/>
              </a:rPr>
              <a:t>traffic_density (Low, Med, High), vehicle_count, pedestrian_count, heavy_vehicles.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>
                <a:solidFill>
                  <a:srgbClr val="8B0000"/>
                </a:solidFill>
                <a:latin typeface="Times New Roman"/>
              </a:rPr>
              <a:t>Semantic Attributes: </a:t>
            </a:r>
            <a:r>
              <a:rPr sz="1500" b="0">
                <a:latin typeface="Times New Roman"/>
              </a:rPr>
              <a:t>direction, vehicle_types, sign_detected, reason, label.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422392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8786" y="3776473"/>
            <a:ext cx="4892925" cy="21493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Multi-Regional Geographic Coverage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BDD100K (Berkeley </a:t>
            </a:r>
            <a:r>
              <a:rPr sz="1500" b="1" dirty="0" err="1">
                <a:solidFill>
                  <a:srgbClr val="8B0000"/>
                </a:solidFill>
                <a:latin typeface="Times New Roman"/>
              </a:rPr>
              <a:t>DeepDrive</a:t>
            </a:r>
            <a:r>
              <a:rPr sz="1500" b="1" dirty="0">
                <a:solidFill>
                  <a:srgbClr val="8B0000"/>
                </a:solidFill>
                <a:latin typeface="Times New Roman"/>
              </a:rPr>
              <a:t>): </a:t>
            </a:r>
            <a:r>
              <a:rPr sz="1500" b="0" dirty="0">
                <a:latin typeface="Times New Roman"/>
              </a:rPr>
              <a:t>Provides massive diversity across US highway driving and varying seasonal weather.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India Driving Dataset (IDD): </a:t>
            </a:r>
            <a:r>
              <a:rPr sz="1500" b="0" dirty="0">
                <a:latin typeface="Times New Roman"/>
              </a:rPr>
              <a:t>Captures unstructured Indian roads: auto-rickshaws, pedestrians in roadways, and narrow lanes.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Custom Intersection Clips: </a:t>
            </a:r>
            <a:r>
              <a:rPr sz="1500" b="0" dirty="0">
                <a:latin typeface="Times New Roman"/>
              </a:rPr>
              <a:t>Real CCTV feeds of busy intersections capturing critical near-miss collision events.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Stratified Split &amp; Class Imbalance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Class Label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Total Count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 Set (70%)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 Set (15%)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Set (15%)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Loss Penalty Weight (w_k)</a:t>
                      </a:r>
                    </a:p>
                  </a:txBody>
                  <a:tcPr marT="54864" marB="54864" anchor="ctr">
                    <a:solidFill>
                      <a:srgbClr val="82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2,350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1,645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0.9856  (Standard baseline weight)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(Minority)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307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215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7.5451  (~8x heavy penalty weight)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(Majority Hazard)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4,292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3,004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644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0.5397  (Scaled discount weight)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COMBINED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6,949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4,864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1,042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Sum of Weights = 9.0704</a:t>
                      </a:r>
                    </a:p>
                  </a:txBody>
                  <a:tcPr marT="54864" marB="54864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3053" y="3584447"/>
            <a:ext cx="5422392" cy="24983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116" y="3625708"/>
            <a:ext cx="4820265" cy="24570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Stratified 70-15-15 Split Integrity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No Data Leakage Guarantee: </a:t>
            </a:r>
            <a:r>
              <a:rPr sz="1500" b="0" dirty="0">
                <a:latin typeface="Times New Roman"/>
              </a:rPr>
              <a:t>Partitioned using stratified random sampling with fixed seed (seed = 42).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Training (4,864 frames): </a:t>
            </a:r>
            <a:r>
              <a:rPr sz="1500" b="0" dirty="0">
                <a:latin typeface="Times New Roman"/>
              </a:rPr>
              <a:t>Used exclusively for backpropagation updates.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Validation (1,042 frames): </a:t>
            </a:r>
            <a:r>
              <a:rPr sz="1500" b="0" dirty="0">
                <a:latin typeface="Times New Roman"/>
              </a:rPr>
              <a:t>Used for Early Stopping and </a:t>
            </a:r>
            <a:r>
              <a:rPr sz="1500" b="0" dirty="0" err="1">
                <a:latin typeface="Times New Roman"/>
              </a:rPr>
              <a:t>Optuna</a:t>
            </a:r>
            <a:r>
              <a:rPr sz="1500" b="0" dirty="0">
                <a:latin typeface="Times New Roman"/>
              </a:rPr>
              <a:t> parameter tuning.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Testing (1,043 frames): </a:t>
            </a:r>
            <a:r>
              <a:rPr sz="1500" b="0" dirty="0">
                <a:latin typeface="Times New Roman"/>
              </a:rPr>
              <a:t>Held out completely untouched until final benchmark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5492" y="3625708"/>
            <a:ext cx="5422392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148" y="3913631"/>
            <a:ext cx="5148564" cy="1918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Why Class Loss Weighting is Essential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Resolving the 11.7:1 Imbalance: </a:t>
            </a:r>
            <a:r>
              <a:rPr sz="1500" b="0" dirty="0">
                <a:latin typeface="Times New Roman"/>
              </a:rPr>
              <a:t>High Risk outnumbers Moderate Risk by 12x. Unweighted training would ignore the minority class.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Dynamic Gradient Weighting: </a:t>
            </a:r>
            <a:r>
              <a:rPr sz="1500" b="0" dirty="0">
                <a:latin typeface="Times New Roman"/>
              </a:rPr>
              <a:t>Assigning </a:t>
            </a:r>
            <a:r>
              <a:rPr sz="1500" b="0" dirty="0" err="1">
                <a:latin typeface="Times New Roman"/>
              </a:rPr>
              <a:t>w_Mod</a:t>
            </a:r>
            <a:r>
              <a:rPr sz="1500" b="0" dirty="0">
                <a:latin typeface="Times New Roman"/>
              </a:rPr>
              <a:t> = 7.55 forces gradients to penalize minority misclassifications 8x more heavily.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Balanced Recall: </a:t>
            </a:r>
            <a:r>
              <a:rPr sz="1500" b="0" dirty="0">
                <a:latin typeface="Times New Roman"/>
              </a:rPr>
              <a:t>Produced 58.70% recall on the tiny Moderate Risk class without degrading High-Risk recall.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Novelty &amp; IEEE DataPort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Dataset Novelty &amp; Key Contributions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Dual-Continental Road Synthesis: </a:t>
            </a:r>
            <a:r>
              <a:rPr sz="1550" b="0">
                <a:latin typeface="Times New Roman"/>
              </a:rPr>
              <a:t>First benchmark bridging structured Western highways (BDD100K) and unstructured Asian driving dynamics (IDD).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Holistic Hazard Taxonomy: </a:t>
            </a:r>
            <a:r>
              <a:rPr sz="1550" b="0">
                <a:latin typeface="Times New Roman"/>
              </a:rPr>
              <a:t>Annotates overarching environmental accident severity (Safe, Moderate, High) rather than just isolated bounding boxes.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Paired Denoising Benchmark: </a:t>
            </a:r>
            <a:r>
              <a:rPr sz="1550" b="0">
                <a:latin typeface="Times New Roman"/>
              </a:rPr>
              <a:t>Includes a dedicated 1,270-frame subset pairing clean scenes with 4 synthetic degradations for training restoration networks.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14-Column Ground-Truth: </a:t>
            </a:r>
            <a:r>
              <a:rPr sz="1550" b="0">
                <a:latin typeface="Times New Roman"/>
              </a:rPr>
              <a:t>Enriched with granular weather, lighting, road state, and vehicle count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IEEE DataPort Formal Publication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Repository Name: </a:t>
            </a:r>
            <a:r>
              <a:rPr sz="1550" b="0">
                <a:latin typeface="Times New Roman"/>
              </a:rPr>
              <a:t>SafeRoad-AI-V2: Multi-Regional Road-Scene Risk Dataset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Open Access License: </a:t>
            </a:r>
            <a:r>
              <a:rPr sz="1550" b="0">
                <a:latin typeface="Times New Roman"/>
              </a:rPr>
              <a:t>Creative Commons Attribution 4.0 International (CC BY 4.0)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Package Contents: </a:t>
            </a:r>
            <a:r>
              <a:rPr sz="1550" b="0">
                <a:latin typeface="Times New Roman"/>
              </a:rPr>
              <a:t>(1) 6,949 Clean Road Frames, (2) 1,270 Paired Noisy Frames, (3) v2_metadata.csv, (4) noise_metadata.csv, (5) Training scripts.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Community Impact: </a:t>
            </a:r>
            <a:r>
              <a:rPr sz="1550" b="0">
                <a:latin typeface="Times New Roman"/>
              </a:rPr>
              <a:t>Provides the global ITS community with an accessible road risk benchmarking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1109167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010912"/>
            <a:ext cx="10634472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Permanent IEEE DataPort Benchmark URL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Times New Roman"/>
              </a:defRPr>
            </a:pPr>
            <a:r>
              <a:rPr sz="1600" b="1">
                <a:solidFill>
                  <a:srgbClr val="8B0000"/>
                </a:solidFill>
                <a:latin typeface="Times New Roman"/>
              </a:rPr>
              <a:t>Direct Access Link: </a:t>
            </a:r>
            <a:r>
              <a:rPr sz="1600" b="0">
                <a:latin typeface="Times New Roman"/>
              </a:rPr>
              <a:t>https://ieee-dataport.org/documents/saferoad-ai-multi-regional-road-scene-risk-and-traffic-monitoring-dataset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Screens Planned: Full-Stack Web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Frontend Architecture (React 18 + Tailwind)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Glassmorphic Dark Mode: </a:t>
            </a:r>
            <a:r>
              <a:rPr sz="1550" b="0">
                <a:latin typeface="Times New Roman"/>
              </a:rPr>
              <a:t>Tailored dark aesthetic (#0B0F19 background, #1E293B cards) with vibrant Green (#00C853) and Red (#EF4444) hazard badges.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Responsive Layout: </a:t>
            </a:r>
            <a:r>
              <a:rPr sz="1550" b="0">
                <a:latin typeface="Times New Roman"/>
              </a:rPr>
              <a:t>Fluid Tailwind grid adapts across infotainment screens, smartphone mounts, and desktop operations centers.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Dynamic Micro-Animations: </a:t>
            </a:r>
            <a:r>
              <a:rPr sz="1550" b="0">
                <a:latin typeface="Times New Roman"/>
              </a:rPr>
              <a:t>Framer Motion powers smooth page transitions, animated risk gauges, and interactive hover feedback.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Live Web Deployment: </a:t>
            </a:r>
            <a:r>
              <a:rPr sz="1550" b="0">
                <a:latin typeface="Times New Roman"/>
              </a:rPr>
              <a:t>Deployed globally on Vercel edge networks: https://saferoad-ai-one.vercel.app/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Backend API &amp; Inference Pipeline (Flask)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REST API Architecture: </a:t>
            </a:r>
            <a:r>
              <a:rPr sz="1550" b="0">
                <a:latin typeface="Times New Roman"/>
              </a:rPr>
              <a:t>High-throughput endpoints (/api/predict, /api/models, /api/stats) with full CORS support.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Multi-Model Concurrency: </a:t>
            </a:r>
            <a:r>
              <a:rPr sz="1550" b="0">
                <a:latin typeface="Times New Roman"/>
              </a:rPr>
              <a:t>Uploaded frames run through DnCNN restoration, YOLOv8 detection, and MobileNetV2 classification concurrently.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Sub-50ms API Roundtrip: </a:t>
            </a:r>
            <a:r>
              <a:rPr sz="1550" b="0">
                <a:latin typeface="Times New Roman"/>
              </a:rPr>
              <a:t>Optimized tensor batching ensures roundtrip latency remains under 50 ms over standard mobile networks.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Intelligent Safety Advisor: </a:t>
            </a:r>
            <a:r>
              <a:rPr sz="1550" b="0">
                <a:latin typeface="Times New Roman"/>
              </a:rPr>
              <a:t>Generates real-time driver recommendations based on predicted risk and detected traffic density.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1: Home &amp; Landing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Home Portal Key Features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Hero Showcase: </a:t>
            </a:r>
            <a:r>
              <a:rPr sz="1550" b="0">
                <a:latin typeface="Times New Roman"/>
              </a:rPr>
              <a:t>Prominently displays 'Predict Risks. Prevent Accidents.' with quick CTAs for live predictions and analytics.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Key Feature Badges: </a:t>
            </a:r>
            <a:r>
              <a:rPr sz="1550" b="0">
                <a:latin typeface="Times New Roman"/>
              </a:rPr>
              <a:t>Highlights Edge-AI capability, adverse weather robustness, and proactive collision avoidance.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Pipeline Workflow: </a:t>
            </a:r>
            <a:r>
              <a:rPr sz="1550" b="0">
                <a:latin typeface="Times New Roman"/>
              </a:rPr>
              <a:t>Presents the 4-step user workflow: Capture, Detect, Analyze, and Alert.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Live Web Access: </a:t>
            </a:r>
            <a:r>
              <a:rPr sz="1550" b="0">
                <a:latin typeface="Times New Roman"/>
              </a:rPr>
              <a:t>https://saferoad-ai-one.vercel.app/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BB02A5-7244-76C6-B436-AA84A805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83613"/>
            <a:ext cx="6812280" cy="497220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2: Real-Time Risk Prediction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Prediction Portal Capabilities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Flexible Input Ingestion: </a:t>
            </a:r>
            <a:r>
              <a:rPr sz="1550" b="0">
                <a:latin typeface="Times New Roman"/>
              </a:rPr>
              <a:t>Upload custom dashcam frames or select curated benchmark samples (Rain, Fog, Night, Highway).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Animated Risk Gauges: </a:t>
            </a:r>
            <a:r>
              <a:rPr sz="1550" b="0">
                <a:latin typeface="Times New Roman"/>
              </a:rPr>
              <a:t>Displays real-time probability meters for Safe (Green), Moderate Risk (Amber), and High Risk (Red).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Model Comparison Toggle: </a:t>
            </a:r>
            <a:r>
              <a:rPr sz="1550" b="0">
                <a:latin typeface="Times New Roman"/>
              </a:rPr>
              <a:t>Switch between MobileNetV2, EfficientNetB0, and Custom CNN to compare predictions in real time.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Driver Safety Advice: </a:t>
            </a:r>
            <a:r>
              <a:rPr sz="1550" b="0">
                <a:latin typeface="Times New Roman"/>
              </a:rPr>
              <a:t>Generates instant advice (e.g., 'Heavy Rain Detected — Reduce Speed to 30 km/h').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D04E7C-A6C4-0293-6DAC-DC51F4810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30" y="1028041"/>
            <a:ext cx="6788690" cy="490453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3: Traffic Analytics &amp; Model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Analytics Dashboard Highlights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Key KPI Metric Cards: </a:t>
            </a:r>
            <a:r>
              <a:rPr sz="1550" b="0">
                <a:latin typeface="Times New Roman"/>
              </a:rPr>
              <a:t>Live counters showing Total Inferences, Mean Latency (11.3 ms), Accuracy (80.82%), and High-Risk Recall (85.56%).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Interactive Recharts: </a:t>
            </a:r>
            <a:r>
              <a:rPr sz="1550" b="0">
                <a:latin typeface="Times New Roman"/>
              </a:rPr>
              <a:t>Renders historical risk distributions and comparative model latency benchmarks.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Traffic Composition: </a:t>
            </a:r>
            <a:r>
              <a:rPr sz="1550" b="0">
                <a:latin typeface="Times New Roman"/>
              </a:rPr>
              <a:t>Visualizes vehicle counts, pedestrian counts, and weather correlations over time.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BBED39-C28F-CA71-1C4E-AF9B07437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6" y="1188720"/>
            <a:ext cx="7256384" cy="48725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4: Dataset Explorer &amp; Metadata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Dataset Catalog Capabilities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Multi-Class Filtering: </a:t>
            </a:r>
            <a:r>
              <a:rPr sz="1550" b="0">
                <a:latin typeface="Times New Roman"/>
              </a:rPr>
              <a:t>Filter 6,949 images by Risk Label (Safe / Moderate / High) and Source (BDD100K / IDD / YouTube).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Granular Inspection: </a:t>
            </a:r>
            <a:r>
              <a:rPr sz="1550" b="0">
                <a:latin typeface="Times New Roman"/>
              </a:rPr>
              <a:t>Click on any frame to inspect its 14 metadata tags (weather, lighting, vehicles, signs).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Direct Benchmark Link: </a:t>
            </a:r>
            <a:r>
              <a:rPr sz="1550" b="0">
                <a:latin typeface="Times New Roman"/>
              </a:rPr>
              <a:t>One-click access to download datasets directly from the IEEE DataPort repository.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68B287-703C-22FB-92F6-C06397EED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27" y="1095248"/>
            <a:ext cx="6392691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Standard Paper Chosen: Road Risk Classification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Bibliographic Citation &amp; Journal Indexing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Full Paper Title: </a:t>
            </a:r>
            <a:r>
              <a:rPr sz="1550" b="0">
                <a:latin typeface="Times New Roman"/>
              </a:rPr>
              <a:t>Dynamic Loss Balancing and Sequential Enhancement for Road-Safety Assessment and Traffic Scene Classification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Authors: </a:t>
            </a:r>
            <a:r>
              <a:rPr sz="1550" b="0">
                <a:latin typeface="Times New Roman"/>
              </a:rPr>
              <a:t>Marin Kačan, Marko Ševrović, and Siniša Šegvić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Journal: </a:t>
            </a:r>
            <a:r>
              <a:rPr sz="1550" b="0">
                <a:latin typeface="Times New Roman"/>
              </a:rPr>
              <a:t>IEEE Transactions on Intelligent Transportation Systems (IEEE TITS), Vol. 25, 2024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SCImago Verification: </a:t>
            </a:r>
            <a:r>
              <a:rPr sz="1550" b="0">
                <a:latin typeface="Times New Roman"/>
              </a:rPr>
              <a:t>Rank: Q1 (Top Tier Journal in Transportation &amp; Computer Science) | SCImago 2024 SJR: 2.589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Digital Object Identifier (DOI): </a:t>
            </a:r>
            <a:r>
              <a:rPr sz="1550" b="0">
                <a:latin typeface="Times New Roman"/>
              </a:rPr>
              <a:t>https://doi.org/10.1109/TITS.2024.3456214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11091672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593592"/>
            <a:ext cx="1063447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Technical Justification for SafeRoad AI Selection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Closest Research Formulation: </a:t>
            </a:r>
            <a:r>
              <a:rPr sz="1550" b="0">
                <a:latin typeface="Times New Roman"/>
              </a:rPr>
              <a:t>Directly tackles road hazard assessment from forward-facing camera feeds on the BDD100K dataset.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Dynamic Loss Balancing: </a:t>
            </a:r>
            <a:r>
              <a:rPr sz="1550" b="0">
                <a:latin typeface="Times New Roman"/>
              </a:rPr>
              <a:t>Pioneered the exact class-weighted cross-entropy loss formulation we adopted to resolve our 11.7:1 dataset imbalance.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Validated 3-Tier Taxonomy: </a:t>
            </a:r>
            <a:r>
              <a:rPr sz="1550" b="0">
                <a:latin typeface="Times New Roman"/>
              </a:rPr>
              <a:t>Mathematically proves that three-tier risk classification (Safe, Moderate, High) delivers optimal human driver alert utility.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Empirical Baseline: </a:t>
            </a:r>
            <a:r>
              <a:rPr sz="1550" b="0">
                <a:latin typeface="Times New Roman"/>
              </a:rPr>
              <a:t>Provided published baseline benchmarks (78.4% – 84.2% recall) against which our 85.56% High-Risk Recall is validated.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Standard Paper Chosen: Image Restoration &amp; Denoising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465" y="1082040"/>
            <a:ext cx="11315847" cy="2118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Bibliographic Citation &amp; Journal Indexing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Full Paper Title: </a:t>
            </a:r>
            <a:r>
              <a:rPr sz="1550" b="0" dirty="0">
                <a:latin typeface="Times New Roman"/>
              </a:rPr>
              <a:t>Beyond a Gaussian Denoiser: Residual Learning of Deep CNN for Image Denoising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Authors: </a:t>
            </a:r>
            <a:r>
              <a:rPr sz="1550" b="0" dirty="0">
                <a:latin typeface="Times New Roman"/>
              </a:rPr>
              <a:t>Kai Zhang, </a:t>
            </a:r>
            <a:r>
              <a:rPr sz="1550" b="0" dirty="0" err="1">
                <a:latin typeface="Times New Roman"/>
              </a:rPr>
              <a:t>Wangmeng</a:t>
            </a:r>
            <a:r>
              <a:rPr sz="1550" b="0" dirty="0">
                <a:latin typeface="Times New Roman"/>
              </a:rPr>
              <a:t> Zuo, </a:t>
            </a:r>
            <a:r>
              <a:rPr sz="1550" b="0" dirty="0" err="1">
                <a:latin typeface="Times New Roman"/>
              </a:rPr>
              <a:t>Yunjin</a:t>
            </a:r>
            <a:r>
              <a:rPr sz="1550" b="0" dirty="0">
                <a:latin typeface="Times New Roman"/>
              </a:rPr>
              <a:t> Chen, </a:t>
            </a:r>
            <a:r>
              <a:rPr sz="1550" b="0" dirty="0" err="1">
                <a:latin typeface="Times New Roman"/>
              </a:rPr>
              <a:t>Deyu</a:t>
            </a:r>
            <a:r>
              <a:rPr sz="1550" b="0" dirty="0">
                <a:latin typeface="Times New Roman"/>
              </a:rPr>
              <a:t> Meng, and Lei Zhang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Journal: </a:t>
            </a:r>
            <a:r>
              <a:rPr sz="1550" b="0" dirty="0">
                <a:latin typeface="Times New Roman"/>
              </a:rPr>
              <a:t>IEEE Transactions on Image Processing (IEEE TIP), Vol. 26, No. 7, pp. 3142–3155, 2017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 err="1">
                <a:solidFill>
                  <a:srgbClr val="8B0000"/>
                </a:solidFill>
                <a:latin typeface="Times New Roman"/>
              </a:rPr>
              <a:t>SCImago</a:t>
            </a:r>
            <a:r>
              <a:rPr sz="1550" b="1" dirty="0">
                <a:solidFill>
                  <a:srgbClr val="8B0000"/>
                </a:solidFill>
                <a:latin typeface="Times New Roman"/>
              </a:rPr>
              <a:t> Verification: </a:t>
            </a:r>
            <a:r>
              <a:rPr sz="1550" b="0" dirty="0">
                <a:latin typeface="Times New Roman"/>
              </a:rPr>
              <a:t>Rank: Q1 (Top Tier Journal in Signal Processing &amp; Computer Vision) | </a:t>
            </a:r>
            <a:r>
              <a:rPr sz="1550" b="0" dirty="0" err="1">
                <a:latin typeface="Times New Roman"/>
              </a:rPr>
              <a:t>SCImago</a:t>
            </a:r>
            <a:r>
              <a:rPr sz="1550" b="0" dirty="0">
                <a:latin typeface="Times New Roman"/>
              </a:rPr>
              <a:t> 2024 SJR: 2.502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Digital Object Identifier (DOI): </a:t>
            </a:r>
            <a:r>
              <a:rPr sz="1550" b="0" dirty="0">
                <a:latin typeface="Times New Roman"/>
              </a:rPr>
              <a:t>https://doi.org/10.1109/TIP.2017.2662206 | GitHub: https://github.com/cszn/DnCNN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465" y="3410712"/>
            <a:ext cx="11315847" cy="24871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761" y="3429000"/>
            <a:ext cx="10752951" cy="251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Technical Justification for </a:t>
            </a:r>
            <a:r>
              <a:rPr dirty="0" err="1"/>
              <a:t>SafeRoad</a:t>
            </a:r>
            <a:r>
              <a:rPr dirty="0"/>
              <a:t> AI Selection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Foundational Architecture Blueprint: </a:t>
            </a:r>
            <a:r>
              <a:rPr sz="1550" b="0" dirty="0">
                <a:latin typeface="Times New Roman"/>
              </a:rPr>
              <a:t>Introduced </a:t>
            </a:r>
            <a:r>
              <a:rPr sz="1550" b="0" dirty="0" err="1">
                <a:latin typeface="Times New Roman"/>
              </a:rPr>
              <a:t>DnCNN</a:t>
            </a:r>
            <a:r>
              <a:rPr sz="1550" b="0" dirty="0">
                <a:latin typeface="Times New Roman"/>
              </a:rPr>
              <a:t> and proved that learning the noise residual R(y) = y - x is fundamentally faster and more accurate than learning clean images directly.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Blind Denoising Capability: </a:t>
            </a:r>
            <a:r>
              <a:rPr sz="1550" b="0" dirty="0">
                <a:latin typeface="Times New Roman"/>
              </a:rPr>
              <a:t>Proved that a 17-layer convolutional network with Batch Normalization can handle mixed noise without knowing the exact noise level beforehand.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Batch Normalization &amp; Residual Synergy: </a:t>
            </a:r>
            <a:r>
              <a:rPr sz="1550" b="0" dirty="0">
                <a:latin typeface="Times New Roman"/>
              </a:rPr>
              <a:t>Proved mathematically that </a:t>
            </a:r>
            <a:r>
              <a:rPr sz="1550" b="0" dirty="0" err="1">
                <a:latin typeface="Times New Roman"/>
              </a:rPr>
              <a:t>BatchNorm</a:t>
            </a:r>
            <a:r>
              <a:rPr sz="1550" b="0" dirty="0">
                <a:latin typeface="Times New Roman"/>
              </a:rPr>
              <a:t> stabilizes residual noise learning, keeping intermediate representations Gaussian.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 dirty="0">
                <a:solidFill>
                  <a:srgbClr val="8B0000"/>
                </a:solidFill>
                <a:latin typeface="Times New Roman"/>
              </a:rPr>
              <a:t>Direct Module 2 Implementation: </a:t>
            </a:r>
            <a:r>
              <a:rPr sz="1550" b="0" dirty="0">
                <a:latin typeface="Times New Roman"/>
              </a:rPr>
              <a:t>Served as the exact architecture trained on our 1,270-image </a:t>
            </a:r>
            <a:r>
              <a:rPr sz="1550" b="0" dirty="0" err="1">
                <a:latin typeface="Times New Roman"/>
              </a:rPr>
              <a:t>Noisy_Dataset</a:t>
            </a:r>
            <a:r>
              <a:rPr sz="1550" b="0" dirty="0">
                <a:latin typeface="Times New Roman"/>
              </a:rPr>
              <a:t>, improving degraded dashcam PSNR from 25.36 dB to &gt;31.2 </a:t>
            </a:r>
            <a:r>
              <a:rPr sz="1550" b="0" dirty="0" err="1">
                <a:latin typeface="Times New Roman"/>
              </a:rPr>
              <a:t>dB.</a:t>
            </a:r>
            <a:endParaRPr sz="1550" b="0" dirty="0">
              <a:latin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Conclusion, Milestones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Key Milestones Achieved in Review 2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Complete End-to-End Pipeline: </a:t>
            </a:r>
            <a:r>
              <a:rPr sz="1550" b="0">
                <a:latin typeface="Times New Roman"/>
              </a:rPr>
              <a:t>Integrated full workflow: Ingestion -&gt; DnCNN Denoising -&gt; YOLOv8 Traffic Detection -&gt; MobileNetV2 Risk Classification -&gt; React UI.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Multi-Regional Dataset Curated: </a:t>
            </a:r>
            <a:r>
              <a:rPr sz="1550" b="0">
                <a:latin typeface="Times New Roman"/>
              </a:rPr>
              <a:t>Consolidated 6,949 road frames across BDD100K, IDD, and YouTube with 14 metadata attributes and a 1,270-frame noisy subset.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Superior Empirical Benchmark: </a:t>
            </a:r>
            <a:r>
              <a:rPr sz="1550" b="0">
                <a:latin typeface="Times New Roman"/>
              </a:rPr>
              <a:t>MobileNetV2 achieved 80.82% Accuracy, 85.56% High-Risk Recall, and 11.3 ms latency with only 2.42M parameters.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Full-Stack Cloud Deployment: </a:t>
            </a:r>
            <a:r>
              <a:rPr sz="1550" b="0">
                <a:latin typeface="Times New Roman"/>
              </a:rPr>
              <a:t>Deployed responsive web dashboard on Vercel (https://saferoad-ai-one.vercel.app/) with real-time risk gauges.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Academic Rigor: </a:t>
            </a:r>
            <a:r>
              <a:rPr sz="1550" b="0">
                <a:latin typeface="Times New Roman"/>
              </a:rPr>
              <a:t>20 SCImago-indexed papers verified across 4 team members and IEEE DataPort submission prepared.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t>Future Scope &amp; Review 3 Objectives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Temporal Sequential Modeling (ConvLSTM): </a:t>
            </a:r>
            <a:r>
              <a:rPr sz="1550" b="0">
                <a:latin typeface="Times New Roman"/>
              </a:rPr>
              <a:t>Extend image classification to sequential video clips, modeling time-to-collision (TTC) dynamics across consecutive frames.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Hardware Edge Acceleration (Jetson Nano): </a:t>
            </a:r>
            <a:r>
              <a:rPr sz="1550" b="0">
                <a:latin typeface="Times New Roman"/>
              </a:rPr>
              <a:t>Deploy quantized INT8 TensorRT engine of MobileNetV2 and DnCNN onto embedded NVIDIA Jetson hardware for in-cabin testing.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CCTV Smart City Municipal Feeds: </a:t>
            </a:r>
            <a:r>
              <a:rPr sz="1550" b="0">
                <a:latin typeface="Times New Roman"/>
              </a:rPr>
              <a:t>Integrate live RTSP video feeds from urban intersection cameras to automate emergency dispatch.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Times New Roman"/>
              </a:defRPr>
            </a:pPr>
            <a:r>
              <a:rPr sz="1550" b="1">
                <a:solidFill>
                  <a:srgbClr val="8B0000"/>
                </a:solidFill>
                <a:latin typeface="Times New Roman"/>
              </a:rPr>
              <a:t>Multi-Task Surface Friction Head: </a:t>
            </a:r>
            <a:r>
              <a:rPr sz="1550" b="0">
                <a:latin typeface="Times New Roman"/>
              </a:rPr>
              <a:t>Incorporate secondary classification heads to predict road wetness and friction alongside collision risk.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1563624"/>
            <a:ext cx="9445752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Thank You!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0F172A"/>
                </a:solidFill>
                <a:latin typeface="Times New Roman"/>
              </a:defRPr>
            </a:pPr>
            <a:r>
              <a:rPr dirty="0" err="1"/>
              <a:t>SafeRoad</a:t>
            </a:r>
            <a:r>
              <a:rPr dirty="0"/>
              <a:t> AI: Predict Risks. Prevent Accidents.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2207" y="3204431"/>
            <a:ext cx="9445752" cy="161445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81981" y="3301180"/>
            <a:ext cx="898855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B0000"/>
                </a:solidFill>
                <a:latin typeface="Times New Roman"/>
              </a:defRPr>
            </a:pPr>
            <a:r>
              <a:rPr dirty="0"/>
              <a:t>Team 10 — Project Coordinates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Team Members: </a:t>
            </a:r>
            <a:r>
              <a:rPr sz="1500" b="0" dirty="0">
                <a:latin typeface="Times New Roman"/>
              </a:rPr>
              <a:t>Chaitanya Chitturi | T Hema Sai | U Veeranjaneyulu | Charan Kola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Course &amp; Guide: </a:t>
            </a:r>
            <a:r>
              <a:rPr sz="1500" b="0" dirty="0">
                <a:latin typeface="Times New Roman"/>
              </a:rPr>
              <a:t>23CSE473 Neural Networks &amp; Deep Learning | Prof. Dr. T Senthil Kumar (CSE)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  <a:latin typeface="Times New Roman"/>
              </a:defRPr>
            </a:pPr>
            <a:r>
              <a:rPr sz="1500" b="1" dirty="0">
                <a:solidFill>
                  <a:srgbClr val="8B0000"/>
                </a:solidFill>
                <a:latin typeface="Times New Roman"/>
              </a:rPr>
              <a:t>Project Links: </a:t>
            </a:r>
            <a:r>
              <a:rPr sz="1500" b="0" dirty="0">
                <a:latin typeface="Times New Roman"/>
              </a:rPr>
              <a:t>GitHub: https://github.com/Uppara-Veeranjaneyulu/SafeRoad-AI  |  Web: https://saferoad-ai-one.vercel.app/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8264</Words>
  <Application>Microsoft Office PowerPoint</Application>
  <PresentationFormat>Widescreen</PresentationFormat>
  <Paragraphs>920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Uppara Veeranjaneyulu</cp:lastModifiedBy>
  <cp:revision>2</cp:revision>
  <dcterms:created xsi:type="dcterms:W3CDTF">2013-01-27T09:14:16Z</dcterms:created>
  <dcterms:modified xsi:type="dcterms:W3CDTF">2026-09-12T15:38:30Z</dcterms:modified>
  <cp:category/>
</cp:coreProperties>
</file>