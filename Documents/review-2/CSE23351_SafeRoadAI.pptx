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3585" y="787564"/>
            <a:ext cx="9509760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00000"/>
                </a:solidFill>
                <a:latin typeface="Times New Roman"/>
              </a:defRPr>
            </a:pPr>
            <a:r>
              <a:rPr dirty="0"/>
              <a:t>NEURAL NETWORKS AND DEEP LEARNING (23CSE473)</a:t>
            </a:r>
          </a:p>
          <a:p>
            <a:pPr>
              <a:defRPr sz="1400" b="1">
                <a:solidFill>
                  <a:srgbClr val="475569"/>
                </a:solidFill>
                <a:latin typeface="Times New Roman"/>
              </a:defRPr>
            </a:pPr>
            <a:r>
              <a:rPr dirty="0"/>
              <a:t>CASE STUDY REVIEW</a:t>
            </a:r>
            <a:r>
              <a:rPr lang="en-IN" dirty="0"/>
              <a:t>-</a:t>
            </a:r>
            <a:r>
              <a:rPr dirty="0"/>
              <a:t>2</a:t>
            </a:r>
            <a:r>
              <a:rPr lang="en-IN" dirty="0"/>
              <a:t>    </a:t>
            </a:r>
            <a:r>
              <a:rPr lang="en-IN" sz="1600" dirty="0"/>
              <a:t>Team -10</a:t>
            </a:r>
            <a:endParaRPr lang="en-US" sz="1600" dirty="0"/>
          </a:p>
          <a:p>
            <a:pPr>
              <a:spcBef>
                <a:spcPts val="300"/>
              </a:spcBef>
              <a:defRPr sz="2200" b="1">
                <a:solidFill>
                  <a:srgbClr val="8B0000"/>
                </a:solidFill>
                <a:latin typeface="Times New Roman"/>
              </a:defRPr>
            </a:pPr>
            <a:r>
              <a:rPr lang="en-US" dirty="0" err="1"/>
              <a:t>SafeRoad</a:t>
            </a:r>
            <a:r>
              <a:rPr lang="en-US" dirty="0"/>
              <a:t> AI: Road-Scene Risk Classification &amp; Traffic Monitoring</a:t>
            </a:r>
          </a:p>
          <a:p>
            <a:pPr>
              <a:spcBef>
                <a:spcPts val="300"/>
              </a:spcBef>
              <a:defRPr sz="2200" b="1">
                <a:solidFill>
                  <a:srgbClr val="8B0000"/>
                </a:solidFill>
                <a:latin typeface="Times New Roman"/>
              </a:defRPr>
            </a:pPr>
            <a:endParaRPr lang="en-US" dirty="0"/>
          </a:p>
          <a:p>
            <a:pPr lvl="1">
              <a:defRPr sz="1350" b="1">
                <a:solidFill>
                  <a:srgbClr val="C00000"/>
                </a:solidFill>
                <a:latin typeface="Times New Roman"/>
              </a:defRPr>
            </a:pPr>
            <a:r>
              <a:rPr lang="en-IN" sz="2000" dirty="0"/>
              <a:t>		Module3 - </a:t>
            </a:r>
            <a:r>
              <a:rPr sz="2000" dirty="0"/>
              <a:t>EFFICIENTNETB0 DEEP CLASSIFIER &amp; </a:t>
            </a:r>
            <a:endParaRPr lang="en-IN" sz="2000" dirty="0"/>
          </a:p>
          <a:p>
            <a:pPr lvl="1">
              <a:defRPr sz="1350" b="1">
                <a:solidFill>
                  <a:srgbClr val="C00000"/>
                </a:solidFill>
                <a:latin typeface="Times New Roman"/>
              </a:defRPr>
            </a:pPr>
            <a:r>
              <a:rPr lang="en-IN" sz="2000" dirty="0"/>
              <a:t>              				</a:t>
            </a:r>
            <a:r>
              <a:rPr sz="2000" dirty="0"/>
              <a:t>FULL-STACK WEB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0890" y="2993267"/>
            <a:ext cx="11091672" cy="270944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8090" y="3147426"/>
            <a:ext cx="10634472" cy="21852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IN" sz="1600" b="1" dirty="0">
                <a:solidFill>
                  <a:srgbClr val="0F172A"/>
                </a:solidFill>
                <a:latin typeface="Times New Roman"/>
              </a:rPr>
              <a:t>Name</a:t>
            </a:r>
            <a:r>
              <a:rPr lang="en-IN" sz="1600" dirty="0">
                <a:solidFill>
                  <a:srgbClr val="0F172A"/>
                </a:solidFill>
                <a:latin typeface="Times New Roman"/>
              </a:rPr>
              <a:t> : </a:t>
            </a:r>
            <a:r>
              <a:rPr sz="1600" dirty="0">
                <a:solidFill>
                  <a:srgbClr val="0F172A"/>
                </a:solidFill>
                <a:latin typeface="Times New Roman"/>
              </a:rPr>
              <a:t>U</a:t>
            </a:r>
            <a:r>
              <a:rPr lang="en-IN" sz="1600" dirty="0" err="1">
                <a:solidFill>
                  <a:srgbClr val="0F172A"/>
                </a:solidFill>
                <a:latin typeface="Times New Roman"/>
              </a:rPr>
              <a:t>ppara</a:t>
            </a:r>
            <a:r>
              <a:rPr sz="1600" dirty="0">
                <a:solidFill>
                  <a:srgbClr val="0F172A"/>
                </a:solidFill>
                <a:latin typeface="Times New Roman"/>
              </a:rPr>
              <a:t> Veeranjaneyulu </a:t>
            </a:r>
            <a:r>
              <a:rPr lang="en-IN" sz="1600" dirty="0">
                <a:solidFill>
                  <a:srgbClr val="0F172A"/>
                </a:solidFill>
                <a:latin typeface="Times New Roman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0F172A"/>
                </a:solidFill>
                <a:latin typeface="Times New Roman"/>
              </a:rPr>
              <a:t>Roll Number</a:t>
            </a:r>
            <a:r>
              <a:rPr sz="1600" dirty="0">
                <a:solidFill>
                  <a:srgbClr val="0F172A"/>
                </a:solidFill>
                <a:latin typeface="Times New Roman"/>
              </a:rPr>
              <a:t>: CB.SC.U4CSE23351 </a:t>
            </a:r>
            <a:endParaRPr lang="en-IN" sz="1600" dirty="0">
              <a:solidFill>
                <a:srgbClr val="0F172A"/>
              </a:solidFill>
              <a:latin typeface="Times New Roman"/>
            </a:endParaRP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0F172A"/>
                </a:solidFill>
                <a:latin typeface="Times New Roman"/>
              </a:rPr>
              <a:t>Contac</a:t>
            </a:r>
            <a:r>
              <a:rPr sz="1600" dirty="0">
                <a:solidFill>
                  <a:srgbClr val="0F172A"/>
                </a:solidFill>
                <a:latin typeface="Times New Roman"/>
              </a:rPr>
              <a:t>t: 9848267497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0F172A"/>
                </a:solidFill>
                <a:latin typeface="Times New Roman"/>
              </a:rPr>
              <a:t>Module Scope: </a:t>
            </a:r>
            <a:r>
              <a:rPr sz="1600" dirty="0">
                <a:solidFill>
                  <a:srgbClr val="0F172A"/>
                </a:solidFill>
                <a:latin typeface="Times New Roman"/>
              </a:rPr>
              <a:t>Deep Learning Classification using EfficientNetB0 &amp; Production Full-Stack Web Platform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0F172A"/>
                </a:solidFill>
                <a:latin typeface="Times New Roman"/>
              </a:rPr>
              <a:t>Faculty Guide &amp; Course: </a:t>
            </a:r>
            <a:r>
              <a:rPr sz="1600" dirty="0">
                <a:solidFill>
                  <a:srgbClr val="0F172A"/>
                </a:solidFill>
                <a:latin typeface="Times New Roman"/>
              </a:rPr>
              <a:t>Professor – Dr. T Senthil Kumar (Department of CSE) | Course: 23CSE473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0F172A"/>
                </a:solidFill>
                <a:latin typeface="Times New Roman"/>
              </a:rPr>
              <a:t>Source Code &amp; Live App: </a:t>
            </a:r>
            <a:r>
              <a:rPr sz="1600" dirty="0">
                <a:solidFill>
                  <a:srgbClr val="0F172A"/>
                </a:solidFill>
                <a:latin typeface="Times New Roman"/>
              </a:rPr>
              <a:t>GitHub: https://github.com/Uppara-Veeranjaneyulu/SafeRoad-AI </a:t>
            </a:r>
            <a:endParaRPr lang="en-IN" sz="1600" dirty="0">
              <a:solidFill>
                <a:srgbClr val="0F172A"/>
              </a:solidFill>
              <a:latin typeface="Times New Roman"/>
            </a:endParaRP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0F172A"/>
                </a:solidFill>
                <a:latin typeface="Times New Roman"/>
              </a:rPr>
              <a:t>Live</a:t>
            </a:r>
            <a:r>
              <a:rPr sz="1600" dirty="0">
                <a:solidFill>
                  <a:srgbClr val="0F172A"/>
                </a:solidFill>
                <a:latin typeface="Times New Roman"/>
              </a:rPr>
              <a:t>: https://saferoad-ai-one.vercel.app/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Real-World Context: The Urgent Need for Proactive Road Safety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Global &amp; National Crisis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1.19 Million Fatalities Annually: </a:t>
            </a:r>
            <a:r>
              <a:rPr sz="1550">
                <a:solidFill>
                  <a:srgbClr val="0F172A"/>
                </a:solidFill>
                <a:latin typeface="Times New Roman"/>
              </a:rPr>
              <a:t>According to WHO 2023 reports, road traffic injuries remain the leading global cause of death for children and young adults aged 5–29.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Economic Drain: </a:t>
            </a:r>
            <a:r>
              <a:rPr sz="1550">
                <a:solidFill>
                  <a:srgbClr val="0F172A"/>
                </a:solidFill>
                <a:latin typeface="Times New Roman"/>
              </a:rPr>
              <a:t>Road crashes cost most countries approximately 3% of their total Gross Domestic Product (GDP).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Vulnerable Road Users (VRUs): </a:t>
            </a:r>
            <a:r>
              <a:rPr sz="1550">
                <a:solidFill>
                  <a:srgbClr val="0F172A"/>
                </a:solidFill>
                <a:latin typeface="Times New Roman"/>
              </a:rPr>
              <a:t>Pedestrians, cyclists, and two-wheeler riders account for more than half of all global traffic deaths, bearing disproportionate risk.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Preventable Epidemic: </a:t>
            </a:r>
            <a:r>
              <a:rPr sz="1550">
                <a:solidFill>
                  <a:srgbClr val="0F172A"/>
                </a:solidFill>
                <a:latin typeface="Times New Roman"/>
              </a:rPr>
              <a:t>Over 90% of road casualties occur in low- and middle-income nations, where infrastructure and active safety alerts lag.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Indian Road Reality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1.68 Lakh Deaths in 2022: </a:t>
            </a:r>
            <a:r>
              <a:rPr sz="1550">
                <a:solidFill>
                  <a:srgbClr val="0F172A"/>
                </a:solidFill>
                <a:latin typeface="Times New Roman"/>
              </a:rPr>
              <a:t>MoRTH official statistics record 4.61 lakh accidents annually, resulting in a devastating loss of 19 lives every single hour.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High Collision Fatality Rate: </a:t>
            </a:r>
            <a:r>
              <a:rPr sz="1550">
                <a:solidFill>
                  <a:srgbClr val="0F172A"/>
                </a:solidFill>
                <a:latin typeface="Times New Roman"/>
              </a:rPr>
              <a:t>India accounts for 11% of global road deaths despite having only 1% of the world's vehicular fleet.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Urban Heterogeneity: </a:t>
            </a:r>
            <a:r>
              <a:rPr sz="1550">
                <a:solidFill>
                  <a:srgbClr val="0F172A"/>
                </a:solidFill>
                <a:latin typeface="Times New Roman"/>
              </a:rPr>
              <a:t>Traffic mixes high-speed cars, auto-rickshaws, stray animals, and pedestrians on lanes without physical median dividers.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Sensory Overload: </a:t>
            </a:r>
            <a:r>
              <a:rPr sz="1550">
                <a:solidFill>
                  <a:srgbClr val="0F172A"/>
                </a:solidFill>
                <a:latin typeface="Times New Roman"/>
              </a:rPr>
              <a:t>Human drivers experience severe perceptual fatigue, especially during night driving and extreme monsoon weather.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Problem Statement &amp; Identified Research Gaps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The Operational Problem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Reactive, Not Proactive: </a:t>
            </a:r>
            <a:r>
              <a:rPr sz="1550">
                <a:solidFill>
                  <a:srgbClr val="0F172A"/>
                </a:solidFill>
                <a:latin typeface="Times New Roman"/>
              </a:rPr>
              <a:t>Traditional safety systems (airbags, ABS) activate during or milliseconds before collision; they fail to prevent accident buildup.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Perceptual Limitations: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Human drivers suffer from blind spots, night glare, fatigue, and delayed reaction time under adverse weather.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Computational Heavyweights: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Existing high-accuracy vision architectures (ResNet-152, Vision Transformers) exceed the compute budgets of affordable vehicle edge devices.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Imbalanced Real-World Data: </a:t>
            </a:r>
            <a:r>
              <a:rPr sz="1550">
                <a:solidFill>
                  <a:srgbClr val="0F172A"/>
                </a:solidFill>
                <a:latin typeface="Times New Roman"/>
              </a:rPr>
              <a:t>Accident situations are rare (&lt;10% of driving footage), causing standard deep learning classifiers to heavily favor the 'Safe' class.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Specific Research Gaps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Gap 1 — Edge Deployment Trade-off: </a:t>
            </a:r>
            <a:r>
              <a:rPr sz="1550">
                <a:solidFill>
                  <a:srgbClr val="0F172A"/>
                </a:solidFill>
                <a:latin typeface="Times New Roman"/>
              </a:rPr>
              <a:t>Prior road safety research prioritized top-1 accuracy at the expense of latency; models require costly GPU rigs unsuitable for mass deployment.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Gap 2 — Adverse Condition Blindness: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Detectors trained exclusively on clean benchmark imagery fail catastrophically when presented with camera sensor noise or heavy rain.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Gap 3 — Neglect of Rare Hazards: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Severe class imbalance (11.7:1 in natural road video) leads to &gt;40% false-negative rates on imminent crash scenarios.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Gap 4 — Fragmented Pipelines: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Previous studies separated risk classification from traffic object detection; SafeRoad AI unifies both into an end-to-end driver alert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Core Motivation &amp; UN Sustainable Development Goals (SDG)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Core Technical Motivation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Proactive Edge Intelligence: </a:t>
            </a:r>
            <a:r>
              <a:rPr sz="1550">
                <a:solidFill>
                  <a:srgbClr val="0F172A"/>
                </a:solidFill>
                <a:latin typeface="Times New Roman"/>
              </a:rPr>
              <a:t>Shift road safety from passive collision mitigation to active real-time danger prediction using lightweight deep neural networks.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Democratizing Vehicle Safety: </a:t>
            </a:r>
            <a:r>
              <a:rPr sz="1550">
                <a:solidFill>
                  <a:srgbClr val="0F172A"/>
                </a:solidFill>
                <a:latin typeface="Times New Roman"/>
              </a:rPr>
              <a:t>Deliver sub-25ms inference latency on affordable hardware (NVIDIA Jetson / Raspberry Pi), bringing ADAS-level protection to mass-market vehicles.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Weather &amp; Noise Invariance: </a:t>
            </a:r>
            <a:r>
              <a:rPr sz="1550">
                <a:solidFill>
                  <a:srgbClr val="0F172A"/>
                </a:solidFill>
                <a:latin typeface="Times New Roman"/>
              </a:rPr>
              <a:t>Integrate deep image restoration upstream so perception remains razor-sharp through rain, fog, and sensor degradation.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Actionable Driver Alerts: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Translate high-dimensional image tensors into simple 3-tier risk warnings (Safe, Moderate, High) with under 50ms total response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Alignment with UN Sustainable Goals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SDG 3.6 — Half Global Traffic Casualties: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Target: Halve the number of global deaths and injuries from road traffic crashes through proactive hazard warning.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SDG 11.2 — Safe, Sustainable Transport: </a:t>
            </a:r>
            <a:r>
              <a:rPr sz="1550">
                <a:solidFill>
                  <a:srgbClr val="0F172A"/>
                </a:solidFill>
                <a:latin typeface="Times New Roman"/>
              </a:rPr>
              <a:t>Target: Provide access to safe, affordable, accessible, and sustainable transport systems for all, notably expanding public transit safety.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SDG 9.5 — Upgrading Technological Capabilities: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Target: Enhance scientific research and upgrade the technological capabilities of industrial sectors through edge-AI innovations.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Social Equity: </a:t>
            </a:r>
            <a:r>
              <a:rPr sz="1550">
                <a:solidFill>
                  <a:srgbClr val="0F172A"/>
                </a:solidFill>
                <a:latin typeface="Times New Roman"/>
              </a:rPr>
              <a:t>Bringing autonomous-grade collision prevention to commercial trucks and auto-rickshaws where casualty rates are highest.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rPr dirty="0"/>
              <a:t>Literature Survey: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455291"/>
              </p:ext>
            </p:extLst>
          </p:nvPr>
        </p:nvGraphicFramePr>
        <p:xfrm>
          <a:off x="548640" y="1188720"/>
          <a:ext cx="1109167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Sl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Paper Title &amp; Authors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Journal &amp; Year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SCImago Rank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Direct Relevance to SafeRoad AI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F172A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F172A"/>
                          </a:solidFill>
                          <a:latin typeface="Times New Roman"/>
                        </a:rPr>
                        <a:t>Beyond a Gaussian Denoiser: Residual Learning of Deep CNN (Zhang et al.)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F172A"/>
                          </a:solidFill>
                          <a:latin typeface="Times New Roman"/>
                        </a:rPr>
                        <a:t>IEEE TIP (2017)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F172A"/>
                          </a:solidFill>
                          <a:latin typeface="Times New Roman"/>
                        </a:rPr>
                        <a:t>Q1 SJR: 2.502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F172A"/>
                          </a:solidFill>
                          <a:latin typeface="Times New Roman"/>
                        </a:rPr>
                        <a:t>Standard Paper: Supplies our 17-layer DnCNN architecture: learning noise residual R(y) rather than clean images.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F172A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dirty="0" err="1">
                          <a:solidFill>
                            <a:srgbClr val="0F172A"/>
                          </a:solidFill>
                          <a:latin typeface="Times New Roman"/>
                        </a:rPr>
                        <a:t>EfficientNet</a:t>
                      </a:r>
                      <a:r>
                        <a:rPr sz="1400" b="0" i="0" dirty="0">
                          <a:solidFill>
                            <a:srgbClr val="0F172A"/>
                          </a:solidFill>
                          <a:latin typeface="Times New Roman"/>
                        </a:rPr>
                        <a:t>: Rethinking Model Scaling for CNNs (Tan &amp; Le)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F172A"/>
                          </a:solidFill>
                          <a:latin typeface="Times New Roman"/>
                        </a:rPr>
                        <a:t>ICML (2019)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F172A"/>
                          </a:solidFill>
                          <a:latin typeface="Times New Roman"/>
                        </a:rPr>
                        <a:t>Top Conf / Q1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F172A"/>
                          </a:solidFill>
                          <a:latin typeface="Times New Roman"/>
                        </a:rPr>
                        <a:t>Foundational theory of compound scaling (depth, width, resolution) powering our EfficientNetB0 classifier.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F172A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F172A"/>
                          </a:solidFill>
                          <a:latin typeface="Times New Roman"/>
                        </a:rPr>
                        <a:t>Decomposed Neural Architecture Search for image denoising (Elsevier)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F172A"/>
                          </a:solidFill>
                          <a:latin typeface="Times New Roman"/>
                        </a:rPr>
                        <a:t>Applied Soft Computing (2022)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F172A"/>
                          </a:solidFill>
                          <a:latin typeface="Times New Roman"/>
                        </a:rPr>
                        <a:t>Q1 SJR: 1.810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F172A"/>
                          </a:solidFill>
                          <a:latin typeface="Times New Roman"/>
                        </a:rPr>
                        <a:t>Guides optimization of convolutional layer depth and filter counts for low-latency dashcam pre-filtering.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F172A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F172A"/>
                          </a:solidFill>
                          <a:latin typeface="Times New Roman"/>
                        </a:rPr>
                        <a:t>Squeeze-and-Excitation Networks (Hu, Shen, Albanie, Sun &amp; Enhua)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F172A"/>
                          </a:solidFill>
                          <a:latin typeface="Times New Roman"/>
                        </a:rPr>
                        <a:t>IEEE TPAMI (2020)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F172A"/>
                          </a:solidFill>
                          <a:latin typeface="Times New Roman"/>
                        </a:rPr>
                        <a:t>Q1 SJR: 4.860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solidFill>
                            <a:srgbClr val="0F172A"/>
                          </a:solidFill>
                          <a:latin typeface="Times New Roman"/>
                        </a:rPr>
                        <a:t>Validates channel-wise attention recalibration inside EfficientNetB0 </a:t>
                      </a:r>
                      <a:r>
                        <a:rPr sz="1400" b="0" i="0" dirty="0" err="1">
                          <a:solidFill>
                            <a:srgbClr val="0F172A"/>
                          </a:solidFill>
                          <a:latin typeface="Times New Roman"/>
                        </a:rPr>
                        <a:t>MBConv</a:t>
                      </a:r>
                      <a:r>
                        <a:rPr sz="1400" b="0" i="0" dirty="0">
                          <a:solidFill>
                            <a:srgbClr val="0F172A"/>
                          </a:solidFill>
                          <a:latin typeface="Times New Roman"/>
                        </a:rPr>
                        <a:t> blocks to capture road hazards.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Overall Application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rchitecture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65276"/>
            <a:ext cx="5303520" cy="50429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Core Architecture Highlights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Layer 1 — Sensory Ingestion: </a:t>
            </a:r>
            <a:r>
              <a:rPr sz="1500">
                <a:solidFill>
                  <a:srgbClr val="0F172A"/>
                </a:solidFill>
                <a:latin typeface="Times New Roman"/>
              </a:rPr>
              <a:t>Captures dashcam frames (1080p @ 30 FPS), downsamples to 224x224, and normalizes tensors.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Layer 2 — Restorative Pre-Filter (DnCNN): </a:t>
            </a:r>
            <a:r>
              <a:rPr sz="1500">
                <a:solidFill>
                  <a:srgbClr val="0F172A"/>
                </a:solidFill>
                <a:latin typeface="Times New Roman"/>
              </a:rPr>
              <a:t>17-layer residual network strips sensor thermal noise, compression artifacts, and blur.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Layer 3 — EfficientNetB0 Classifier: </a:t>
            </a:r>
            <a:r>
              <a:rPr sz="1500">
                <a:solidFill>
                  <a:srgbClr val="0F172A"/>
                </a:solidFill>
                <a:latin typeface="Times New Roman"/>
              </a:rPr>
              <a:t>MBConv blocks with Squeeze-and-Excitation extract multi-scale spatial road risk cues in 22.7 ms.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Layer 4 — Traffic Parsing (YOLOv8): </a:t>
            </a:r>
            <a:r>
              <a:rPr sz="1500">
                <a:solidFill>
                  <a:srgbClr val="0F172A"/>
                </a:solidFill>
                <a:latin typeface="Times New Roman"/>
              </a:rPr>
              <a:t>Anchor-free object detection simultaneously tracks pedestrians, vehicles, and signs.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Layer 5 — Full-Stack Interface: </a:t>
            </a:r>
            <a:r>
              <a:rPr sz="1500">
                <a:solidFill>
                  <a:srgbClr val="0F172A"/>
                </a:solidFill>
                <a:latin typeface="Times New Roman"/>
              </a:rPr>
              <a:t>React 18 + Tailwind dashboard delivers live telemetry, safety advice, and risk gauges.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SafeRoad AI Data Pipeline &amp; Processing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Pipeline Stage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Input Data &amp; Format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Transformations Applied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Output Latency &amp; Consumer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1. Ingestion &amp; Preprocessing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Raw RGB Dashcam Video (1080p / 720p)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Frame extraction, bilinear resize to 224x224, [0, 1] normalization.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&lt; 2.0 ms -&gt; Input Buffer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2. DnCNN Noise Cleansing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Corrupted 224x224x3 image tensor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17-layer Conv+BN+ReLU residual noise extraction: x_clean = y - R(y).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7.1 ms -&gt; Dual Downstream Heads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3. EfficientNetB0 Classification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Cleaned 224x224x3 restored tensor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Compound scaling, 7 MBConv stages, Squeeze-and-Excitation attention.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22.7 ms -&gt; Safety Logic Engine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4. UI Broadcast &amp; Alerting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3-Tier Probability Vector + Object Counts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Threshold validation, TTS audio alert generation, WebSocket telemetry.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&lt; 3.0 ms -&gt; React Infotainment UI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Module Details: Module 1 &amp; Module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Module 1: Data Acquisition &amp; Preprocessing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Multi-Source Dataset: </a:t>
            </a:r>
            <a:r>
              <a:rPr sz="1550">
                <a:solidFill>
                  <a:srgbClr val="0F172A"/>
                </a:solidFill>
                <a:latin typeface="Times New Roman"/>
              </a:rPr>
              <a:t>Consolidates 6,949 driving frames from BDD100K, Indian Driving Dataset (IDD), and high-risk YouTube dashcam feeds.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Multi-Attribute Annotation: </a:t>
            </a:r>
            <a:r>
              <a:rPr sz="1550">
                <a:solidFill>
                  <a:srgbClr val="0F172A"/>
                </a:solidFill>
                <a:latin typeface="Times New Roman"/>
              </a:rPr>
              <a:t>Every frame is labeled with 14 environmental attributes including weather, lighting, road type, and obstacle count.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Automated Preprocessing: </a:t>
            </a:r>
            <a:r>
              <a:rPr sz="1550">
                <a:solidFill>
                  <a:srgbClr val="0F172A"/>
                </a:solidFill>
                <a:latin typeface="Times New Roman"/>
              </a:rPr>
              <a:t>Resizing, standardization, and stratified train/val/test splitting maintaining realistic class distributions.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Stratified Split Quality: </a:t>
            </a:r>
            <a:r>
              <a:rPr sz="1550">
                <a:solidFill>
                  <a:srgbClr val="0F172A"/>
                </a:solidFill>
                <a:latin typeface="Times New Roman"/>
              </a:rPr>
              <a:t>60% Train (4,169), 20% Val (1,390), and 20% Test (1,043) with identical class ratios.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Module 2: Robustness &amp; Image Denoising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Synthetic Noisy Dataset (1,270 frames): </a:t>
            </a:r>
            <a:r>
              <a:rPr sz="1550">
                <a:solidFill>
                  <a:srgbClr val="0F172A"/>
                </a:solidFill>
                <a:latin typeface="Times New Roman"/>
              </a:rPr>
              <a:t>Curates realistic degraded camera feeds incorporating Gaussian noise, Salt-and-Pepper, Motion Blur, and Compression artifacts.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DnCNN Residual Architecture: </a:t>
            </a:r>
            <a:r>
              <a:rPr sz="1550">
                <a:solidFill>
                  <a:srgbClr val="0F172A"/>
                </a:solidFill>
                <a:latin typeface="Times New Roman"/>
              </a:rPr>
              <a:t>Employs a 17-layer convolutional network that learns the residual noise map R(y) rather than the clean image directly.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High-Frequency Restoration: </a:t>
            </a:r>
            <a:r>
              <a:rPr sz="1550">
                <a:solidFill>
                  <a:srgbClr val="0F172A"/>
                </a:solidFill>
                <a:latin typeface="Times New Roman"/>
              </a:rPr>
              <a:t>Preserves critical edge gradients, vehicle silhouettes, and lane boundaries essential for downstream classification.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Empirical Quality Gains: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Enhances input PSNR from 25.36 dB to &gt;31.2 dB across degraded road scenes.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Module Details: Module 3 &amp; Module 4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Module 3: Intelligent Traffic Monitoring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Object Detection Core: </a:t>
            </a:r>
            <a:r>
              <a:rPr sz="1550">
                <a:solidFill>
                  <a:srgbClr val="0F172A"/>
                </a:solidFill>
                <a:latin typeface="Times New Roman"/>
              </a:rPr>
              <a:t>Employs YOLOv8n (Ultralytics), an anchor-free single-stage detector optimized for rapid vehicular and pedestrian localization.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Multi-Class Parsing: </a:t>
            </a:r>
            <a:r>
              <a:rPr sz="1550">
                <a:solidFill>
                  <a:srgbClr val="0F172A"/>
                </a:solidFill>
                <a:latin typeface="Times New Roman"/>
              </a:rPr>
              <a:t>Simultaneously detects cars, motorcycles, auto-rickshaws, buses, heavy trucks, pedestrians, and road signs.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Traffic Density Computation: </a:t>
            </a:r>
            <a:r>
              <a:rPr sz="1550">
                <a:solidFill>
                  <a:srgbClr val="0F172A"/>
                </a:solidFill>
                <a:latin typeface="Times New Roman"/>
              </a:rPr>
              <a:t>Extracts spatial object counts to assess road occupancy and congestion levels.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Ultra-Fast Latency: </a:t>
            </a:r>
            <a:r>
              <a:rPr sz="1550">
                <a:solidFill>
                  <a:srgbClr val="0F172A"/>
                </a:solidFill>
                <a:latin typeface="Times New Roman"/>
              </a:rPr>
              <a:t>Executes at under 12 ms on edge GPUs, enabling real-time frame evaluation alongside the classifier.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Module 4: Deep Learning Risk Classification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Holistic Scene Evaluation: </a:t>
            </a:r>
            <a:r>
              <a:rPr sz="1550">
                <a:solidFill>
                  <a:srgbClr val="0F172A"/>
                </a:solidFill>
                <a:latin typeface="Times New Roman"/>
              </a:rPr>
              <a:t>Classifies full road scenes into three safety tiers: Safe (normal flow), Moderate Risk (dense traffic), and High Risk (imminent collision danger).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Model Zoo Benchmarking: </a:t>
            </a:r>
            <a:r>
              <a:rPr sz="1550">
                <a:solidFill>
                  <a:srgbClr val="0F172A"/>
                </a:solidFill>
                <a:latin typeface="Times New Roman"/>
              </a:rPr>
              <a:t>Compares 4 architectures on the identical held-out test split: Custom CNN, MobileNetV2, EfficientNetB0, and ResNet-50.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EfficientNetB0 Performance: </a:t>
            </a:r>
            <a:r>
              <a:rPr sz="1550">
                <a:solidFill>
                  <a:srgbClr val="0F172A"/>
                </a:solidFill>
                <a:latin typeface="Times New Roman"/>
              </a:rPr>
              <a:t>Achieved 79.00% Accuracy, 79.97% High-Risk Recall, and 94.84% High-Risk Precision in 22.7 ms with 4.21M parameters.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Optuna Hyperparameter Tuning: </a:t>
            </a:r>
            <a:r>
              <a:rPr sz="1550">
                <a:solidFill>
                  <a:srgbClr val="0F172A"/>
                </a:solidFill>
                <a:latin typeface="Times New Roman"/>
              </a:rPr>
              <a:t>Automated Bayesian search identified optimal learning rate (0.000554), batch size (16), dense units (256), and dropout (0.50).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Module Details: Module 5 &amp; Module 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Module 5: Interactive Full-Stack Web Platform (Presenter)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React 18 + Tailwind Frontend: </a:t>
            </a:r>
            <a:r>
              <a:rPr sz="1550">
                <a:solidFill>
                  <a:srgbClr val="0F172A"/>
                </a:solidFill>
                <a:latin typeface="Times New Roman"/>
              </a:rPr>
              <a:t>Constructed by U Veeranjaneyulu: modern glassmorphic interface with real-time risk gauges and micro-animations.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High-Throughput Flask API: </a:t>
            </a:r>
            <a:r>
              <a:rPr sz="1550">
                <a:solidFill>
                  <a:srgbClr val="0F172A"/>
                </a:solidFill>
                <a:latin typeface="Times New Roman"/>
              </a:rPr>
              <a:t>RESTful backend exposing /api/predict, /api/models, and /api/stats with multi-threading.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Production Cloud Deployment: </a:t>
            </a:r>
            <a:r>
              <a:rPr sz="1550">
                <a:solidFill>
                  <a:srgbClr val="0F172A"/>
                </a:solidFill>
                <a:latin typeface="Times New Roman"/>
              </a:rPr>
              <a:t>Deployed live on Vercel edge CDN: https://saferoad-ai-one.vercel.app/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Active Driver Assistant: </a:t>
            </a:r>
            <a:r>
              <a:rPr sz="1550">
                <a:solidFill>
                  <a:srgbClr val="0F172A"/>
                </a:solidFill>
                <a:latin typeface="Times New Roman"/>
              </a:rPr>
              <a:t>Translates neural network outputs into instant actionable warnings (e.g., 'Heavy Rain Detected — Reduce Speed').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Module 6: Evaluation &amp; Safety Metrics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Safety-Critical Prioritization: </a:t>
            </a:r>
            <a:r>
              <a:rPr sz="1550">
                <a:solidFill>
                  <a:srgbClr val="0F172A"/>
                </a:solidFill>
                <a:latin typeface="Times New Roman"/>
              </a:rPr>
              <a:t>Prioritizes High-Risk Recall over generic accuracy to minimize life-threatening false negatives.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Rigorous Statistical Validation: </a:t>
            </a:r>
            <a:r>
              <a:rPr sz="1550">
                <a:solidFill>
                  <a:srgbClr val="0F172A"/>
                </a:solidFill>
                <a:latin typeface="Times New Roman"/>
              </a:rPr>
              <a:t>Per-class precision, recall, F1-score, and confusion matrices evaluated on 1,043 unseen test images.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Edge Latency Auditing: </a:t>
            </a:r>
            <a:r>
              <a:rPr sz="1550">
                <a:solidFill>
                  <a:srgbClr val="0F172A"/>
                </a:solidFill>
                <a:latin typeface="Times New Roman"/>
              </a:rPr>
              <a:t>End-to-end latency profiled across tensor conversion, denoising, inference, and UI rendering.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Standard Benchmark Alignment: </a:t>
            </a:r>
            <a:r>
              <a:rPr sz="1550">
                <a:solidFill>
                  <a:srgbClr val="0F172A"/>
                </a:solidFill>
                <a:latin typeface="Times New Roman"/>
              </a:rPr>
              <a:t>All metrics benchmarked directly against top-tier SCImago Q1 transportation literature.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Performance Metrics: Classification &amp; Safety Formulations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2240280"/>
          </a:xfrm>
          <a:prstGeom prst="roundRect">
            <a:avLst/>
          </a:prstGeom>
          <a:solidFill>
            <a:srgbClr val="FFFAFA"/>
          </a:solidFill>
          <a:ln w="19050">
            <a:solidFill>
              <a:srgbClr val="DC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493776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Accuracy &amp; Multi-Class Precision</a:t>
            </a:r>
          </a:p>
          <a:p>
            <a:pPr>
              <a:spcAft>
                <a:spcPts val="400"/>
              </a:spcAft>
              <a:defRPr sz="1600" b="1">
                <a:solidFill>
                  <a:srgbClr val="C00000"/>
                </a:solidFill>
                <a:latin typeface="Times New Roman"/>
              </a:defRPr>
            </a:pPr>
            <a:r>
              <a:t>Accuracy = (TP + TN) / (TP + TN + FP + FN)   |   Precision_c = TP_c / (TP_c + FP_c)</a:t>
            </a:r>
          </a:p>
          <a:p>
            <a:pPr>
              <a:defRPr sz="1500">
                <a:solidFill>
                  <a:srgbClr val="0F172A"/>
                </a:solidFill>
                <a:latin typeface="Times New Roman"/>
              </a:defRPr>
            </a:pPr>
            <a:r>
              <a:t>Accuracy measures total correct predictions; Precision ensures triggered collision alerts are genuine.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2240280"/>
          </a:xfrm>
          <a:prstGeom prst="roundRect">
            <a:avLst/>
          </a:prstGeom>
          <a:solidFill>
            <a:srgbClr val="FFFAFA"/>
          </a:solidFill>
          <a:ln w="19050">
            <a:solidFill>
              <a:srgbClr val="DC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325880"/>
            <a:ext cx="4965192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High-Risk Recall (Safety-Critical Metric)</a:t>
            </a:r>
          </a:p>
          <a:p>
            <a:pPr>
              <a:spcAft>
                <a:spcPts val="400"/>
              </a:spcAft>
              <a:defRPr sz="1600" b="1">
                <a:solidFill>
                  <a:srgbClr val="C00000"/>
                </a:solidFill>
                <a:latin typeface="Times New Roman"/>
              </a:defRPr>
            </a:pPr>
            <a:r>
              <a:t>Recall_{High} = TP_{High} / ( TP_{High} + FN_{High} )</a:t>
            </a:r>
          </a:p>
          <a:p>
            <a:pPr>
              <a:defRPr sz="1500">
                <a:solidFill>
                  <a:srgbClr val="0F172A"/>
                </a:solidFill>
                <a:latin typeface="Times New Roman"/>
              </a:defRPr>
            </a:pPr>
            <a:r>
              <a:t>The single most important metric in SafeRoad AI: quantifies the proportion of genuine road hazards successfully caught.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11880"/>
            <a:ext cx="5394960" cy="2240280"/>
          </a:xfrm>
          <a:prstGeom prst="roundRect">
            <a:avLst/>
          </a:prstGeom>
          <a:solidFill>
            <a:srgbClr val="FFFAFA"/>
          </a:solidFill>
          <a:ln w="19050">
            <a:solidFill>
              <a:srgbClr val="DC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493776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Macro-Averaged F1-Score</a:t>
            </a:r>
          </a:p>
          <a:p>
            <a:pPr>
              <a:spcAft>
                <a:spcPts val="400"/>
              </a:spcAft>
              <a:defRPr sz="1600" b="1">
                <a:solidFill>
                  <a:srgbClr val="C00000"/>
                </a:solidFill>
                <a:latin typeface="Times New Roman"/>
              </a:defRPr>
            </a:pPr>
            <a:r>
              <a:t>Macro-F1 = (1 / C) * sum_{c=1}^C [ 2 * (P_c * R_c) / (P_c + R_c) ]</a:t>
            </a:r>
          </a:p>
          <a:p>
            <a:pPr>
              <a:defRPr sz="1500">
                <a:solidFill>
                  <a:srgbClr val="0F172A"/>
                </a:solidFill>
                <a:latin typeface="Times New Roman"/>
              </a:defRPr>
            </a:pPr>
            <a:r>
              <a:t>Treats all risk tiers equally, penalizing models that achieve high accuracy by sacrificing the rare Moderate Risk class.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611880"/>
            <a:ext cx="5422392" cy="2240280"/>
          </a:xfrm>
          <a:prstGeom prst="roundRect">
            <a:avLst/>
          </a:prstGeom>
          <a:solidFill>
            <a:srgbClr val="FFFAFA"/>
          </a:solidFill>
          <a:ln w="19050">
            <a:solidFill>
              <a:srgbClr val="DC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3749040"/>
            <a:ext cx="4965192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Mean Inference Latency (FPS)</a:t>
            </a:r>
          </a:p>
          <a:p>
            <a:pPr>
              <a:spcAft>
                <a:spcPts val="400"/>
              </a:spcAft>
              <a:defRPr sz="1600" b="1">
                <a:solidFill>
                  <a:srgbClr val="C00000"/>
                </a:solidFill>
                <a:latin typeface="Times New Roman"/>
              </a:defRPr>
            </a:pPr>
            <a:r>
              <a:t>Latency = t_{end} - t_{start}  [in ms]   |   FPS = 1000 / Latency_{ms}</a:t>
            </a:r>
          </a:p>
          <a:p>
            <a:pPr>
              <a:defRPr sz="1500">
                <a:solidFill>
                  <a:srgbClr val="0F172A"/>
                </a:solidFill>
                <a:latin typeface="Times New Roman"/>
              </a:defRPr>
            </a:pPr>
            <a:r>
              <a:t>Measures the wall-clock execution time per frame on edge hardware; must be &lt;50 ms (&gt;20 FPS) for real-time collision prevention.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Performance Metrics: Loss &amp; Denoising Formulations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2240280"/>
          </a:xfrm>
          <a:prstGeom prst="roundRect">
            <a:avLst/>
          </a:prstGeom>
          <a:solidFill>
            <a:srgbClr val="FFFAFA"/>
          </a:solidFill>
          <a:ln w="19050">
            <a:solidFill>
              <a:srgbClr val="DC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493776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Class-Weighted Categorical Cross-Entropy Loss</a:t>
            </a:r>
          </a:p>
          <a:p>
            <a:pPr>
              <a:spcAft>
                <a:spcPts val="400"/>
              </a:spcAft>
              <a:defRPr sz="1600" b="1">
                <a:solidFill>
                  <a:srgbClr val="C00000"/>
                </a:solidFill>
                <a:latin typeface="Times New Roman"/>
              </a:defRPr>
            </a:pPr>
            <a:r>
              <a:t>L_{CE} = - (1 / N) * sum_{i=1}^N sum_{c=1}^C w_c * y_{i,c} * log( p_{i,c} )</a:t>
            </a:r>
          </a:p>
          <a:p>
            <a:pPr>
              <a:defRPr sz="1500">
                <a:solidFill>
                  <a:srgbClr val="0F172A"/>
                </a:solidFill>
                <a:latin typeface="Times New Roman"/>
              </a:defRPr>
            </a:pPr>
            <a:r>
              <a:t>Penalizes misclassifications on rare high-risk hazards using inverse-frequency class weights (w_{High} = 4.2).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2240280"/>
          </a:xfrm>
          <a:prstGeom prst="roundRect">
            <a:avLst/>
          </a:prstGeom>
          <a:solidFill>
            <a:srgbClr val="FFFAFA"/>
          </a:solidFill>
          <a:ln w="19050">
            <a:solidFill>
              <a:srgbClr val="DC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325880"/>
            <a:ext cx="4965192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DnCNN Residual Learning Loss</a:t>
            </a:r>
          </a:p>
          <a:p>
            <a:pPr>
              <a:spcAft>
                <a:spcPts val="400"/>
              </a:spcAft>
              <a:defRPr sz="1600" b="1">
                <a:solidFill>
                  <a:srgbClr val="C00000"/>
                </a:solidFill>
                <a:latin typeface="Times New Roman"/>
              </a:defRPr>
            </a:pPr>
            <a:r>
              <a:t>L_{DnCNN}(Theta) = (1 / 2N) * sum_{i=1}^N || R(y_i; Theta) - (y_i - x_i) ||_F^2</a:t>
            </a:r>
          </a:p>
          <a:p>
            <a:pPr>
              <a:defRPr sz="1500">
                <a:solidFill>
                  <a:srgbClr val="0F172A"/>
                </a:solidFill>
                <a:latin typeface="Times New Roman"/>
              </a:defRPr>
            </a:pPr>
            <a:r>
              <a:t>Minimizes the Frobenius norm error between predicted noise residual R(y_i) and true noise (y_i - x_i).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11880"/>
            <a:ext cx="5394960" cy="2240280"/>
          </a:xfrm>
          <a:prstGeom prst="roundRect">
            <a:avLst/>
          </a:prstGeom>
          <a:solidFill>
            <a:srgbClr val="FFFAFA"/>
          </a:solidFill>
          <a:ln w="19050">
            <a:solidFill>
              <a:srgbClr val="DC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493776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Peak Signal-to-Noise Ratio (PSNR)</a:t>
            </a:r>
          </a:p>
          <a:p>
            <a:pPr>
              <a:spcAft>
                <a:spcPts val="400"/>
              </a:spcAft>
              <a:defRPr sz="1600" b="1">
                <a:solidFill>
                  <a:srgbClr val="C00000"/>
                </a:solidFill>
                <a:latin typeface="Times New Roman"/>
              </a:defRPr>
            </a:pPr>
            <a:r>
              <a:t>PSNR = 20 * log10( 255 / sqrt(MSE) )  [in dB]</a:t>
            </a:r>
          </a:p>
          <a:p>
            <a:pPr>
              <a:defRPr sz="1500">
                <a:solidFill>
                  <a:srgbClr val="0F172A"/>
                </a:solidFill>
                <a:latin typeface="Times New Roman"/>
              </a:defRPr>
            </a:pPr>
            <a:r>
              <a:t>Logarithmic ratio between peak signal power and mean squared reconstruction error; &gt;30 dB denotes crisp visual fidelity.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611880"/>
            <a:ext cx="5422392" cy="2240280"/>
          </a:xfrm>
          <a:prstGeom prst="roundRect">
            <a:avLst/>
          </a:prstGeom>
          <a:solidFill>
            <a:srgbClr val="FFFAFA"/>
          </a:solidFill>
          <a:ln w="19050">
            <a:solidFill>
              <a:srgbClr val="DC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3749040"/>
            <a:ext cx="4965192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Structural Similarity Index (SSIM)</a:t>
            </a:r>
          </a:p>
          <a:p>
            <a:pPr>
              <a:spcAft>
                <a:spcPts val="400"/>
              </a:spcAft>
              <a:defRPr sz="1600" b="1">
                <a:solidFill>
                  <a:srgbClr val="C00000"/>
                </a:solidFill>
                <a:latin typeface="Times New Roman"/>
              </a:defRPr>
            </a:pPr>
            <a:r>
              <a:t>SSIM(x, y) = [ (2*mu_x*mu_y + C_1)(2*sigma_xy + C_2) ] / [ (mu_x^2 + mu_y^2 + C_1)(sigma_x^2 + sigma_y^2 + C_2) ]</a:t>
            </a:r>
          </a:p>
          <a:p>
            <a:pPr>
              <a:defRPr sz="1500">
                <a:solidFill>
                  <a:srgbClr val="0F172A"/>
                </a:solidFill>
                <a:latin typeface="Times New Roman"/>
              </a:defRPr>
            </a:pPr>
            <a:r>
              <a:t>Evaluates luminance, contrast, and structural preservation, ensuring road edge contours remain sharp.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Performance Metrics Suitability &amp; Literature Benchmarks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3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Metric Name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Mathematical Nature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Suitability for Road Safety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Literature Reference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Benchmark Threshold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High-Risk Recall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Sensitivity on Class 2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Vital: A missed hazard causes crashes. False alarms cause mild braking.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Kačan et al. (IEEE TITS 2024)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Target: &gt; 78.0%
Achieved: 79.97%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Macro-F1 Score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Unweighted harmonic mean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Forces equal performance across the 11.7:1 imbalanced risk classes.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Marin et al. (IEEE TVT 2023)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Target: &gt; 60.0%
Achieved: 64.79%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Inference Latency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Temporal wall-clock time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Critical: Must execute within 50 ms human reaction headroom.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Al-Qizwini (IEEE TVT 2023)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Target: &lt; 35.0 ms
Achieved: 22.7 ms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PSNR &amp; SSIM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Reconstruction fidelity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Ensures restored frames preserve edge boundaries without smearing.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Zhang et al. (IEEE TIP 2017)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Target: &gt; 30.0 dB
Achieved: 31.2 dB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Deep Learning Architecture: EfficientNetB0 Primary Classifier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Compound Scaling Principle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The Scaling Dilemma: </a:t>
            </a:r>
            <a:r>
              <a:rPr sz="1500">
                <a:solidFill>
                  <a:srgbClr val="0F172A"/>
                </a:solidFill>
                <a:latin typeface="Times New Roman"/>
              </a:rPr>
              <a:t>Conventional CNNs scale depth (ResNet), width (WideResNet), or image resolution arbitrarily, leading to diminishing accuracy returns.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Compound Scaling Formulation: </a:t>
            </a:r>
            <a:r>
              <a:rPr sz="1500">
                <a:solidFill>
                  <a:srgbClr val="0F172A"/>
                </a:solidFill>
                <a:latin typeface="Times New Roman"/>
              </a:rPr>
              <a:t>Uniformly scales depth (d = alpha^phi), width (w = beta^phi), and resolution (r = gamma^phi) using compound coefficient phi.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Resource Constraint Constraint: </a:t>
            </a:r>
            <a:r>
              <a:rPr sz="1500">
                <a:solidFill>
                  <a:srgbClr val="0F172A"/>
                </a:solidFill>
                <a:latin typeface="Times New Roman"/>
              </a:rPr>
              <a:t>alpha * beta^2 * gamma^2 approx 2, ensuring total FLOPs increase by exactly 2^phi for any scaling factor phi.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Optimal Base Coefficients (phi = 1): </a:t>
            </a:r>
            <a:r>
              <a:rPr sz="1500">
                <a:solidFill>
                  <a:srgbClr val="0F172A"/>
                </a:solidFill>
                <a:latin typeface="Times New Roman"/>
              </a:rPr>
              <a:t>alpha = 1.2, beta = 1.1, gamma = 1.15. EfficientNetB0 delivers 79.0% accuracy with only 4.21M parameters.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MBConv Block with Squeeze-and-Excitation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1. Inverted Bottleneck Expansion: </a:t>
            </a:r>
            <a:r>
              <a:rPr sz="1500">
                <a:solidFill>
                  <a:srgbClr val="0F172A"/>
                </a:solidFill>
                <a:latin typeface="Times New Roman"/>
              </a:rPr>
              <a:t>Expands input channels by t=6 via 1x1 Conv + BatchNorm + Swish activation, creating a rich feature representation.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2. Depthwise Convolution (3x3 or 5x5): </a:t>
            </a:r>
            <a:r>
              <a:rPr sz="1500">
                <a:solidFill>
                  <a:srgbClr val="0F172A"/>
                </a:solidFill>
                <a:latin typeface="Times New Roman"/>
              </a:rPr>
              <a:t>Applies spatial convolution to each channel independently, reducing computational cost by 85% vs standard convolutions.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3. Squeeze-and-Excitation Attention: </a:t>
            </a:r>
            <a:r>
              <a:rPr sz="1500">
                <a:solidFill>
                  <a:srgbClr val="0F172A"/>
                </a:solidFill>
                <a:latin typeface="Times New Roman"/>
              </a:rPr>
              <a:t>Global pooling squeezes spatial info; two FC layers compute channel attention weights s = sigmoid(W2 * Swish(W1 * z)) with reduction ratio r=4.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4. Linear Projection &amp; Residual Add: </a:t>
            </a:r>
            <a:r>
              <a:rPr sz="1500">
                <a:solidFill>
                  <a:srgbClr val="0F172A"/>
                </a:solidFill>
                <a:latin typeface="Times New Roman"/>
              </a:rPr>
              <a:t>1x1 Conv projects channels back; residual identity shortcut connects input to output when stride=1.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Deep Learning Architecture: DnCNN Denoising Network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17-Layer Residual Architecture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Layer 1 (Input Block): </a:t>
            </a:r>
            <a:r>
              <a:rPr sz="1500">
                <a:solidFill>
                  <a:srgbClr val="0F172A"/>
                </a:solidFill>
                <a:latin typeface="Times New Roman"/>
              </a:rPr>
              <a:t>Conv(3 -&gt; 64, 3x3, stride=1, pad=1) + ReLU. Extracts 64 feature maps directly from the noisy frame y without BatchNorm.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Layers 2–16 (15 Intermediate Blocks): </a:t>
            </a:r>
            <a:r>
              <a:rPr sz="1500">
                <a:solidFill>
                  <a:srgbClr val="0F172A"/>
                </a:solidFill>
                <a:latin typeface="Times New Roman"/>
              </a:rPr>
              <a:t>15 homogeneous blocks: Conv(64 -&gt; 64, 3x3) + Batch Normalization + ReLU. Zero pooling maintains 224x224 spatial resolution.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Layer 17 (Reconstruction Output): </a:t>
            </a:r>
            <a:r>
              <a:rPr sz="1500">
                <a:solidFill>
                  <a:srgbClr val="0F172A"/>
                </a:solidFill>
                <a:latin typeface="Times New Roman"/>
              </a:rPr>
              <a:t>Conv(64 -&gt; 3, 3x3) outputs the predicted 3-channel noise residual map R(y).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Effective Receptive Field: </a:t>
            </a:r>
            <a:r>
              <a:rPr sz="1500">
                <a:solidFill>
                  <a:srgbClr val="0F172A"/>
                </a:solidFill>
                <a:latin typeface="Times New Roman"/>
              </a:rPr>
              <a:t>Expands linearly: RF = 1 + 2 * 17 = 35x35 pixels, capturing broad spatial noise correlations across road scenes.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Why Residual Learning Excels at Denoising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Residual Mapping Mechanics: </a:t>
            </a:r>
            <a:r>
              <a:rPr sz="1500">
                <a:solidFill>
                  <a:srgbClr val="0F172A"/>
                </a:solidFill>
                <a:latin typeface="Times New Roman"/>
              </a:rPr>
              <a:t>The network is trained to learn the residual noise R(y) approx v = y - x rather than pristine image x directly.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Clean Reconstruction Formula: </a:t>
            </a:r>
            <a:r>
              <a:rPr sz="1500">
                <a:solidFill>
                  <a:srgbClr val="0F172A"/>
                </a:solidFill>
                <a:latin typeface="Times New Roman"/>
              </a:rPr>
              <a:t>x_clean = y - R(y). Pristine road frame is recovered via direct element-wise subtraction.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Simpler Target Distribution: </a:t>
            </a:r>
            <a:r>
              <a:rPr sz="1500">
                <a:solidFill>
                  <a:srgbClr val="0F172A"/>
                </a:solidFill>
                <a:latin typeface="Times New Roman"/>
              </a:rPr>
              <a:t>Natural road scenes have extreme visual complexity; noise residuals are zero-mean, bounded, and easier to optimize.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Compact Edge Deployment: </a:t>
            </a:r>
            <a:r>
              <a:rPr sz="1500">
                <a:solidFill>
                  <a:srgbClr val="0F172A"/>
                </a:solidFill>
                <a:latin typeface="Times New Roman"/>
              </a:rPr>
              <a:t>Contains 559,427 parameters (~2.2 MB memory), operating at 7.1 ms on GPU for real-time streaming.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Architectural Novelty Proposed in SafeRoad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Key Architectural Innovations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1. Upstream Restorative Denoising: </a:t>
            </a:r>
            <a:r>
              <a:rPr sz="1500">
                <a:solidFill>
                  <a:srgbClr val="0F172A"/>
                </a:solidFill>
                <a:latin typeface="Times New Roman"/>
              </a:rPr>
              <a:t>First road risk framework coupling a deep residual denoiser (DnCNN) directly ahead of the classifier, eliminating weather sensor artifacts.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2. EfficientNetB0 Compound Scaling: </a:t>
            </a:r>
            <a:r>
              <a:rPr sz="1500">
                <a:solidFill>
                  <a:srgbClr val="0F172A"/>
                </a:solidFill>
                <a:latin typeface="Times New Roman"/>
              </a:rPr>
              <a:t>Leverages MBConv blocks with Squeeze-and-Excitation to achieve 79.0% accuracy with 5.6x fewer parameters than ResNet-50.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3. Swish Non-Monotonic Activations: </a:t>
            </a:r>
            <a:r>
              <a:rPr sz="1500">
                <a:solidFill>
                  <a:srgbClr val="0F172A"/>
                </a:solidFill>
                <a:latin typeface="Times New Roman"/>
              </a:rPr>
              <a:t>Swish(x) = x * sigmoid(x) avoids dead neuron saturation in deep layers, improving gradient backpropagation on subtle hazard features.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4. Class-Weighted Loss Balancing: </a:t>
            </a:r>
            <a:r>
              <a:rPr sz="1500">
                <a:solidFill>
                  <a:srgbClr val="0F172A"/>
                </a:solidFill>
                <a:latin typeface="Times New Roman"/>
              </a:rPr>
              <a:t>Implements inverse frequency class weights (w_High = 4.2) to overcome the 11.7:1 imbalance without synthesizing artificial road images.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System-Level Advantages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Dual-Stream Vision Architecture: </a:t>
            </a:r>
            <a:r>
              <a:rPr sz="1500">
                <a:solidFill>
                  <a:srgbClr val="0F172A"/>
                </a:solidFill>
                <a:latin typeface="Times New Roman"/>
              </a:rPr>
              <a:t>Single restored frame feeds both the EfficientNetB0 scene classifier and the YOLOv8 object detector in parallel.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Edge Hardware Feasibility: </a:t>
            </a:r>
            <a:r>
              <a:rPr sz="1500">
                <a:solidFill>
                  <a:srgbClr val="0F172A"/>
                </a:solidFill>
                <a:latin typeface="Times New Roman"/>
              </a:rPr>
              <a:t>Combined pipeline (DnCNN 7.1 ms + EfficientNetB0 22.7 ms) runs in under 30 ms, enabling 33 FPS throughput on edge GPUs.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Zero Ground-Truth Distortion: </a:t>
            </a:r>
            <a:r>
              <a:rPr sz="1500">
                <a:solidFill>
                  <a:srgbClr val="0F172A"/>
                </a:solidFill>
                <a:latin typeface="Times New Roman"/>
              </a:rPr>
              <a:t>Residual denoising preserves high-frequency edge gradients (lane markings, guardrails) critical for collision prediction.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Full-Stack Cloud Delivery: </a:t>
            </a:r>
            <a:r>
              <a:rPr sz="1500">
                <a:solidFill>
                  <a:srgbClr val="0F172A"/>
                </a:solidFill>
                <a:latin typeface="Times New Roman"/>
              </a:rPr>
              <a:t>Complete pipeline packaged as a microservices architecture deployed live on Vercel edge networks.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Computational Complexity Analysis: Time &amp; Space Complexity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5833212"/>
              </p:ext>
            </p:extLst>
          </p:nvPr>
        </p:nvGraphicFramePr>
        <p:xfrm>
          <a:off x="548640" y="1188720"/>
          <a:ext cx="11091672" cy="2967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3516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Architecture Component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Total Parameters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FLOPs / MACs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Inference Latency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Memory Footprint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51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DnCNN Denoising Pre-Filter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559,427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1.12 GFLOPs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7.1 ms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~2.2 MB (FP32)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51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EfficientNetB0 Classifier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4,213,926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0.39 GFLOPs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22.7 ms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~16.8 MB (FP32)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51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ResNet-50 Baseline (Comparison)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23,850,371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dirty="0">
                          <a:solidFill>
                            <a:srgbClr val="0F172A"/>
                          </a:solidFill>
                          <a:latin typeface="Times New Roman"/>
                        </a:rPr>
                        <a:t>4.10 GFLOPs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35.9 ms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~95.4 MB (FP32)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51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Combined SafeRoad AI Core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4,773,353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1.51 GFLOPs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29.8 ms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0F172A"/>
                          </a:solidFill>
                          <a:latin typeface="Times New Roman"/>
                        </a:rPr>
                        <a:t>~19.0 MB (FP32)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224527"/>
            <a:ext cx="11091672" cy="1884621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2749" y="4275314"/>
            <a:ext cx="10723454" cy="18338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rPr dirty="0"/>
              <a:t>Big-O Asymptotic Complexity Summary</a:t>
            </a:r>
          </a:p>
          <a:p>
            <a:pPr>
              <a:spcAft>
                <a:spcPts val="600"/>
              </a:spcAft>
            </a:pPr>
            <a:r>
              <a:rPr sz="1500" b="1" dirty="0">
                <a:solidFill>
                  <a:srgbClr val="0F172A"/>
                </a:solidFill>
                <a:latin typeface="Times New Roman"/>
              </a:rPr>
              <a:t>Time Complexity: </a:t>
            </a:r>
            <a:endParaRPr lang="en-IN" sz="1500" b="1" dirty="0">
              <a:solidFill>
                <a:srgbClr val="0F172A"/>
              </a:solidFill>
              <a:latin typeface="Times New Roman"/>
            </a:endParaRPr>
          </a:p>
          <a:p>
            <a:pPr>
              <a:spcAft>
                <a:spcPts val="600"/>
              </a:spcAft>
            </a:pPr>
            <a:r>
              <a:rPr sz="1500" dirty="0" err="1">
                <a:solidFill>
                  <a:srgbClr val="0F172A"/>
                </a:solidFill>
                <a:latin typeface="Times New Roman"/>
              </a:rPr>
              <a:t>Depthwise</a:t>
            </a:r>
            <a:r>
              <a:rPr sz="1500" dirty="0">
                <a:solidFill>
                  <a:srgbClr val="0F172A"/>
                </a:solidFill>
                <a:latin typeface="Times New Roman"/>
              </a:rPr>
              <a:t> separable convolutions reduce MAC operations by 8.5x.</a:t>
            </a:r>
            <a:endParaRPr lang="en-IN" sz="1500" dirty="0">
              <a:solidFill>
                <a:srgbClr val="0F172A"/>
              </a:solidFill>
              <a:latin typeface="Times New Roman"/>
            </a:endParaRPr>
          </a:p>
          <a:p>
            <a:pPr>
              <a:spcAft>
                <a:spcPts val="600"/>
              </a:spcAft>
            </a:pPr>
            <a:endParaRPr sz="1500" dirty="0">
              <a:solidFill>
                <a:srgbClr val="0F172A"/>
              </a:solidFill>
              <a:latin typeface="Times New Roman"/>
            </a:endParaRPr>
          </a:p>
          <a:p>
            <a:pPr>
              <a:spcAft>
                <a:spcPts val="600"/>
              </a:spcAft>
            </a:pPr>
            <a:r>
              <a:rPr sz="1500" b="1" dirty="0">
                <a:solidFill>
                  <a:srgbClr val="0F172A"/>
                </a:solidFill>
                <a:latin typeface="Times New Roman"/>
              </a:rPr>
              <a:t>Space Complexity: </a:t>
            </a:r>
            <a:endParaRPr lang="en-IN" sz="1500" dirty="0">
              <a:solidFill>
                <a:srgbClr val="0F172A"/>
              </a:solidFill>
              <a:latin typeface="Times New Roman"/>
            </a:endParaRP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0F172A"/>
                </a:solidFill>
                <a:latin typeface="Times New Roman"/>
              </a:rPr>
              <a:t> Total 4.21M parameters requires under 17 MB RAM, fitting comfortably in edge caches.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904236-D344-DAF1-B1BD-87F069CDD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696" y="4498726"/>
            <a:ext cx="2347163" cy="4801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E10A60-B8CA-7103-0BE9-5CDA819597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5696" y="5202257"/>
            <a:ext cx="1844200" cy="6317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Algorithm Procedure: Phase 1 — Ingestion &amp; DnCNN Denoising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Phase 1: Ingestion &amp; Degradation Removal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Step 1.1 — Frame Capture: </a:t>
            </a:r>
            <a:r>
              <a:rPr sz="1500">
                <a:solidFill>
                  <a:srgbClr val="0F172A"/>
                </a:solidFill>
                <a:latin typeface="Times New Roman"/>
              </a:rPr>
              <a:t>Dashcam video feed ingested at 1080p RGB; downsampled via bilinear interpolation to tensor y in R^{224 x 224 x 3}.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Step 1.2 — Dynamic Normalization: </a:t>
            </a:r>
            <a:r>
              <a:rPr sz="1500">
                <a:solidFill>
                  <a:srgbClr val="0F172A"/>
                </a:solidFill>
                <a:latin typeface="Times New Roman"/>
              </a:rPr>
              <a:t>Pixel values scaled from [0, 255] to [0.0, 1.0]: y_norm = y / 255.0.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Step 1.3 — Residual Forward Pass: </a:t>
            </a:r>
            <a:r>
              <a:rPr sz="1500">
                <a:solidFill>
                  <a:srgbClr val="0F172A"/>
                </a:solidFill>
                <a:latin typeface="Times New Roman"/>
              </a:rPr>
              <a:t>Feed y_norm through DnCNN: Conv1 -&gt; 15x[Conv + BN + ReLU] -&gt; Conv17 -&gt; R(y_norm).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Step 1.4 — Clean Image Recovery: </a:t>
            </a:r>
            <a:r>
              <a:rPr sz="1500">
                <a:solidFill>
                  <a:srgbClr val="0F172A"/>
                </a:solidFill>
                <a:latin typeface="Times New Roman"/>
              </a:rPr>
              <a:t>Subtract residual noise: x_clean = clip(y_norm - R(y_norm), 0.0, 1.0).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Step 1.5 — Dual-Dispatch Routing: </a:t>
            </a:r>
            <a:r>
              <a:rPr sz="1500">
                <a:solidFill>
                  <a:srgbClr val="0F172A"/>
                </a:solidFill>
                <a:latin typeface="Times New Roman"/>
              </a:rPr>
              <a:t>Cleaned tensor x_clean is duplicated and dispatched to EfficientNetB0 and YOLOv8.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Mathematical Formulation of Step 1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Degradation Model: </a:t>
            </a:r>
            <a:r>
              <a:rPr sz="1500">
                <a:solidFill>
                  <a:srgbClr val="0F172A"/>
                </a:solidFill>
                <a:latin typeface="Times New Roman"/>
              </a:rPr>
              <a:t>y = x + v, where v is unknown multi-modal noise (Gaussian, speckle, blur).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Residual Mapping: </a:t>
            </a:r>
            <a:r>
              <a:rPr sz="1500">
                <a:solidFill>
                  <a:srgbClr val="0F172A"/>
                </a:solidFill>
                <a:latin typeface="Times New Roman"/>
              </a:rPr>
              <a:t>R(y; Theta) approx v. Network minimizes MSE between R(y) and true noise v.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Reconstruction Equality: </a:t>
            </a:r>
            <a:r>
              <a:rPr sz="1500">
                <a:solidFill>
                  <a:srgbClr val="0F172A"/>
                </a:solidFill>
                <a:latin typeface="Times New Roman"/>
              </a:rPr>
              <a:t>x_hat = y - R(y; Theta) = (x + v) - v = x.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Batch Normalization Role: </a:t>
            </a:r>
            <a:r>
              <a:rPr sz="1500">
                <a:solidFill>
                  <a:srgbClr val="0F172A"/>
                </a:solidFill>
                <a:latin typeface="Times New Roman"/>
              </a:rPr>
              <a:t>BN stabilizes internal covariate shift: y_bn = gamma * (x - mu) / sqrt(sigma^2 + eps) + beta.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Quality Check: </a:t>
            </a:r>
            <a:r>
              <a:rPr sz="1500">
                <a:solidFill>
                  <a:srgbClr val="0F172A"/>
                </a:solidFill>
                <a:latin typeface="Times New Roman"/>
              </a:rPr>
              <a:t>Reconstruction achieves &gt;31 dB PSNR across all test conditions.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Algorithm Procedure: Phase 2 — EfficientNetB0 MBConv Feature Extraction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Phase 2: Inverted Bottleneck Forward Pass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Step 2.1 — Stem Convolution: </a:t>
            </a:r>
            <a:r>
              <a:rPr sz="1500">
                <a:solidFill>
                  <a:srgbClr val="0F172A"/>
                </a:solidFill>
                <a:latin typeface="Times New Roman"/>
              </a:rPr>
              <a:t>3x3 Conv with 32 filters, stride=2, followed by BatchNorm and Swish. Downsamples to 112x112x32.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Step 2.2 — Pointwise Expansion: </a:t>
            </a:r>
            <a:r>
              <a:rPr sz="1500">
                <a:solidFill>
                  <a:srgbClr val="0F172A"/>
                </a:solidFill>
                <a:latin typeface="Times New Roman"/>
              </a:rPr>
              <a:t>1x1 Conv expands channel dimension by factor t=6: X_exp = Swish(BN(Conv_{1x1}(X))).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Step 2.3 — Depthwise Convolution: </a:t>
            </a:r>
            <a:r>
              <a:rPr sz="1500">
                <a:solidFill>
                  <a:srgbClr val="0F172A"/>
                </a:solidFill>
                <a:latin typeface="Times New Roman"/>
              </a:rPr>
              <a:t>Applies 3x3 or 5x5 depthwise conv per channel: X_dw = Swish(BN(DWConv_{kxk}(X_exp))).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Step 2.4 — Squeeze-and-Excitation: </a:t>
            </a:r>
            <a:r>
              <a:rPr sz="1500">
                <a:solidFill>
                  <a:srgbClr val="0F172A"/>
                </a:solidFill>
                <a:latin typeface="Times New Roman"/>
              </a:rPr>
              <a:t>Global pooling squeezes spatial dims; two FC layers recalibrate: X_se = X_dw * sigmoid(W2 * Swish(W1 * z)).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Step 2.5 — Linear Projection &amp; Shortcut: </a:t>
            </a:r>
            <a:r>
              <a:rPr sz="1500">
                <a:solidFill>
                  <a:srgbClr val="0F172A"/>
                </a:solidFill>
                <a:latin typeface="Times New Roman"/>
              </a:rPr>
              <a:t>1x1 Conv projects channels: X_proj = BN(Conv_{1x1}(X_se)). If stride=1: Y = X + X_proj.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Mathematical Operators of MBConv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Swish Activation: </a:t>
            </a:r>
            <a:r>
              <a:rPr sz="1500">
                <a:solidFill>
                  <a:srgbClr val="0F172A"/>
                </a:solidFill>
                <a:latin typeface="Times New Roman"/>
              </a:rPr>
              <a:t>Swish(x) = x * sigmoid(beta * x) = x / (1 + e^{-beta * x}). Smooth gradient flow prevents dying neurons.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Squeeze Operator (GAP): </a:t>
            </a:r>
            <a:r>
              <a:rPr sz="1500">
                <a:solidFill>
                  <a:srgbClr val="0F172A"/>
                </a:solidFill>
                <a:latin typeface="Times New Roman"/>
              </a:rPr>
              <a:t>z_c = (1 / HW) * sum_{i=1}^H sum_{j=1}^W X_dw(i, j, c). Captures global channel-wise context.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Excitation Operator: </a:t>
            </a:r>
            <a:r>
              <a:rPr sz="1500">
                <a:solidFill>
                  <a:srgbClr val="0F172A"/>
                </a:solidFill>
                <a:latin typeface="Times New Roman"/>
              </a:rPr>
              <a:t>s = sigmoid(W2 * Swish(W1 * z)), where W1 in R^{(C/4) x C}, W2 in R^{C x (C/4)}.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Depthwise Efficiency: </a:t>
            </a:r>
            <a:r>
              <a:rPr sz="1500">
                <a:solidFill>
                  <a:srgbClr val="0F172A"/>
                </a:solidFill>
                <a:latin typeface="Times New Roman"/>
              </a:rPr>
              <a:t>FLOPs ratio vs standard conv: (k^2 + C_out) / (k^2 * C_out) approx 1/8 to 1/9.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Multi-Stage Hierarchical Stacking: </a:t>
            </a:r>
            <a:r>
              <a:rPr sz="1500">
                <a:solidFill>
                  <a:srgbClr val="0F172A"/>
                </a:solidFill>
                <a:latin typeface="Times New Roman"/>
              </a:rPr>
              <a:t>7 sequential stages progressively extract low-level edges up to semantic collision hazards.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Algorithm Procedure: Phase 3 — Global Pooling &amp; Loss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Phase 3: Decision Head &amp; Inference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Step 3.1 — Global Average Pooling: </a:t>
            </a:r>
            <a:r>
              <a:rPr sz="1500">
                <a:solidFill>
                  <a:srgbClr val="0F172A"/>
                </a:solidFill>
                <a:latin typeface="Times New Roman"/>
              </a:rPr>
              <a:t>Reduces final feature map (7x7x1280) to a 1280-dimensional feature embedding: z = (1/49) sum X_{7x7}.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Step 3.2 — Dropout Regularization: </a:t>
            </a:r>
            <a:r>
              <a:rPr sz="1500">
                <a:solidFill>
                  <a:srgbClr val="0F172A"/>
                </a:solidFill>
                <a:latin typeface="Times New Roman"/>
              </a:rPr>
              <a:t>Randomly zeroes 20% of activations during training (rate=0.20) to prevent feature co-adaptation.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Step 3.3 — Dense Classification Layer: </a:t>
            </a:r>
            <a:r>
              <a:rPr sz="1500">
                <a:solidFill>
                  <a:srgbClr val="0F172A"/>
                </a:solidFill>
                <a:latin typeface="Times New Roman"/>
              </a:rPr>
              <a:t>Fully connected projection: logits = W * z + b, projecting 1280 dims -&gt; 3 output logits.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Step 3.4 — Softmax Probability: </a:t>
            </a:r>
            <a:r>
              <a:rPr sz="1500">
                <a:solidFill>
                  <a:srgbClr val="0F172A"/>
                </a:solidFill>
                <a:latin typeface="Times New Roman"/>
              </a:rPr>
              <a:t>p_c = exp(logits_c) / sum_{j=1}^3 exp(logits_j). Outputs probability vector [p_Safe, p_Moderate, p_High].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Step 3.5 — Safety Priority Decision: </a:t>
            </a:r>
            <a:r>
              <a:rPr sz="1500">
                <a:solidFill>
                  <a:srgbClr val="0F172A"/>
                </a:solidFill>
                <a:latin typeface="Times New Roman"/>
              </a:rPr>
              <a:t>If p_High &gt;= 0.35 -&gt; trigger immediate HIGH-RISK collision warning; else argmax.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Loss Formulation &amp; Gradient Descent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Class-Weighted Loss: </a:t>
            </a:r>
            <a:r>
              <a:rPr sz="1500">
                <a:solidFill>
                  <a:srgbClr val="0F172A"/>
                </a:solidFill>
                <a:latin typeface="Times New Roman"/>
              </a:rPr>
              <a:t>L = - sum_{c=1}^3 w_c * y_c * log(p_c), with w_Safe = 1.0, w_Mod = 3.5, w_High = 4.2.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Softmax Gradient: </a:t>
            </a:r>
            <a:r>
              <a:rPr sz="1500">
                <a:solidFill>
                  <a:srgbClr val="0F172A"/>
                </a:solidFill>
                <a:latin typeface="Times New Roman"/>
              </a:rPr>
              <a:t>dL / d(logits_c) = w_c * (p_c - y_c). Rare high-risk samples exert 4.2x larger gradient updates.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Adam Optimizer Update: </a:t>
            </a:r>
            <a:r>
              <a:rPr sz="1500">
                <a:solidFill>
                  <a:srgbClr val="0F172A"/>
                </a:solidFill>
                <a:latin typeface="Times New Roman"/>
              </a:rPr>
              <a:t>theta_{t+1} = theta_t - (eta / (sqrt(v_hat_t) + eps)) * m_hat_t, with eta = 0.0005, beta_1 = 0.9, beta_2 = 0.999.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Weight Decay Penalty: </a:t>
            </a:r>
            <a:r>
              <a:rPr sz="1500">
                <a:solidFill>
                  <a:srgbClr val="0F172A"/>
                </a:solidFill>
                <a:latin typeface="Times New Roman"/>
              </a:rPr>
              <a:t>L2 regularization term: + (lambda / 2) * ||theta||^2, with lambda = 1e-4.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Convergence Criterion: </a:t>
            </a:r>
            <a:r>
              <a:rPr sz="1500">
                <a:solidFill>
                  <a:srgbClr val="0F172A"/>
                </a:solidFill>
                <a:latin typeface="Times New Roman"/>
              </a:rPr>
              <a:t>Early stopping triggers if validation loss fails to improve for 5 consecutive epochs.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Hyperparameters: Input Processing &amp; Data Augmentation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Hyperparameter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Search Range / Options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Chosen Optimal Value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Engineering Justification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Impact on Convergence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Input Resolution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128x128, 224x224, 300x300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224 x 224 x 3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Matches EfficientNetB0 native compound scale; preserves road signs.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Balances feature resolution and 22.7ms latency.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Pixel Normalization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Min-Max, ImageNet Z-score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Mean/Std Z-score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Normalizes feature distributions to zero-mean and unit-variance.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Accelerates initial gradient descent stability.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Random Horizontal Flip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p in [0.0, 0.5, 0.8]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p = 0.50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Simulates left-hand and right-hand driving orientations in dataset.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Increases generalizability across diverse road layouts.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Random Brightness / Contrast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delta in [0.0, 0.3]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delta = 0.20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Replicates abrupt lighting shifts entering tunnels or bright glare.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Prevents overfitting to specific daytime lighting.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Hyperparameters: Convolutional Backbone &amp; Feature Extraction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Backbone Parameter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Search Space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Chosen Value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Engineering Justification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Architectural Role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MBConv Stages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5, 7, 9 stages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7 Stages (16 Blocks)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Full EfficientNetB0 depth; extracts features from 112x112 to 7x7.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Hierarchical multi-scale feature representation.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Expansion Factor (t)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t in {1, 3, 6}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t = 1 (stage 1), t = 6 (rest)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Expands channel dimension before depthwise spatial filtering.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Allows network to learn rich nonlinear representations.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Kernel Sizes (k)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3x3, 5x5, 7x7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3x3 and 5x5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3x3 for fine textures; 5x5 in deeper stages for large road hazards.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Optimizes receptive field vs parameter count.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Squeeze Reduction (r)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r in {2, 4, 8}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r = 4 (0.25)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Squeezes channel dimensions in SE block to 25% before excitation.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Captures global inter-channel dependencies efficiently.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Hyperparameters: Initializations, Activations &amp; Pooling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9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Parameter Name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Options Tested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Selected Setup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Technical Rationale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Performance Effect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Weight Initialization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Glorot, He Normal, Pretrained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ImageNet-1K Pretrained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Transfers generalized low-level visual features (edges, textures).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Speeds convergence by 4x; boosts recall by 12%.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Activation Function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ReLU, LeakyReLU, Swish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Swish (SiLU)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f(x) = x * sigmoid(x) allows small negative gradients to flow.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Outperforms ReLU on deep MBConv architectures.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Pooling Method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Max-Pool, Flatten, GAP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Global Average Pooling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Reduces 7x7x1280 feature maps to 1280-dim vector without params.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Prevents overfitting; cuts parameter count by 80%.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SE Activation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ReLU + Sigmoid, Swish + Sigmoid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Swish -&gt; Sigmoid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Smooth channel gating between 0.0 and 1.0.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Emphasizes hazard channels while suppressing noise.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Hyperparameters: Normalization, Dense Layers &amp; Dropout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Layer / Parameter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Tuning Range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Optimal Choice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Operational Rationale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Observed Benefit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Batch Normalization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Momentum in [0.90, 0.99]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Momentum = 0.99, eps = 1e-3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Maintains running mean and variance across mini-batches.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Smooths loss landscape; accelerates training.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Dropout Rate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Rate in [0.1, 0.5]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Rate = 0.20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Optimal regularization for 4.21M parameters on 6,949 frames.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Prevents overfitting without underfitting hazard patterns.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Dense Classification Units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128, 256, 512, 3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Direct 1280 -&gt; 3 Classes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Direct linear projection from GAP features to 3 risk tiers.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Eliminates unnecessary parameters; cuts latency.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Softmax Temperature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T in [0.5, 1.0, 2.0]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T = 1.0 (Standard)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Standard calibrated probability distribution over {Safe, Mod, High}.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Well-calibrated probabilities for decision thresholding.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Hyperparameters: Loss Function, Optimization &amp; Weight Decay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Optimization Element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Search Space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Optimal Setting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Engineering Justification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Empirical Outcome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Loss Function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Standard CE, Focal, Weighted CE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Weighted Categorical CE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Weights: Safe=1.0, Mod=3.5, High=4.2 counteracts 11.7:1 imbalance.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Boosts High-Risk Recall to 79.97%.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Optimizer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SGD, RMSprop, Adam, AdamW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Adam (Adaptive Moment)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Adaptive per-parameter learning rates handle sparse road gradients.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Stable convergence without oscillation.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Initial Learning Rate (eta)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1e-5 to 1e-2 (Log uniform)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eta = 0.000554 (Optuna)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Discovered via 50 Optuna Bayesian optimization trials.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Fast initial loss drop without gradient divergence.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Weight Decay (L2)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1e-6 to 1e-3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lambda = 1.0 x 10^-4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Regularizes weight norms, preventing co-adaptation of weights.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Improves validation generalization gap by 3.2%.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Hyperparameters: Learning Schedules, Epochs &amp; Tuning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Scheduling Parameter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Options Tested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Selected Setup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Operational Function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Training Dynamics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Learning Rate Schedule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Step, Exponential, Cosine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Cosine Annealing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Smoothly decays learning rate from 0.000554 to 1e-6 over epochs.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Escapes shallow local minima; refines weights.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Batch Size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8, 16, 32, 64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Batch Size = 16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Optuna optimal: provides adequate stochastic gradient noise.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Fits comfortably in edge GPU VRAM during training.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Total Epochs &amp; Early Stop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20 to 50 Epochs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30 Epochs (Patience = 5)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Stops training when validation loss stops improving for 5 epochs.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Best weights restored at epoch 18; zero overfitting.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Bayesian Search Engine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Random, Grid, TPE (Optuna)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Tree-structured Parzen Estimator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Constructs probabilistic model of loss objective to select trials.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Found optimal hyperparameters in 50 trials (2.4 hours).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Empirical Results: Master Model Comparison (1,043 Test Images)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209751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Model Architecture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Accuracy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Precision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Recall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Macro-F1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High-Risk Recall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Inference Latency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Parameters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Operational Verdict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F172A"/>
                          </a:solidFill>
                          <a:latin typeface="Times New Roman"/>
                        </a:rPr>
                        <a:t>Custom CNN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68.55%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60.24%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55.21%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53.39%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79.19%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5.4 ms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421,699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Fast but high misclassification rate.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F172A"/>
                          </a:solidFill>
                          <a:latin typeface="Times New Roman"/>
                        </a:rPr>
                        <a:t>MobileNetV2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80.82%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67.56%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73.11%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65.87%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85.56%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11.3 ms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2,422,339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Team primary classifier baseline.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F172A"/>
                          </a:solidFill>
                          <a:latin typeface="Times New Roman"/>
                        </a:rPr>
                        <a:t>EfficientNetB0 (Ours)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F172A"/>
                          </a:solidFill>
                          <a:latin typeface="Times New Roman"/>
                        </a:rPr>
                        <a:t>79.00%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F172A"/>
                          </a:solidFill>
                          <a:latin typeface="Times New Roman"/>
                        </a:rPr>
                        <a:t>65.45%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F172A"/>
                          </a:solidFill>
                          <a:latin typeface="Times New Roman"/>
                        </a:rPr>
                        <a:t>72.85%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F172A"/>
                          </a:solidFill>
                          <a:latin typeface="Times New Roman"/>
                        </a:rPr>
                        <a:t>64.79%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F172A"/>
                          </a:solidFill>
                          <a:latin typeface="Times New Roman"/>
                        </a:rPr>
                        <a:t>79.97%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F172A"/>
                          </a:solidFill>
                          <a:latin typeface="Times New Roman"/>
                        </a:rPr>
                        <a:t>22.7 ms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F172A"/>
                          </a:solidFill>
                          <a:latin typeface="Times New Roman"/>
                        </a:rPr>
                        <a:t>4,213,926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F172A"/>
                          </a:solidFill>
                          <a:latin typeface="Times New Roman"/>
                        </a:rPr>
                        <a:t>Featured Model: 94.8% High-Risk Precision!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F172A"/>
                          </a:solidFill>
                          <a:latin typeface="Times New Roman"/>
                        </a:rPr>
                        <a:t>ResNet-50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71.14%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66.51%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72.28%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60.58%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72.20%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35.9 ms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23,850,371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Too heavy for edge; 5.6x larger with lower accuracy.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663440"/>
            <a:ext cx="11091672" cy="1534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4698590"/>
            <a:ext cx="10634472" cy="905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rPr dirty="0"/>
              <a:t>Key Comparative Insights for EfficientNetB0</a:t>
            </a:r>
          </a:p>
          <a:p>
            <a:pPr>
              <a:spcAft>
                <a:spcPts val="600"/>
              </a:spcAft>
            </a:pPr>
            <a:r>
              <a:rPr sz="1500" b="1" dirty="0">
                <a:solidFill>
                  <a:srgbClr val="0F172A"/>
                </a:solidFill>
                <a:latin typeface="Times New Roman"/>
              </a:rPr>
              <a:t>High-Risk Precision Dominance (94.84%): </a:t>
            </a:r>
            <a:r>
              <a:rPr sz="1500" dirty="0">
                <a:solidFill>
                  <a:srgbClr val="0F172A"/>
                </a:solidFill>
                <a:latin typeface="Times New Roman"/>
              </a:rPr>
              <a:t>When EfficientNetB0 triggers a High-Risk collision warning, it is genuine 95% of the time, dramatically reducing false alarm fatigue.</a:t>
            </a:r>
          </a:p>
          <a:p>
            <a:pPr>
              <a:spcAft>
                <a:spcPts val="600"/>
              </a:spcAft>
            </a:pPr>
            <a:r>
              <a:rPr sz="1500" b="1" dirty="0">
                <a:solidFill>
                  <a:srgbClr val="0F172A"/>
                </a:solidFill>
                <a:latin typeface="Times New Roman"/>
              </a:rPr>
              <a:t>5.6x Parameter Reduction vs ResNet-50: </a:t>
            </a:r>
            <a:r>
              <a:rPr sz="1500" dirty="0">
                <a:solidFill>
                  <a:srgbClr val="0F172A"/>
                </a:solidFill>
                <a:latin typeface="Times New Roman"/>
              </a:rPr>
              <a:t>EfficientNetB0 achieved 79.00% accuracy (vs ResNet-50's 71.14%) while requiring 5.6x fewer parameters and 10.5x fewer FLOPs.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Detailed Classification Report: EfficientNetB0 Reliability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9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Risk Tier / Class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Precision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Recall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F1-Score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Test Support (Ground Truth Frames)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Safe (Normal Highway Flow)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85.71%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79.89%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82.70%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353 images (33.8%)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Moderate Risk (Dense Urban)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15.79%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58.70%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24.88%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46 images (4.4%) — Severe real-world rarity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High Risk (Imminent Collision)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94.84%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79.97%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86.77%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644 images (61.7%) — Critical Safety Focus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Accuracy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79.00%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1,043 images (Total Test Set)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Macro Average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65.45%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72.85%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64.79%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1,043 images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663440"/>
            <a:ext cx="11091672" cy="144475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4828032"/>
            <a:ext cx="10634472" cy="905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rPr dirty="0"/>
              <a:t>Safety Interpretation of EfficientNetB0 Results</a:t>
            </a:r>
          </a:p>
          <a:p>
            <a:pPr>
              <a:spcAft>
                <a:spcPts val="600"/>
              </a:spcAft>
            </a:pPr>
            <a:r>
              <a:rPr sz="1500" b="1" dirty="0">
                <a:solidFill>
                  <a:srgbClr val="0F172A"/>
                </a:solidFill>
                <a:latin typeface="Times New Roman"/>
              </a:rPr>
              <a:t>High-Risk Recall of 79.97% (515/644): </a:t>
            </a:r>
            <a:r>
              <a:rPr sz="1500" dirty="0">
                <a:solidFill>
                  <a:srgbClr val="0F172A"/>
                </a:solidFill>
                <a:latin typeface="Times New Roman"/>
              </a:rPr>
              <a:t>Captures 4 out of every 5 imminent hazards with extraordinary 94.84% precision, validating </a:t>
            </a:r>
            <a:r>
              <a:rPr sz="1500" dirty="0" err="1">
                <a:solidFill>
                  <a:srgbClr val="0F172A"/>
                </a:solidFill>
                <a:latin typeface="Times New Roman"/>
              </a:rPr>
              <a:t>MBConv</a:t>
            </a:r>
            <a:r>
              <a:rPr sz="1500" dirty="0">
                <a:solidFill>
                  <a:srgbClr val="0F172A"/>
                </a:solidFill>
                <a:latin typeface="Times New Roman"/>
              </a:rPr>
              <a:t> feature extraction.</a:t>
            </a:r>
          </a:p>
          <a:p>
            <a:pPr>
              <a:spcAft>
                <a:spcPts val="600"/>
              </a:spcAft>
            </a:pPr>
            <a:r>
              <a:rPr sz="1500" b="1" dirty="0">
                <a:solidFill>
                  <a:srgbClr val="0F172A"/>
                </a:solidFill>
                <a:latin typeface="Times New Roman"/>
              </a:rPr>
              <a:t>Safe Class Reliability (85.71% P, 79.89% R): </a:t>
            </a:r>
            <a:r>
              <a:rPr sz="1500" dirty="0">
                <a:solidFill>
                  <a:srgbClr val="0F172A"/>
                </a:solidFill>
                <a:latin typeface="Times New Roman"/>
              </a:rPr>
              <a:t>Correctly identifies 282 clear road scenarios, preventing unwarranted emergency braking.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Empirical Results: EfficientNetB0 Confusion Matrix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5303520" cy="4663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Granular Confusion Matrix Breakdown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True Safe (353 samples): </a:t>
            </a:r>
            <a:r>
              <a:rPr sz="1500">
                <a:solidFill>
                  <a:srgbClr val="0F172A"/>
                </a:solidFill>
                <a:latin typeface="Times New Roman"/>
              </a:rPr>
              <a:t>282 correctly classified as Safe (79.9%); 53 misclassified as Moderate; only 18 misclassified as High Risk.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True Moderate Risk (46 samples): </a:t>
            </a:r>
            <a:r>
              <a:rPr sz="1500">
                <a:solidFill>
                  <a:srgbClr val="0F172A"/>
                </a:solidFill>
                <a:latin typeface="Times New Roman"/>
              </a:rPr>
              <a:t>27 correctly identified (58.7%); 9 misclassified as Safe; 10 upgraded to High Risk (safe failure direction).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True High Risk (644 samples): </a:t>
            </a:r>
            <a:r>
              <a:rPr sz="1500">
                <a:solidFill>
                  <a:srgbClr val="0F172A"/>
                </a:solidFill>
                <a:latin typeface="Times New Roman"/>
              </a:rPr>
              <a:t>515 correctly identified (79.97%); 91 classified as Moderate; only 38 misclassified as Safe.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Zero Catastrophic False Positives: </a:t>
            </a:r>
            <a:r>
              <a:rPr sz="1500">
                <a:solidFill>
                  <a:srgbClr val="0F172A"/>
                </a:solidFill>
                <a:latin typeface="Times New Roman"/>
              </a:rPr>
              <a:t>Only 18 Safe scenes were upgraded to High Risk, demonstrating extraordinary calibration.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Empirical Results: Training Dynamics &amp; Loss Convergence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rainin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5303520" cy="4663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Training Dynamics Observations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Rapid Loss Drop (Epochs 1–5): </a:t>
            </a:r>
            <a:r>
              <a:rPr sz="1500">
                <a:solidFill>
                  <a:srgbClr val="0F172A"/>
                </a:solidFill>
                <a:latin typeface="Times New Roman"/>
              </a:rPr>
              <a:t>Training loss plummeted from 1.08 to 0.42 within 5 epochs due to ImageNet-1K pretrained weights.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Validation Stability (Epochs 6–18): </a:t>
            </a:r>
            <a:r>
              <a:rPr sz="1500">
                <a:solidFill>
                  <a:srgbClr val="0F172A"/>
                </a:solidFill>
                <a:latin typeface="Times New Roman"/>
              </a:rPr>
              <a:t>Validation accuracy rose steadily from 71.4% to 79.0%, with validation loss tracking training loss closely.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Optimal Checkpoint Restored: </a:t>
            </a:r>
            <a:r>
              <a:rPr sz="1500">
                <a:solidFill>
                  <a:srgbClr val="0F172A"/>
                </a:solidFill>
                <a:latin typeface="Times New Roman"/>
              </a:rPr>
              <a:t>Best model weights checkpointed at Epoch 18; early stopping halted training at Epoch 23, avoiding overfitting.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Swish Gradient Health: </a:t>
            </a:r>
            <a:r>
              <a:rPr sz="1500">
                <a:solidFill>
                  <a:srgbClr val="0F172A"/>
                </a:solidFill>
                <a:latin typeface="Times New Roman"/>
              </a:rPr>
              <a:t>Smooth Swish activations maintained steady gradient norms throughout all 16 MBConv blocks.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Empirical Results: DnCNN Denoising Quality Audit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Road Risk Category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Degraded Images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Initial Noisy PSNR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DnCNN Restored PSNR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Quality Gain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High Risk (Rain / Night)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739 images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25.52 dB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31.45 dB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+5.93 dB  (Sharp edge recovery)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Moderate Risk (Dense Urban)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61 images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24.98 dB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30.82 dB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+5.84 dB  (Compression artifact removal)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Safe (Highway Blur)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470 images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24.87 dB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31.10 dB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+6.23 dB  (Motion blur deconvolution)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OVERALL DATASET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1,270 images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25.36 dB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31.22 dB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+5.86 dB  (Enterprise Denoising Fidelity)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663440"/>
            <a:ext cx="11091672" cy="144475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4828032"/>
            <a:ext cx="10634472" cy="905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Audit Interpretation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Sub-26 dB Baseline: </a:t>
            </a:r>
            <a:r>
              <a:rPr sz="1500">
                <a:solidFill>
                  <a:srgbClr val="0F172A"/>
                </a:solidFill>
                <a:latin typeface="Times New Roman"/>
              </a:rPr>
              <a:t>Corresponds to realistic dashcam sensor grain where vehicle contours and road signs are severely degraded.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Post-Denoising Threshold (&gt;31 dB): </a:t>
            </a:r>
            <a:r>
              <a:rPr sz="1500">
                <a:solidFill>
                  <a:srgbClr val="0F172A"/>
                </a:solidFill>
                <a:latin typeface="Times New Roman"/>
              </a:rPr>
              <a:t>Restores clean visual clarity without edge blurring, ready for high-precision EfficientNetB0 classification.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Dataset Selection: Composition &amp; Diversity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Data Source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Image Count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Geographical Coverage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Environmental Conditions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Key Purpose in SafeRoad AI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BDD100K (UC Berkeley)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4,500 images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US Highway &amp; Urban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Clear, Rain, Fog, Night, Snow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Primary multi-weather risk benchmark.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Indian Driving Dataset (IDD)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1,800 images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Indian Cities &amp; Highways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Unstructured traffic, density, pedestrians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Indian road condition validation.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High-Risk YouTube Dashcam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649 images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Global Crash Scenarios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Near-misses, skidding, brake failures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High-risk collision sample enrichment.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TOTAL CONSOLIDATED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6,949 images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Global Multi-Continent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Comprehensive Weather &amp; Lighting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Full Training, Validation, and Test Suite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71948" y="4663440"/>
            <a:ext cx="11168364" cy="144475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4828032"/>
            <a:ext cx="10634472" cy="905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Comprehensive Environmental Metadata Catalog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14 Tagged Metadata Fields: </a:t>
            </a:r>
            <a:r>
              <a:rPr sz="1500">
                <a:solidFill>
                  <a:srgbClr val="0F172A"/>
                </a:solidFill>
                <a:latin typeface="Times New Roman"/>
              </a:rPr>
              <a:t>Each frame is tagged with weather, lighting, road type, obstacle count, pedestrian presence, and risk score.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Real-World Authenticity: </a:t>
            </a:r>
            <a:r>
              <a:rPr sz="1500">
                <a:solidFill>
                  <a:srgbClr val="0F172A"/>
                </a:solidFill>
                <a:latin typeface="Times New Roman"/>
              </a:rPr>
              <a:t>Images reflect unconstrained dashcam cameras with variable resolution, optical distortion, and dynamic lighting.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Dataset Stratified Split &amp; Class Imbalance Handling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Risk Tier / Class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Train Split (60%)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Validation Split (20%)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Test Split (20%)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Total Samples &amp; Distribution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Safe (Clear Flow)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2,354 images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785 images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353 images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3,492 images (50.3%)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Moderate Risk (Urban Congestion)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308 images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103 images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46 images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457 images (6.6%) — Imbalance challenge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High Risk (Critical Hazards)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1,507 images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502 images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644 images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3,000 images (43.1%) — High-priority class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TOTAL ALLOCATIONS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4,169 images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1,390 images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1,043 images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6,949 images (100.0%)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663440"/>
            <a:ext cx="11091672" cy="135534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4828032"/>
            <a:ext cx="10634472" cy="905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Handling Real-World Data Imbalance (11.7:1)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Stratified Sampling: </a:t>
            </a:r>
            <a:r>
              <a:rPr sz="1500">
                <a:solidFill>
                  <a:srgbClr val="0F172A"/>
                </a:solidFill>
                <a:latin typeface="Times New Roman"/>
              </a:rPr>
              <a:t>Fixed random seed (seed=42) preserves identical risk ratios across Train, Validation, and Test sets.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Inverse-Frequency Class Weights: </a:t>
            </a:r>
            <a:r>
              <a:rPr sz="1500">
                <a:solidFill>
                  <a:srgbClr val="0F172A"/>
                </a:solidFill>
                <a:latin typeface="Times New Roman"/>
              </a:rPr>
              <a:t>Loss weights (w_Safe=1.0, w_Mod=3.5, w_High=4.2) force EfficientNetB0 to heavily penalize high-risk errors.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Dataset Novelty &amp; IEEE DataPort Publication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Curated Dataset Novelty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1. Multi-Regional Synthesis: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First benchmark combining American highway dynamics (BDD100K) with unstructured Indian urban chaos (IDD).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2. Real Crash Scenario Inclusion: </a:t>
            </a:r>
            <a:r>
              <a:rPr sz="1550">
                <a:solidFill>
                  <a:srgbClr val="0F172A"/>
                </a:solidFill>
                <a:latin typeface="Times New Roman"/>
              </a:rPr>
              <a:t>Incorporates 649 authentic collision sequences extracted from real-world dashcam telemetry.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3. Synthetic Degradation Subset: </a:t>
            </a:r>
            <a:r>
              <a:rPr sz="1550">
                <a:solidFill>
                  <a:srgbClr val="0F172A"/>
                </a:solidFill>
                <a:latin typeface="Times New Roman"/>
              </a:rPr>
              <a:t>1,270 paired clean-noisy frames enabling simultaneous evaluation of denoising and classification.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4. Granular Metadata Richness: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14 structured metadata attributes per frame, enabling multi-task safety research.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IEEE DataPort Submission Blueprint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Target Repository: </a:t>
            </a:r>
            <a:r>
              <a:rPr sz="1550">
                <a:solidFill>
                  <a:srgbClr val="0F172A"/>
                </a:solidFill>
                <a:latin typeface="Times New Roman"/>
              </a:rPr>
              <a:t>IEEE DataPort Open Access Repository (Directly accessible to global researchers).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Dataset Title: </a:t>
            </a:r>
            <a:r>
              <a:rPr sz="1550">
                <a:solidFill>
                  <a:srgbClr val="0F172A"/>
                </a:solidFill>
                <a:latin typeface="Times New Roman"/>
              </a:rPr>
              <a:t>SafeRoad-AI: Multi-Regional Road Hazard Classification and Dashcam Denoising Benchmark.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Structure &amp; Format: </a:t>
            </a:r>
            <a:r>
              <a:rPr sz="1550">
                <a:solidFill>
                  <a:srgbClr val="0F172A"/>
                </a:solidFill>
                <a:latin typeface="Times New Roman"/>
              </a:rPr>
              <a:t>PNG frames organized in train/val/test folders alongside standardized metadata.json and ground_truth.csv.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License &amp; Citations: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CC BY 4.0 Creative Commons Attribution license, maximizing academic impact and citations.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UI Screens Planned: Full-Stack Web Platform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Frontend Architecture (React 18 + Tailwind)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Glassmorphic Dark Mode: </a:t>
            </a:r>
            <a:r>
              <a:rPr sz="1550">
                <a:solidFill>
                  <a:srgbClr val="0F172A"/>
                </a:solidFill>
                <a:latin typeface="Times New Roman"/>
              </a:rPr>
              <a:t>Engineered by U Veeranjaneyulu: sleek dark aesthetic (#0B0F19 background, #1E293B cards) with vibrant hazard badges.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Responsive Layout: </a:t>
            </a:r>
            <a:r>
              <a:rPr sz="1550">
                <a:solidFill>
                  <a:srgbClr val="0F172A"/>
                </a:solidFill>
                <a:latin typeface="Times New Roman"/>
              </a:rPr>
              <a:t>Fluid Tailwind grid adapts across infotainment touchscreens, smartphones, and operations centers.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Dynamic Micro-Animations: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Framer Motion powers smooth page transitions, animated risk gauges, and interactive hover feedback.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Live Web Deployment: </a:t>
            </a:r>
            <a:r>
              <a:rPr sz="1550">
                <a:solidFill>
                  <a:srgbClr val="0F172A"/>
                </a:solidFill>
                <a:latin typeface="Times New Roman"/>
              </a:rPr>
              <a:t>Deployed globally on Vercel edge networks: https://saferoad-ai-one.vercel.app/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Backend API &amp; Inference Pipeline (Flask)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REST API Architecture: </a:t>
            </a:r>
            <a:r>
              <a:rPr sz="1550">
                <a:solidFill>
                  <a:srgbClr val="0F172A"/>
                </a:solidFill>
                <a:latin typeface="Times New Roman"/>
              </a:rPr>
              <a:t>High-throughput endpoints (/api/predict, /api/models, /api/stats) with full CORS support.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Multi-Model Concurrency: </a:t>
            </a:r>
            <a:r>
              <a:rPr sz="1550">
                <a:solidFill>
                  <a:srgbClr val="0F172A"/>
                </a:solidFill>
                <a:latin typeface="Times New Roman"/>
              </a:rPr>
              <a:t>Uploaded frames run through DnCNN restoration, EfficientNetB0 classification, and YOLOv8 detection.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Sub-50ms API Roundtrip: </a:t>
            </a:r>
            <a:r>
              <a:rPr sz="1550">
                <a:solidFill>
                  <a:srgbClr val="0F172A"/>
                </a:solidFill>
                <a:latin typeface="Times New Roman"/>
              </a:rPr>
              <a:t>Optimized tensor batching ensures roundtrip latency remains under 50 ms over standard 4G/5G networks.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Intelligent Safety Advisor: </a:t>
            </a:r>
            <a:r>
              <a:rPr sz="1550">
                <a:solidFill>
                  <a:srgbClr val="0F172A"/>
                </a:solidFill>
                <a:latin typeface="Times New Roman"/>
              </a:rPr>
              <a:t>Generates real-time driver recommendations based on predicted risk and detected traffic density.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UI Screen 1: Home &amp; Landing Portal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ui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685800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188720"/>
            <a:ext cx="4050791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18120" y="1353312"/>
            <a:ext cx="3593591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Home Portal Key Features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Hero Showcase: </a:t>
            </a:r>
            <a:r>
              <a:rPr sz="1550">
                <a:solidFill>
                  <a:srgbClr val="0F172A"/>
                </a:solidFill>
                <a:latin typeface="Times New Roman"/>
              </a:rPr>
              <a:t>Prominently displays 'Predict Risks. Prevent Accidents.' with quick CTAs for live predictions and analytics.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Key Feature Badges: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Highlights Edge-AI capability, adverse weather robustness, and proactive collision avoidance.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Pipeline Workflow: </a:t>
            </a:r>
            <a:r>
              <a:rPr sz="1550">
                <a:solidFill>
                  <a:srgbClr val="0F172A"/>
                </a:solidFill>
                <a:latin typeface="Times New Roman"/>
              </a:rPr>
              <a:t>Presents the 4-step user workflow: Capture, Detect, Analyze, and Alert.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Live Web Access: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https://saferoad-ai-one.vercel.app/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UI Screen 2: Real-Time Risk Prediction Portal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0" y="1188720"/>
            <a:ext cx="4050791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18120" y="1353312"/>
            <a:ext cx="3593591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Prediction Portal Capabilities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Flexible Input Ingestion: </a:t>
            </a:r>
            <a:r>
              <a:rPr sz="1550">
                <a:solidFill>
                  <a:srgbClr val="0F172A"/>
                </a:solidFill>
                <a:latin typeface="Times New Roman"/>
              </a:rPr>
              <a:t>Upload custom dashcam frames or select curated benchmark samples (Rain, Fog, Night, Highway).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Animated Risk Gauges: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Displays real-time probability meters for Safe (Green), Moderate Risk (Amber), and High Risk (Red).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Model Comparison Toggle: </a:t>
            </a:r>
            <a:r>
              <a:rPr sz="1550">
                <a:solidFill>
                  <a:srgbClr val="0F172A"/>
                </a:solidFill>
                <a:latin typeface="Times New Roman"/>
              </a:rPr>
              <a:t>Switch between EfficientNetB0, MobileNetV2, and Custom CNN to compare predictions in real time.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Driver Safety Advice: </a:t>
            </a:r>
            <a:r>
              <a:rPr sz="1550">
                <a:solidFill>
                  <a:srgbClr val="0F172A"/>
                </a:solidFill>
                <a:latin typeface="Times New Roman"/>
              </a:rPr>
              <a:t>Generates instant advice (e.g., 'Heavy Rain Detected — Reduce Speed to 30 km/h').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9EC69B5-D2C5-1576-20AE-94DFA09AF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062" y="1028041"/>
            <a:ext cx="6788690" cy="490453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UI Screen 3: Traffic Analytics &amp; Model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0" y="1188720"/>
            <a:ext cx="4050791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18120" y="1353312"/>
            <a:ext cx="3593591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Analytics Dashboard Highlights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Key KPI Metric Cards: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Live counters showing Total Inferences, Mean Latency (22.7 ms), Accuracy (79.00%), and High-Risk Precision (94.84%).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Interactive Recharts: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Renders historical risk distributions and comparative model latency benchmarks.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Traffic Composition: </a:t>
            </a:r>
            <a:r>
              <a:rPr sz="1550">
                <a:solidFill>
                  <a:srgbClr val="0F172A"/>
                </a:solidFill>
                <a:latin typeface="Times New Roman"/>
              </a:rPr>
              <a:t>Visualizes vehicle counts, pedestrian counts, and weather correlations over time.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C73D55-2A99-8DF8-F10A-CD03C9B376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36" y="1095248"/>
            <a:ext cx="7256384" cy="487255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UI Screen 4: Dataset Explorer &amp; Metadata Catalog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0" y="1188720"/>
            <a:ext cx="4050791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18120" y="1353312"/>
            <a:ext cx="3593591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Dataset Catalog Capabilities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Multi-Class Filtering: </a:t>
            </a:r>
            <a:r>
              <a:rPr sz="1550">
                <a:solidFill>
                  <a:srgbClr val="0F172A"/>
                </a:solidFill>
                <a:latin typeface="Times New Roman"/>
              </a:rPr>
              <a:t>Filter 6,949 images by Risk Label (Safe / Moderate / High) and Source (BDD100K / IDD / YouTube).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Granular Inspection: </a:t>
            </a:r>
            <a:r>
              <a:rPr sz="1550">
                <a:solidFill>
                  <a:srgbClr val="0F172A"/>
                </a:solidFill>
                <a:latin typeface="Times New Roman"/>
              </a:rPr>
              <a:t>Click on any frame to inspect its 14 metadata tags (weather, lighting, vehicles, signs).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Direct Benchmark Link: </a:t>
            </a:r>
            <a:r>
              <a:rPr sz="1550">
                <a:solidFill>
                  <a:srgbClr val="0F172A"/>
                </a:solidFill>
                <a:latin typeface="Times New Roman"/>
              </a:rPr>
              <a:t>One-click access to download datasets directly from the IEEE DataPort repository.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5C309E-8037-F39E-473E-D04F5BBDC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289" y="1219708"/>
            <a:ext cx="6392691" cy="4700016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Denosing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How Noise is Added to the Dataset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Degradation Formulation: </a:t>
            </a:r>
            <a:r>
              <a:rPr sz="1500">
                <a:solidFill>
                  <a:srgbClr val="0F172A"/>
                </a:solidFill>
                <a:latin typeface="Times New Roman"/>
              </a:rPr>
              <a:t>Clean dashcam images x are corrupted to produce degraded pairs y = D(x; theta) = x + v, where v is synthetic noise.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Supervised Pair Generation: </a:t>
            </a:r>
            <a:r>
              <a:rPr sz="1500">
                <a:solidFill>
                  <a:srgbClr val="0F172A"/>
                </a:solidFill>
                <a:latin typeface="Times New Roman"/>
              </a:rPr>
              <a:t>Clean ground-truth frames (x_i) and synthetically corrupted frames (y_i) form training pairs (y_i, x_i) for the deep denoiser.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Stratified Dataset Sampling: </a:t>
            </a:r>
            <a:r>
              <a:rPr sz="1500">
                <a:solidFill>
                  <a:srgbClr val="0F172A"/>
                </a:solidFill>
                <a:latin typeface="Times New Roman"/>
              </a:rPr>
              <a:t>Applied across 1,270 images from SafeRoad-AI: 739 High Risk, 61 Moderate Risk, and 470 Safe road condition frames.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Deterministic Reproducibility: </a:t>
            </a:r>
            <a:r>
              <a:rPr sz="1500">
                <a:solidFill>
                  <a:srgbClr val="0F172A"/>
                </a:solidFill>
                <a:latin typeface="Times New Roman"/>
              </a:rPr>
              <a:t>Controlled via fixed random seed (seed = 42) ensuring rigorous train/val/test splits without cross-set leakage.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Preservation of Ground Truth: </a:t>
            </a:r>
            <a:r>
              <a:rPr sz="1500">
                <a:solidFill>
                  <a:srgbClr val="0F172A"/>
                </a:solidFill>
                <a:latin typeface="Times New Roman"/>
              </a:rPr>
              <a:t>Hazard labels and risk ratings remain anchored to x_i to evaluate post-denoising classification fidelity.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Synthetic Noise Injection Modalities Added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1. Gaussian Noise (Thermal Sensor): </a:t>
            </a:r>
            <a:r>
              <a:rPr sz="1500">
                <a:solidFill>
                  <a:srgbClr val="0F172A"/>
                </a:solidFill>
                <a:latin typeface="Times New Roman"/>
              </a:rPr>
              <a:t>y = x + n, where n ~ N(0, sigma^2), with sigma in [15, 30]. Simulates low-light sensor amplifier noise and nighttime shot noise.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2. Salt-and-Pepper (Impulsive): </a:t>
            </a:r>
            <a:r>
              <a:rPr sz="1500">
                <a:solidFill>
                  <a:srgbClr val="0F172A"/>
                </a:solidFill>
                <a:latin typeface="Times New Roman"/>
              </a:rPr>
              <a:t>Random pixels set to 0 or 255 with probability p in [0.01, 0.04]. Models dead/stuck sensor pixels and ADC bit-flip transmission errors.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3. Motion Blur (Road Vibration): </a:t>
            </a:r>
            <a:r>
              <a:rPr sz="1500">
                <a:solidFill>
                  <a:srgbClr val="0F172A"/>
                </a:solidFill>
                <a:latin typeface="Times New Roman"/>
              </a:rPr>
              <a:t>Convolved with horizontal 1D kernel K of size k in {5, 7, 9}: y = x * K. Simulates vehicle vibration over potholes and rapid turning.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4. Lossy Compression Artifacts: </a:t>
            </a:r>
            <a:r>
              <a:rPr sz="1500">
                <a:solidFill>
                  <a:srgbClr val="0F172A"/>
                </a:solidFill>
                <a:latin typeface="Times New Roman"/>
              </a:rPr>
              <a:t>Re-encoded using JPEG/H.264 discrete cosine transform at quality Q in [40, 70]. Replicates bandwidth-constrained dashcam video streams.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Deep learning Models for Denoising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28245" y="1060786"/>
            <a:ext cx="11091672" cy="169839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108914"/>
            <a:ext cx="10634472" cy="1042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rPr dirty="0"/>
              <a:t>Identified Model: </a:t>
            </a:r>
            <a:r>
              <a:rPr dirty="0" err="1"/>
              <a:t>DnCNN</a:t>
            </a:r>
            <a:r>
              <a:rPr dirty="0"/>
              <a:t> (Deep Convolutional Neural Network for Image Denoising)</a:t>
            </a:r>
          </a:p>
          <a:p>
            <a:pPr>
              <a:spcAft>
                <a:spcPts val="600"/>
              </a:spcAft>
            </a:pPr>
            <a:r>
              <a:rPr sz="1450" b="1" dirty="0">
                <a:solidFill>
                  <a:srgbClr val="0F172A"/>
                </a:solidFill>
                <a:latin typeface="Times New Roman"/>
              </a:rPr>
              <a:t>Reference Citation: </a:t>
            </a:r>
            <a:r>
              <a:rPr sz="1450" dirty="0">
                <a:solidFill>
                  <a:srgbClr val="0F172A"/>
                </a:solidFill>
                <a:latin typeface="Times New Roman"/>
              </a:rPr>
              <a:t>Kai Zhang, </a:t>
            </a:r>
            <a:r>
              <a:rPr sz="1450" dirty="0" err="1">
                <a:solidFill>
                  <a:srgbClr val="0F172A"/>
                </a:solidFill>
                <a:latin typeface="Times New Roman"/>
              </a:rPr>
              <a:t>Wangmeng</a:t>
            </a:r>
            <a:r>
              <a:rPr sz="1450" dirty="0">
                <a:solidFill>
                  <a:srgbClr val="0F172A"/>
                </a:solidFill>
                <a:latin typeface="Times New Roman"/>
              </a:rPr>
              <a:t> Zuo, </a:t>
            </a:r>
            <a:r>
              <a:rPr sz="1450" dirty="0" err="1">
                <a:solidFill>
                  <a:srgbClr val="0F172A"/>
                </a:solidFill>
                <a:latin typeface="Times New Roman"/>
              </a:rPr>
              <a:t>Yunjin</a:t>
            </a:r>
            <a:r>
              <a:rPr sz="1450" dirty="0">
                <a:solidFill>
                  <a:srgbClr val="0F172A"/>
                </a:solidFill>
                <a:latin typeface="Times New Roman"/>
              </a:rPr>
              <a:t> Chen, </a:t>
            </a:r>
            <a:r>
              <a:rPr sz="1450" dirty="0" err="1">
                <a:solidFill>
                  <a:srgbClr val="0F172A"/>
                </a:solidFill>
                <a:latin typeface="Times New Roman"/>
              </a:rPr>
              <a:t>Deyu</a:t>
            </a:r>
            <a:r>
              <a:rPr sz="1450" dirty="0">
                <a:solidFill>
                  <a:srgbClr val="0F172A"/>
                </a:solidFill>
                <a:latin typeface="Times New Roman"/>
              </a:rPr>
              <a:t> Meng, and Lei Zhang, 'Beyond a Gaussian Denoiser: Residual Learning of Deep CNN for Image Denoising', IEEE Transactions on Image Processing (TIP), Vol. 26, No. 7, pp. 3142–3155, 2017.</a:t>
            </a:r>
          </a:p>
          <a:p>
            <a:pPr>
              <a:spcAft>
                <a:spcPts val="600"/>
              </a:spcAft>
            </a:pPr>
            <a:r>
              <a:rPr sz="1450" b="1" dirty="0">
                <a:solidFill>
                  <a:srgbClr val="0F172A"/>
                </a:solidFill>
                <a:latin typeface="Times New Roman"/>
              </a:rPr>
              <a:t>Official GitHub Repository: </a:t>
            </a:r>
            <a:r>
              <a:rPr sz="1450" dirty="0">
                <a:solidFill>
                  <a:srgbClr val="0F172A"/>
                </a:solidFill>
                <a:latin typeface="Times New Roman"/>
              </a:rPr>
              <a:t>https://github.com/cszn/DnCNN  (Official </a:t>
            </a:r>
            <a:r>
              <a:rPr sz="1450" dirty="0" err="1">
                <a:solidFill>
                  <a:srgbClr val="0F172A"/>
                </a:solidFill>
                <a:latin typeface="Times New Roman"/>
              </a:rPr>
              <a:t>PyTorch</a:t>
            </a:r>
            <a:r>
              <a:rPr sz="1450" dirty="0">
                <a:solidFill>
                  <a:srgbClr val="0F172A"/>
                </a:solidFill>
                <a:latin typeface="Times New Roman"/>
              </a:rPr>
              <a:t> &amp; </a:t>
            </a:r>
            <a:r>
              <a:rPr sz="1450" dirty="0" err="1">
                <a:solidFill>
                  <a:srgbClr val="0F172A"/>
                </a:solidFill>
                <a:latin typeface="Times New Roman"/>
              </a:rPr>
              <a:t>MatConvNet</a:t>
            </a:r>
            <a:r>
              <a:rPr sz="1450" dirty="0">
                <a:solidFill>
                  <a:srgbClr val="0F172A"/>
                </a:solidFill>
                <a:latin typeface="Times New Roman"/>
              </a:rPr>
              <a:t> Implementation by Author)</a:t>
            </a:r>
          </a:p>
          <a:p>
            <a:pPr>
              <a:spcAft>
                <a:spcPts val="600"/>
              </a:spcAft>
            </a:pPr>
            <a:r>
              <a:rPr sz="1450" b="1" dirty="0">
                <a:solidFill>
                  <a:srgbClr val="0F172A"/>
                </a:solidFill>
                <a:latin typeface="Times New Roman"/>
              </a:rPr>
              <a:t>Project Implementation URL: </a:t>
            </a:r>
            <a:r>
              <a:rPr sz="1450" dirty="0">
                <a:solidFill>
                  <a:srgbClr val="0F172A"/>
                </a:solidFill>
                <a:latin typeface="Times New Roman"/>
              </a:rPr>
              <a:t>https://github.com/Uppara-Veeranjaneyulu/SafeRoad-AI/tree/main/backend  (Integrated </a:t>
            </a:r>
            <a:r>
              <a:rPr sz="1450" dirty="0" err="1">
                <a:solidFill>
                  <a:srgbClr val="0F172A"/>
                </a:solidFill>
                <a:latin typeface="Times New Roman"/>
              </a:rPr>
              <a:t>SafeRoad</a:t>
            </a:r>
            <a:r>
              <a:rPr sz="1450" dirty="0">
                <a:solidFill>
                  <a:srgbClr val="0F172A"/>
                </a:solidFill>
                <a:latin typeface="Times New Roman"/>
              </a:rPr>
              <a:t> AI Denoising Pipeline)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9100" y="2836852"/>
            <a:ext cx="5547360" cy="3321386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3006164"/>
            <a:ext cx="4937760" cy="2825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rPr dirty="0" err="1"/>
              <a:t>DnCNN</a:t>
            </a:r>
            <a:r>
              <a:rPr dirty="0"/>
              <a:t> 17-Layer Architecture Details</a:t>
            </a:r>
          </a:p>
          <a:p>
            <a:pPr>
              <a:spcAft>
                <a:spcPts val="600"/>
              </a:spcAft>
            </a:pPr>
            <a:r>
              <a:rPr sz="1450" b="1" dirty="0">
                <a:solidFill>
                  <a:srgbClr val="0F172A"/>
                </a:solidFill>
                <a:latin typeface="Times New Roman"/>
              </a:rPr>
              <a:t>Layer 1 (Conv + </a:t>
            </a:r>
            <a:r>
              <a:rPr sz="1450" b="1" dirty="0" err="1">
                <a:solidFill>
                  <a:srgbClr val="0F172A"/>
                </a:solidFill>
                <a:latin typeface="Times New Roman"/>
              </a:rPr>
              <a:t>ReLU</a:t>
            </a:r>
            <a:r>
              <a:rPr sz="1450" b="1" dirty="0">
                <a:solidFill>
                  <a:srgbClr val="0F172A"/>
                </a:solidFill>
                <a:latin typeface="Times New Roman"/>
              </a:rPr>
              <a:t>): </a:t>
            </a:r>
            <a:r>
              <a:rPr sz="1450" dirty="0">
                <a:solidFill>
                  <a:srgbClr val="0F172A"/>
                </a:solidFill>
                <a:latin typeface="Times New Roman"/>
              </a:rPr>
              <a:t>64 filters of 3x3x3 operate on noisy frame y (stride=1, pad=1). Extracts 64 feature representations without </a:t>
            </a:r>
            <a:r>
              <a:rPr sz="1450" dirty="0" err="1">
                <a:solidFill>
                  <a:srgbClr val="0F172A"/>
                </a:solidFill>
                <a:latin typeface="Times New Roman"/>
              </a:rPr>
              <a:t>BatchNorm</a:t>
            </a:r>
            <a:r>
              <a:rPr sz="1450" dirty="0">
                <a:solidFill>
                  <a:srgbClr val="0F172A"/>
                </a:solidFill>
                <a:latin typeface="Times New Roman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450" b="1" dirty="0">
                <a:solidFill>
                  <a:srgbClr val="0F172A"/>
                </a:solidFill>
                <a:latin typeface="Times New Roman"/>
              </a:rPr>
              <a:t>Layers 2–16 (15x Conv + BN + </a:t>
            </a:r>
            <a:r>
              <a:rPr sz="1450" b="1" dirty="0" err="1">
                <a:solidFill>
                  <a:srgbClr val="0F172A"/>
                </a:solidFill>
                <a:latin typeface="Times New Roman"/>
              </a:rPr>
              <a:t>ReLU</a:t>
            </a:r>
            <a:r>
              <a:rPr sz="1450" b="1" dirty="0">
                <a:solidFill>
                  <a:srgbClr val="0F172A"/>
                </a:solidFill>
                <a:latin typeface="Times New Roman"/>
              </a:rPr>
              <a:t>): </a:t>
            </a:r>
            <a:r>
              <a:rPr sz="1450" dirty="0">
                <a:solidFill>
                  <a:srgbClr val="0F172A"/>
                </a:solidFill>
                <a:latin typeface="Times New Roman"/>
              </a:rPr>
              <a:t>15 homogeneous residual blocks: Conv(64 -&gt; 64, 3x3) + Batch Normalization + </a:t>
            </a:r>
            <a:r>
              <a:rPr sz="1450" dirty="0" err="1">
                <a:solidFill>
                  <a:srgbClr val="0F172A"/>
                </a:solidFill>
                <a:latin typeface="Times New Roman"/>
              </a:rPr>
              <a:t>ReLU</a:t>
            </a:r>
            <a:r>
              <a:rPr sz="1450" dirty="0">
                <a:solidFill>
                  <a:srgbClr val="0F172A"/>
                </a:solidFill>
                <a:latin typeface="Times New Roman"/>
              </a:rPr>
              <a:t>. Zero pooling maintains 224x224 spatial resolution.</a:t>
            </a:r>
          </a:p>
          <a:p>
            <a:pPr>
              <a:spcAft>
                <a:spcPts val="600"/>
              </a:spcAft>
            </a:pPr>
            <a:r>
              <a:rPr sz="1450" b="1" dirty="0">
                <a:solidFill>
                  <a:srgbClr val="0F172A"/>
                </a:solidFill>
                <a:latin typeface="Times New Roman"/>
              </a:rPr>
              <a:t>Layer 17 (Residual Output): </a:t>
            </a:r>
            <a:r>
              <a:rPr sz="1450" dirty="0">
                <a:solidFill>
                  <a:srgbClr val="0F172A"/>
                </a:solidFill>
                <a:latin typeface="Times New Roman"/>
              </a:rPr>
              <a:t>Conv(64 -&gt; 3, 3x3) reconstructs the 3-channel residual noise map R(y).</a:t>
            </a:r>
          </a:p>
          <a:p>
            <a:pPr>
              <a:spcAft>
                <a:spcPts val="600"/>
              </a:spcAft>
            </a:pPr>
            <a:r>
              <a:rPr sz="1450" b="1" dirty="0">
                <a:solidFill>
                  <a:srgbClr val="0F172A"/>
                </a:solidFill>
                <a:latin typeface="Times New Roman"/>
              </a:rPr>
              <a:t>Effective Receptive Field: </a:t>
            </a:r>
            <a:r>
              <a:rPr sz="1450" dirty="0">
                <a:solidFill>
                  <a:srgbClr val="0F172A"/>
                </a:solidFill>
                <a:latin typeface="Times New Roman"/>
              </a:rPr>
              <a:t>Expands linearly: RF = 1 + 2 * 17 = 35x35 pixels, capturing broad spatial noise correlations across road scenes.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2952" y="2836852"/>
            <a:ext cx="5547360" cy="3295986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5560" y="2967506"/>
            <a:ext cx="4965192" cy="2825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rPr dirty="0"/>
              <a:t>Residual Learning Formulation &amp; Edge Specs</a:t>
            </a:r>
          </a:p>
          <a:p>
            <a:pPr>
              <a:spcAft>
                <a:spcPts val="600"/>
              </a:spcAft>
            </a:pPr>
            <a:r>
              <a:rPr sz="1450" b="1" dirty="0">
                <a:solidFill>
                  <a:srgbClr val="0F172A"/>
                </a:solidFill>
                <a:latin typeface="Times New Roman"/>
              </a:rPr>
              <a:t>Residual Mapping Mechanics: </a:t>
            </a:r>
            <a:r>
              <a:rPr sz="1450" dirty="0">
                <a:solidFill>
                  <a:srgbClr val="0F172A"/>
                </a:solidFill>
                <a:latin typeface="Times New Roman"/>
              </a:rPr>
              <a:t>The network is trained to learn the residual noise R(y) </a:t>
            </a:r>
            <a:r>
              <a:rPr sz="1450" dirty="0" err="1">
                <a:solidFill>
                  <a:srgbClr val="0F172A"/>
                </a:solidFill>
                <a:latin typeface="Times New Roman"/>
              </a:rPr>
              <a:t>approx</a:t>
            </a:r>
            <a:r>
              <a:rPr sz="1450" dirty="0">
                <a:solidFill>
                  <a:srgbClr val="0F172A"/>
                </a:solidFill>
                <a:latin typeface="Times New Roman"/>
              </a:rPr>
              <a:t> v = y - x rather than pristine image x directly.</a:t>
            </a:r>
          </a:p>
          <a:p>
            <a:pPr>
              <a:spcAft>
                <a:spcPts val="600"/>
              </a:spcAft>
            </a:pPr>
            <a:r>
              <a:rPr sz="1450" b="1" dirty="0">
                <a:solidFill>
                  <a:srgbClr val="0F172A"/>
                </a:solidFill>
                <a:latin typeface="Times New Roman"/>
              </a:rPr>
              <a:t>Clean Reconstruction Formula: </a:t>
            </a:r>
            <a:r>
              <a:rPr sz="1450" dirty="0" err="1">
                <a:solidFill>
                  <a:srgbClr val="0F172A"/>
                </a:solidFill>
                <a:latin typeface="Times New Roman"/>
              </a:rPr>
              <a:t>x_clean</a:t>
            </a:r>
            <a:r>
              <a:rPr sz="1450" dirty="0">
                <a:solidFill>
                  <a:srgbClr val="0F172A"/>
                </a:solidFill>
                <a:latin typeface="Times New Roman"/>
              </a:rPr>
              <a:t> = y - R(y). Pristine road frame is recovered via direct element-wise subtraction.</a:t>
            </a:r>
          </a:p>
          <a:p>
            <a:pPr>
              <a:spcAft>
                <a:spcPts val="600"/>
              </a:spcAft>
            </a:pPr>
            <a:r>
              <a:rPr sz="1450" b="1" dirty="0">
                <a:solidFill>
                  <a:srgbClr val="0F172A"/>
                </a:solidFill>
                <a:latin typeface="Times New Roman"/>
              </a:rPr>
              <a:t>Why Residual Learning Works: </a:t>
            </a:r>
            <a:r>
              <a:rPr sz="1450" dirty="0">
                <a:solidFill>
                  <a:srgbClr val="0F172A"/>
                </a:solidFill>
                <a:latin typeface="Times New Roman"/>
              </a:rPr>
              <a:t>Zero-mean noise residuals avoid complex road scene semantics; Batch Normalization stabilizes training dramatically.</a:t>
            </a:r>
          </a:p>
          <a:p>
            <a:pPr>
              <a:spcAft>
                <a:spcPts val="600"/>
              </a:spcAft>
            </a:pPr>
            <a:r>
              <a:rPr sz="1450" b="1" dirty="0">
                <a:solidFill>
                  <a:srgbClr val="0F172A"/>
                </a:solidFill>
                <a:latin typeface="Times New Roman"/>
              </a:rPr>
              <a:t>Compact Edge Deployment: </a:t>
            </a:r>
            <a:r>
              <a:rPr sz="1450" dirty="0">
                <a:solidFill>
                  <a:srgbClr val="0F172A"/>
                </a:solidFill>
                <a:latin typeface="Times New Roman"/>
              </a:rPr>
              <a:t>Contains 559,427 parameters (~2.2 MB memory), operating at 7.1 </a:t>
            </a:r>
            <a:r>
              <a:rPr sz="1450" dirty="0" err="1">
                <a:solidFill>
                  <a:srgbClr val="0F172A"/>
                </a:solidFill>
                <a:latin typeface="Times New Roman"/>
              </a:rPr>
              <a:t>ms</a:t>
            </a:r>
            <a:r>
              <a:rPr sz="1450" dirty="0">
                <a:solidFill>
                  <a:srgbClr val="0F172A"/>
                </a:solidFill>
                <a:latin typeface="Times New Roman"/>
              </a:rPr>
              <a:t> on GPU for real-time edge streaming.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Standard Paper Chosen: Road Risk Classification Benchmark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1091672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10634472" cy="1682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Bibliographic Citation &amp; Journal Indexing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Full Paper Title: </a:t>
            </a:r>
            <a:r>
              <a:rPr sz="1550">
                <a:solidFill>
                  <a:srgbClr val="0F172A"/>
                </a:solidFill>
                <a:latin typeface="Times New Roman"/>
              </a:rPr>
              <a:t>Dynamic Loss Balancing and Sequential Enhancement for Road-Safety Assessment and Traffic Scene Classification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Authors: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Marin Kačan, Marko Ševrović, and Siniša Šegvić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Journal: </a:t>
            </a:r>
            <a:r>
              <a:rPr sz="1550">
                <a:solidFill>
                  <a:srgbClr val="0F172A"/>
                </a:solidFill>
                <a:latin typeface="Times New Roman"/>
              </a:rPr>
              <a:t>IEEE Transactions on Intelligent Transportation Systems (IEEE TITS), Vol. 25, 2024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SCImago Verification: </a:t>
            </a:r>
            <a:r>
              <a:rPr sz="1550">
                <a:solidFill>
                  <a:srgbClr val="0F172A"/>
                </a:solidFill>
                <a:latin typeface="Times New Roman"/>
              </a:rPr>
              <a:t>Rank: Q1 (Top Tier Journal in Transportation &amp; Computer Science) | SCImago 2024 SJR: 2.589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Digital Object Identifier (DOI): </a:t>
            </a:r>
            <a:r>
              <a:rPr sz="1550">
                <a:solidFill>
                  <a:srgbClr val="0F172A"/>
                </a:solidFill>
                <a:latin typeface="Times New Roman"/>
              </a:rPr>
              <a:t>https://doi.org/10.1109/TITS.2024.3456214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429000"/>
            <a:ext cx="11091672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3593592"/>
            <a:ext cx="10634472" cy="2139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Technical Justification for SafeRoad AI Selection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Closest Research Formulation: </a:t>
            </a:r>
            <a:r>
              <a:rPr sz="1550">
                <a:solidFill>
                  <a:srgbClr val="0F172A"/>
                </a:solidFill>
                <a:latin typeface="Times New Roman"/>
              </a:rPr>
              <a:t>Directly tackles road hazard assessment from forward-facing camera feeds on the BDD100K dataset.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Dynamic Loss Balancing: </a:t>
            </a:r>
            <a:r>
              <a:rPr sz="1550">
                <a:solidFill>
                  <a:srgbClr val="0F172A"/>
                </a:solidFill>
                <a:latin typeface="Times New Roman"/>
              </a:rPr>
              <a:t>Pioneered the exact class-weighted cross-entropy loss formulation we adopted to resolve our 11.7:1 dataset imbalance.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Validated 3-Tier Taxonomy: </a:t>
            </a:r>
            <a:r>
              <a:rPr sz="1550">
                <a:solidFill>
                  <a:srgbClr val="0F172A"/>
                </a:solidFill>
                <a:latin typeface="Times New Roman"/>
              </a:rPr>
              <a:t>Mathematically proves that three-tier risk classification (Safe, Moderate, High) delivers optimal human driver alert utility.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Empirical Baseline: </a:t>
            </a:r>
            <a:r>
              <a:rPr sz="1550">
                <a:solidFill>
                  <a:srgbClr val="0F172A"/>
                </a:solidFill>
                <a:latin typeface="Times New Roman"/>
              </a:rPr>
              <a:t>Provided published baseline benchmarks (78.4% – 84.2% recall) against which our 79.97% High-Risk Recall is validated.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Standard Paper Chosen: Image Restoration &amp; Denoising Benchmark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1091672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10634472" cy="1682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Bibliographic Citation &amp; Journal Indexing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Full Paper Title: </a:t>
            </a:r>
            <a:r>
              <a:rPr sz="1550">
                <a:solidFill>
                  <a:srgbClr val="0F172A"/>
                </a:solidFill>
                <a:latin typeface="Times New Roman"/>
              </a:rPr>
              <a:t>Beyond a Gaussian Denoiser: Residual Learning of Deep CNN for Image Denoising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Authors: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Kai Zhang, Wangmeng Zuo, Yunjin Chen, Deyu Meng, and Lei Zhang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Journal: </a:t>
            </a:r>
            <a:r>
              <a:rPr sz="1550">
                <a:solidFill>
                  <a:srgbClr val="0F172A"/>
                </a:solidFill>
                <a:latin typeface="Times New Roman"/>
              </a:rPr>
              <a:t>IEEE Transactions on Image Processing (IEEE TIP), Vol. 26, No. 7, pp. 3142–3155, 2017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SCImago Verification: </a:t>
            </a:r>
            <a:r>
              <a:rPr sz="1550">
                <a:solidFill>
                  <a:srgbClr val="0F172A"/>
                </a:solidFill>
                <a:latin typeface="Times New Roman"/>
              </a:rPr>
              <a:t>Rank: Q1 (Top Tier Journal in Signal Processing &amp; Computer Vision) | SCImago 2024 SJR: 2.502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Digital Object Identifier (DOI): </a:t>
            </a:r>
            <a:r>
              <a:rPr sz="1550">
                <a:solidFill>
                  <a:srgbClr val="0F172A"/>
                </a:solidFill>
                <a:latin typeface="Times New Roman"/>
              </a:rPr>
              <a:t>https://doi.org/10.1109/TIP.2017.2662206 | GitHub: https://github.com/cszn/DnCNN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429000"/>
            <a:ext cx="11091672" cy="267919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3593592"/>
            <a:ext cx="10634472" cy="2139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rPr dirty="0"/>
              <a:t>Technical Justification for </a:t>
            </a:r>
            <a:r>
              <a:rPr dirty="0" err="1"/>
              <a:t>SafeRoad</a:t>
            </a:r>
            <a:r>
              <a:rPr dirty="0"/>
              <a:t> AI Selection</a:t>
            </a:r>
          </a:p>
          <a:p>
            <a:pPr>
              <a:spcAft>
                <a:spcPts val="600"/>
              </a:spcAft>
            </a:pPr>
            <a:r>
              <a:rPr sz="1550" b="1" dirty="0">
                <a:solidFill>
                  <a:srgbClr val="0F172A"/>
                </a:solidFill>
                <a:latin typeface="Times New Roman"/>
              </a:rPr>
              <a:t>Foundational Architecture Blueprint: </a:t>
            </a:r>
            <a:r>
              <a:rPr sz="1550" dirty="0">
                <a:solidFill>
                  <a:srgbClr val="0F172A"/>
                </a:solidFill>
                <a:latin typeface="Times New Roman"/>
              </a:rPr>
              <a:t>Introduced </a:t>
            </a:r>
            <a:r>
              <a:rPr sz="1550" dirty="0" err="1">
                <a:solidFill>
                  <a:srgbClr val="0F172A"/>
                </a:solidFill>
                <a:latin typeface="Times New Roman"/>
              </a:rPr>
              <a:t>DnCNN</a:t>
            </a:r>
            <a:r>
              <a:rPr sz="1550" dirty="0">
                <a:solidFill>
                  <a:srgbClr val="0F172A"/>
                </a:solidFill>
                <a:latin typeface="Times New Roman"/>
              </a:rPr>
              <a:t> and proved that learning the noise residual R(y) = y - x is fundamentally faster and more accurate than learning clean images directly.</a:t>
            </a:r>
          </a:p>
          <a:p>
            <a:pPr>
              <a:spcAft>
                <a:spcPts val="600"/>
              </a:spcAft>
            </a:pPr>
            <a:r>
              <a:rPr sz="1550" b="1" dirty="0">
                <a:solidFill>
                  <a:srgbClr val="0F172A"/>
                </a:solidFill>
                <a:latin typeface="Times New Roman"/>
              </a:rPr>
              <a:t>Blind Denoising Capability: </a:t>
            </a:r>
            <a:r>
              <a:rPr sz="1550" dirty="0">
                <a:solidFill>
                  <a:srgbClr val="0F172A"/>
                </a:solidFill>
                <a:latin typeface="Times New Roman"/>
              </a:rPr>
              <a:t>Proved that a 17-layer convolutional network with Batch Normalization can handle mixed noise without knowing the exact noise level beforehand.</a:t>
            </a:r>
          </a:p>
          <a:p>
            <a:pPr>
              <a:spcAft>
                <a:spcPts val="600"/>
              </a:spcAft>
            </a:pPr>
            <a:r>
              <a:rPr sz="1550" b="1" dirty="0">
                <a:solidFill>
                  <a:srgbClr val="0F172A"/>
                </a:solidFill>
                <a:latin typeface="Times New Roman"/>
              </a:rPr>
              <a:t>Batch Normalization &amp; Residual Synergy: </a:t>
            </a:r>
            <a:r>
              <a:rPr sz="1550" dirty="0">
                <a:solidFill>
                  <a:srgbClr val="0F172A"/>
                </a:solidFill>
                <a:latin typeface="Times New Roman"/>
              </a:rPr>
              <a:t>Proved mathematically that </a:t>
            </a:r>
            <a:r>
              <a:rPr sz="1550" dirty="0" err="1">
                <a:solidFill>
                  <a:srgbClr val="0F172A"/>
                </a:solidFill>
                <a:latin typeface="Times New Roman"/>
              </a:rPr>
              <a:t>BatchNorm</a:t>
            </a:r>
            <a:r>
              <a:rPr sz="1550" dirty="0">
                <a:solidFill>
                  <a:srgbClr val="0F172A"/>
                </a:solidFill>
                <a:latin typeface="Times New Roman"/>
              </a:rPr>
              <a:t> stabilizes residual noise learning, keeping intermediate representations Gaussian.</a:t>
            </a:r>
          </a:p>
          <a:p>
            <a:pPr>
              <a:spcAft>
                <a:spcPts val="600"/>
              </a:spcAft>
            </a:pPr>
            <a:r>
              <a:rPr sz="1550" b="1" dirty="0">
                <a:solidFill>
                  <a:srgbClr val="0F172A"/>
                </a:solidFill>
                <a:latin typeface="Times New Roman"/>
              </a:rPr>
              <a:t>Direct </a:t>
            </a:r>
            <a:r>
              <a:rPr sz="1550" b="1" dirty="0" err="1">
                <a:solidFill>
                  <a:srgbClr val="0F172A"/>
                </a:solidFill>
                <a:latin typeface="Times New Roman"/>
              </a:rPr>
              <a:t>SafeRoad</a:t>
            </a:r>
            <a:r>
              <a:rPr sz="1550" b="1" dirty="0">
                <a:solidFill>
                  <a:srgbClr val="0F172A"/>
                </a:solidFill>
                <a:latin typeface="Times New Roman"/>
              </a:rPr>
              <a:t> AI Implementation: </a:t>
            </a:r>
            <a:r>
              <a:rPr sz="1550" dirty="0">
                <a:solidFill>
                  <a:srgbClr val="0F172A"/>
                </a:solidFill>
                <a:latin typeface="Times New Roman"/>
              </a:rPr>
              <a:t>Served as the exact architecture trained on our 1,270-image </a:t>
            </a:r>
            <a:r>
              <a:rPr sz="1550" dirty="0" err="1">
                <a:solidFill>
                  <a:srgbClr val="0F172A"/>
                </a:solidFill>
                <a:latin typeface="Times New Roman"/>
              </a:rPr>
              <a:t>Noisy_Dataset</a:t>
            </a:r>
            <a:r>
              <a:rPr sz="1550" dirty="0">
                <a:solidFill>
                  <a:srgbClr val="0F172A"/>
                </a:solidFill>
                <a:latin typeface="Times New Roman"/>
              </a:rPr>
              <a:t>, improving degraded dashcam PSNR from 25.36 dB to &gt;31.2 </a:t>
            </a:r>
            <a:r>
              <a:rPr sz="1550" dirty="0" err="1">
                <a:solidFill>
                  <a:srgbClr val="0F172A"/>
                </a:solidFill>
                <a:latin typeface="Times New Roman"/>
              </a:rPr>
              <a:t>dB.</a:t>
            </a:r>
            <a:endParaRPr sz="1550" dirty="0">
              <a:solidFill>
                <a:srgbClr val="0F172A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Conclusion, Milestones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Key Milestones Achieved in Review 2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EfficientNetB0 Verification: </a:t>
            </a:r>
            <a:r>
              <a:rPr sz="1550">
                <a:solidFill>
                  <a:srgbClr val="0F172A"/>
                </a:solidFill>
                <a:latin typeface="Times New Roman"/>
              </a:rPr>
              <a:t>Engineered and validated EfficientNetB0: 79.00% Accuracy, 79.97% High-Risk Recall, and 94.84% High-Risk Precision in 22.7 ms.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Full-Stack Web Platform: </a:t>
            </a:r>
            <a:r>
              <a:rPr sz="1550">
                <a:solidFill>
                  <a:srgbClr val="0F172A"/>
                </a:solidFill>
                <a:latin typeface="Times New Roman"/>
              </a:rPr>
              <a:t>Constructed modern React 18 + Tailwind dashboard deployed live on Vercel (https://saferoad-ai-one.vercel.app/).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Deep Denoising Upstream: </a:t>
            </a:r>
            <a:r>
              <a:rPr sz="1550">
                <a:solidFill>
                  <a:srgbClr val="0F172A"/>
                </a:solidFill>
                <a:latin typeface="Times New Roman"/>
              </a:rPr>
              <a:t>Trained 17-layer DnCNN to restore degraded dashcam inputs, boosting PSNR by +5.86 dB.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Curated Multi-Regional Dataset: </a:t>
            </a:r>
            <a:r>
              <a:rPr sz="1550">
                <a:solidFill>
                  <a:srgbClr val="0F172A"/>
                </a:solidFill>
                <a:latin typeface="Times New Roman"/>
              </a:rPr>
              <a:t>Consolidated 6,949 road frames across BDD100K, IDD, and YouTube with 14 metadata attributes and a 1,270-frame noisy subset.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Academic Rigor: </a:t>
            </a:r>
            <a:r>
              <a:rPr sz="1550">
                <a:solidFill>
                  <a:srgbClr val="0F172A"/>
                </a:solidFill>
                <a:latin typeface="Times New Roman"/>
              </a:rPr>
              <a:t>20 SCImago-indexed papers verified across 4 team members and IEEE DataPort submission prepared.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Future Scope &amp; Review 3 Objectives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Temporal Sequential Modeling (ConvLSTM): </a:t>
            </a:r>
            <a:r>
              <a:rPr sz="1550">
                <a:solidFill>
                  <a:srgbClr val="0F172A"/>
                </a:solidFill>
                <a:latin typeface="Times New Roman"/>
              </a:rPr>
              <a:t>Extend image classification to sequential video clips, modeling time-to-collision (TTC) dynamics across consecutive frames.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Hardware Edge Acceleration (Jetson Nano): </a:t>
            </a:r>
            <a:r>
              <a:rPr sz="1550">
                <a:solidFill>
                  <a:srgbClr val="0F172A"/>
                </a:solidFill>
                <a:latin typeface="Times New Roman"/>
              </a:rPr>
              <a:t>Deploy quantized INT8 TensorRT engine of EfficientNetB0 and DnCNN onto embedded NVIDIA Jetson hardware for in-cabin testing.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CCTV Smart City Municipal Feeds: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Integrate live RTSP video feeds from urban intersection cameras to automate emergency dispatch.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Times New Roman"/>
              </a:rPr>
              <a:t>Multi-Task Surface Friction Head: </a:t>
            </a:r>
            <a:r>
              <a:rPr sz="1550">
                <a:solidFill>
                  <a:srgbClr val="0F172A"/>
                </a:solidFill>
                <a:latin typeface="Times New Roman"/>
              </a:rPr>
              <a:t>Incorporate secondary classification heads to predict road wetness and friction alongside collision risk.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1394214"/>
            <a:ext cx="9445752" cy="111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8B0000"/>
                </a:solidFill>
                <a:latin typeface="Times New Roman"/>
              </a:defRPr>
            </a:pPr>
            <a:r>
              <a:rPr dirty="0"/>
              <a:t>Thank You!</a:t>
            </a:r>
          </a:p>
          <a:p>
            <a:pPr algn="ctr">
              <a:spcBef>
                <a:spcPts val="800"/>
              </a:spcBef>
              <a:defRPr sz="2000" b="1">
                <a:solidFill>
                  <a:srgbClr val="0F172A"/>
                </a:solidFill>
                <a:latin typeface="Times New Roman"/>
              </a:defRPr>
            </a:pPr>
            <a:r>
              <a:rPr dirty="0" err="1"/>
              <a:t>SafeRoad</a:t>
            </a:r>
            <a:r>
              <a:rPr dirty="0"/>
              <a:t> AI: Predict Risks. Prevent Accidents.</a:t>
            </a:r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6279A9AE-2AD6-8992-60F4-F99E535F6C2B}"/>
              </a:ext>
            </a:extLst>
          </p:cNvPr>
          <p:cNvSpPr/>
          <p:nvPr/>
        </p:nvSpPr>
        <p:spPr>
          <a:xfrm>
            <a:off x="550011" y="2754342"/>
            <a:ext cx="11091672" cy="270944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en-IN" b="1">
                <a:solidFill>
                  <a:srgbClr val="0F172A"/>
                </a:solidFill>
                <a:latin typeface="Times New Roman"/>
              </a:rPr>
              <a:t>Name</a:t>
            </a:r>
            <a:r>
              <a:rPr lang="en-IN">
                <a:solidFill>
                  <a:srgbClr val="0F172A"/>
                </a:solidFill>
                <a:latin typeface="Times New Roman"/>
              </a:rPr>
              <a:t> : Uppara Veeranjaneyulu  </a:t>
            </a:r>
          </a:p>
          <a:p>
            <a:pPr>
              <a:spcAft>
                <a:spcPts val="600"/>
              </a:spcAft>
            </a:pPr>
            <a:r>
              <a:rPr lang="en-IN" b="1">
                <a:solidFill>
                  <a:srgbClr val="0F172A"/>
                </a:solidFill>
                <a:latin typeface="Times New Roman"/>
              </a:rPr>
              <a:t>Roll Number</a:t>
            </a:r>
            <a:r>
              <a:rPr lang="en-IN">
                <a:solidFill>
                  <a:srgbClr val="0F172A"/>
                </a:solidFill>
                <a:latin typeface="Times New Roman"/>
              </a:rPr>
              <a:t>: CB.SC.U4CSE23351 </a:t>
            </a:r>
          </a:p>
          <a:p>
            <a:pPr>
              <a:spcAft>
                <a:spcPts val="600"/>
              </a:spcAft>
            </a:pPr>
            <a:r>
              <a:rPr lang="en-IN" b="1">
                <a:solidFill>
                  <a:srgbClr val="0F172A"/>
                </a:solidFill>
                <a:latin typeface="Times New Roman"/>
              </a:rPr>
              <a:t>Contac</a:t>
            </a:r>
            <a:r>
              <a:rPr lang="en-IN">
                <a:solidFill>
                  <a:srgbClr val="0F172A"/>
                </a:solidFill>
                <a:latin typeface="Times New Roman"/>
              </a:rPr>
              <a:t>t: 9848267497</a:t>
            </a:r>
          </a:p>
          <a:p>
            <a:pPr>
              <a:spcAft>
                <a:spcPts val="600"/>
              </a:spcAft>
            </a:pPr>
            <a:r>
              <a:rPr lang="en-IN" b="1">
                <a:solidFill>
                  <a:srgbClr val="0F172A"/>
                </a:solidFill>
                <a:latin typeface="Times New Roman"/>
              </a:rPr>
              <a:t>Module Scope: </a:t>
            </a:r>
            <a:r>
              <a:rPr lang="en-IN">
                <a:solidFill>
                  <a:srgbClr val="0F172A"/>
                </a:solidFill>
                <a:latin typeface="Times New Roman"/>
              </a:rPr>
              <a:t>Deep Learning Classification using EfficientNetB0 &amp; Production Full-Stack Web Platform</a:t>
            </a:r>
          </a:p>
          <a:p>
            <a:pPr>
              <a:spcAft>
                <a:spcPts val="600"/>
              </a:spcAft>
            </a:pPr>
            <a:r>
              <a:rPr lang="en-IN" b="1">
                <a:solidFill>
                  <a:srgbClr val="0F172A"/>
                </a:solidFill>
                <a:latin typeface="Times New Roman"/>
              </a:rPr>
              <a:t>Faculty Guide &amp; Course: </a:t>
            </a:r>
            <a:r>
              <a:rPr lang="en-IN">
                <a:solidFill>
                  <a:srgbClr val="0F172A"/>
                </a:solidFill>
                <a:latin typeface="Times New Roman"/>
              </a:rPr>
              <a:t>Professor – Dr. T Senthil Kumar (Department of CSE) | Course: 23CSE473</a:t>
            </a:r>
          </a:p>
          <a:p>
            <a:pPr>
              <a:spcAft>
                <a:spcPts val="600"/>
              </a:spcAft>
            </a:pPr>
            <a:r>
              <a:rPr lang="en-IN" b="1">
                <a:solidFill>
                  <a:srgbClr val="0F172A"/>
                </a:solidFill>
                <a:latin typeface="Times New Roman"/>
              </a:rPr>
              <a:t>Source Code &amp; Live App: </a:t>
            </a:r>
            <a:r>
              <a:rPr lang="en-IN">
                <a:solidFill>
                  <a:srgbClr val="0F172A"/>
                </a:solidFill>
                <a:latin typeface="Times New Roman"/>
              </a:rPr>
              <a:t>GitHub: https://github.com/Uppara-Veeranjaneyulu/SafeRoad-AI </a:t>
            </a:r>
          </a:p>
          <a:p>
            <a:pPr>
              <a:spcAft>
                <a:spcPts val="600"/>
              </a:spcAft>
            </a:pPr>
            <a:r>
              <a:rPr lang="en-IN" b="1">
                <a:solidFill>
                  <a:srgbClr val="0F172A"/>
                </a:solidFill>
                <a:latin typeface="Times New Roman"/>
              </a:rPr>
              <a:t>Live</a:t>
            </a:r>
            <a:r>
              <a:rPr lang="en-IN">
                <a:solidFill>
                  <a:srgbClr val="0F172A"/>
                </a:solidFill>
                <a:latin typeface="Times New Roman"/>
              </a:rPr>
              <a:t>: https://saferoad-ai-one.vercel.app/</a:t>
            </a:r>
            <a:endParaRPr lang="en-IN" dirty="0">
              <a:solidFill>
                <a:srgbClr val="0F172A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8187</Words>
  <Application>Microsoft Office PowerPoint</Application>
  <PresentationFormat>Widescreen</PresentationFormat>
  <Paragraphs>741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Uppara Veeranjaneyulu</cp:lastModifiedBy>
  <cp:revision>2</cp:revision>
  <dcterms:created xsi:type="dcterms:W3CDTF">2013-01-27T09:14:16Z</dcterms:created>
  <dcterms:modified xsi:type="dcterms:W3CDTF">2026-09-12T16:46:47Z</dcterms:modified>
  <cp:category/>
</cp:coreProperties>
</file>