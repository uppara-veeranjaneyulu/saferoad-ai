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87" r:id="rId1"/>
    <p:sldMasterId id="2147483688" r:id="rId2"/>
  </p:sldMasterIdLst>
  <p:notesMasterIdLst>
    <p:notesMasterId r:id="rId19"/>
  </p:notesMasterIdLst>
  <p:sldIdLst>
    <p:sldId id="256" r:id="rId3"/>
    <p:sldId id="260" r:id="rId4"/>
    <p:sldId id="297" r:id="rId5"/>
    <p:sldId id="298" r:id="rId6"/>
    <p:sldId id="299" r:id="rId7"/>
    <p:sldId id="300" r:id="rId8"/>
    <p:sldId id="301" r:id="rId9"/>
    <p:sldId id="309" r:id="rId10"/>
    <p:sldId id="302" r:id="rId11"/>
    <p:sldId id="310" r:id="rId12"/>
    <p:sldId id="257" r:id="rId13"/>
    <p:sldId id="311" r:id="rId14"/>
    <p:sldId id="303" r:id="rId15"/>
    <p:sldId id="312" r:id="rId16"/>
    <p:sldId id="304" r:id="rId17"/>
    <p:sldId id="305" r:id="rId18"/>
  </p:sldIdLst>
  <p:sldSz cx="12192000" cy="6858000"/>
  <p:notesSz cx="6858000" cy="9144000"/>
  <p:embeddedFontLst>
    <p:embeddedFont>
      <p:font typeface="Brush Script MT" panose="03060802040406070304" pitchFamily="66" charset="0"/>
      <p:italic r:id="rId20"/>
    </p:embeddedFont>
    <p:embeddedFont>
      <p:font typeface="Poppins" panose="00000500000000000000" pitchFamily="2"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99DE48-C7D4-76C1-6282-5E6C475FD403}" v="10" dt="2026-07-05T16:37:56.536"/>
    <p1510:client id="{CE540A8D-E992-4646-9226-1CF6CADBB652}" v="34" dt="2026-07-05T16:18:07.892"/>
  </p1510:revLst>
</p1510:revInfo>
</file>

<file path=ppt/tableStyles.xml><?xml version="1.0" encoding="utf-8"?>
<a:tblStyleLst xmlns:a="http://schemas.openxmlformats.org/drawingml/2006/main" def="{B229F12B-DD2F-434A-8BDD-88915C9BCD54}">
  <a:tblStyle styleId="{B229F12B-DD2F-434A-8BDD-88915C9BCD54}"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91" y="101"/>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font" Target="fonts/font2.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1.fntdata"/><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5.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4.fntdata"/><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3.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44"/>
        <p:cNvGrpSpPr/>
        <p:nvPr/>
      </p:nvGrpSpPr>
      <p:grpSpPr>
        <a:xfrm>
          <a:off x="0" y="0"/>
          <a:ext cx="0" cy="0"/>
          <a:chOff x="0" y="0"/>
          <a:chExt cx="0" cy="0"/>
        </a:xfrm>
      </p:grpSpPr>
      <p:sp>
        <p:nvSpPr>
          <p:cNvPr id="745" name="Google Shape;745;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46" name="Google Shape;746;n"/>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47" name="Google Shape;747;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748" name="Google Shape;748;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49" name="Google Shape;749;n"/>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0" name="Google Shape;750;n"/>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025" name="Google Shape;1025;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a:extLst>
            <a:ext uri="{FF2B5EF4-FFF2-40B4-BE49-F238E27FC236}">
              <a16:creationId xmlns:a16="http://schemas.microsoft.com/office/drawing/2014/main" id="{AFEE8A85-D5D1-7FB8-9E65-787CFEBD645E}"/>
            </a:ext>
          </a:extLst>
        </p:cNvPr>
        <p:cNvGrpSpPr/>
        <p:nvPr/>
      </p:nvGrpSpPr>
      <p:grpSpPr>
        <a:xfrm>
          <a:off x="0" y="0"/>
          <a:ext cx="0" cy="0"/>
          <a:chOff x="0" y="0"/>
          <a:chExt cx="0" cy="0"/>
        </a:xfrm>
      </p:grpSpPr>
      <p:sp>
        <p:nvSpPr>
          <p:cNvPr id="1024" name="Google Shape;1024;p1:notes">
            <a:extLst>
              <a:ext uri="{FF2B5EF4-FFF2-40B4-BE49-F238E27FC236}">
                <a16:creationId xmlns:a16="http://schemas.microsoft.com/office/drawing/2014/main" id="{941A909E-CFD5-CDAC-98BE-5003624E7F3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025" name="Google Shape;1025;p1:notes">
            <a:extLst>
              <a:ext uri="{FF2B5EF4-FFF2-40B4-BE49-F238E27FC236}">
                <a16:creationId xmlns:a16="http://schemas.microsoft.com/office/drawing/2014/main" id="{71769CC2-3EF2-E4F8-63F4-49C0A34487B9}"/>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06629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p:cNvGrpSpPr/>
        <p:nvPr/>
      </p:nvGrpSpPr>
      <p:grpSpPr>
        <a:xfrm>
          <a:off x="0" y="0"/>
          <a:ext cx="0" cy="0"/>
          <a:chOff x="0" y="0"/>
          <a:chExt cx="0" cy="0"/>
        </a:xfrm>
      </p:grpSpPr>
      <p:sp>
        <p:nvSpPr>
          <p:cNvPr id="1032" name="Google Shape;1032;p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3" name="Google Shape;103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13</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592499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60"/>
        <p:cNvGrpSpPr/>
        <p:nvPr/>
      </p:nvGrpSpPr>
      <p:grpSpPr>
        <a:xfrm>
          <a:off x="0" y="0"/>
          <a:ext cx="0" cy="0"/>
          <a:chOff x="0" y="0"/>
          <a:chExt cx="0" cy="0"/>
        </a:xfrm>
      </p:grpSpPr>
      <p:sp>
        <p:nvSpPr>
          <p:cNvPr id="761" name="Google Shape;761;p2"/>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2" name="Google Shape;762;p2"/>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763" name="Google Shape;763;p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4" name="Google Shape;764;p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5" name="Google Shape;765;p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66"/>
        <p:cNvGrpSpPr/>
        <p:nvPr/>
      </p:nvGrpSpPr>
      <p:grpSpPr>
        <a:xfrm>
          <a:off x="0" y="0"/>
          <a:ext cx="0" cy="0"/>
          <a:chOff x="0" y="0"/>
          <a:chExt cx="0" cy="0"/>
        </a:xfrm>
      </p:grpSpPr>
      <p:sp>
        <p:nvSpPr>
          <p:cNvPr id="767" name="Google Shape;767;p3"/>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8" name="Google Shape;768;p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69" name="Google Shape;769;p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0" name="Google Shape;770;p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1" name="Google Shape;771;p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72"/>
        <p:cNvGrpSpPr/>
        <p:nvPr/>
      </p:nvGrpSpPr>
      <p:grpSpPr>
        <a:xfrm>
          <a:off x="0" y="0"/>
          <a:ext cx="0" cy="0"/>
          <a:chOff x="0" y="0"/>
          <a:chExt cx="0" cy="0"/>
        </a:xfrm>
      </p:grpSpPr>
      <p:sp>
        <p:nvSpPr>
          <p:cNvPr id="773" name="Google Shape;773;p4"/>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74" name="Google Shape;774;p4"/>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775" name="Google Shape;775;p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6" name="Google Shape;776;p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7" name="Google Shape;777;p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78"/>
        <p:cNvGrpSpPr/>
        <p:nvPr/>
      </p:nvGrpSpPr>
      <p:grpSpPr>
        <a:xfrm>
          <a:off x="0" y="0"/>
          <a:ext cx="0" cy="0"/>
          <a:chOff x="0" y="0"/>
          <a:chExt cx="0" cy="0"/>
        </a:xfrm>
      </p:grpSpPr>
      <p:sp>
        <p:nvSpPr>
          <p:cNvPr id="779" name="Google Shape;779;p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0" name="Google Shape;780;p5"/>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81" name="Google Shape;781;p5"/>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82" name="Google Shape;782;p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3" name="Google Shape;783;p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4" name="Google Shape;784;p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85"/>
        <p:cNvGrpSpPr/>
        <p:nvPr/>
      </p:nvGrpSpPr>
      <p:grpSpPr>
        <a:xfrm>
          <a:off x="0" y="0"/>
          <a:ext cx="0" cy="0"/>
          <a:chOff x="0" y="0"/>
          <a:chExt cx="0" cy="0"/>
        </a:xfrm>
      </p:grpSpPr>
      <p:sp>
        <p:nvSpPr>
          <p:cNvPr id="786" name="Google Shape;786;p6"/>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7" name="Google Shape;787;p6"/>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788" name="Google Shape;788;p6"/>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89" name="Google Shape;789;p6"/>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790" name="Google Shape;790;p6"/>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91" name="Google Shape;791;p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2" name="Google Shape;792;p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3" name="Google Shape;793;p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94"/>
        <p:cNvGrpSpPr/>
        <p:nvPr/>
      </p:nvGrpSpPr>
      <p:grpSpPr>
        <a:xfrm>
          <a:off x="0" y="0"/>
          <a:ext cx="0" cy="0"/>
          <a:chOff x="0" y="0"/>
          <a:chExt cx="0" cy="0"/>
        </a:xfrm>
      </p:grpSpPr>
      <p:sp>
        <p:nvSpPr>
          <p:cNvPr id="795" name="Google Shape;795;p7"/>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6" name="Google Shape;796;p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7" name="Google Shape;797;p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8" name="Google Shape;798;p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9"/>
        <p:cNvGrpSpPr/>
        <p:nvPr/>
      </p:nvGrpSpPr>
      <p:grpSpPr>
        <a:xfrm>
          <a:off x="0" y="0"/>
          <a:ext cx="0" cy="0"/>
          <a:chOff x="0" y="0"/>
          <a:chExt cx="0" cy="0"/>
        </a:xfrm>
      </p:grpSpPr>
      <p:sp>
        <p:nvSpPr>
          <p:cNvPr id="800" name="Google Shape;800;p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1" name="Google Shape;801;p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2" name="Google Shape;802;p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03"/>
        <p:cNvGrpSpPr/>
        <p:nvPr/>
      </p:nvGrpSpPr>
      <p:grpSpPr>
        <a:xfrm>
          <a:off x="0" y="0"/>
          <a:ext cx="0" cy="0"/>
          <a:chOff x="0" y="0"/>
          <a:chExt cx="0" cy="0"/>
        </a:xfrm>
      </p:grpSpPr>
      <p:sp>
        <p:nvSpPr>
          <p:cNvPr id="804" name="Google Shape;804;p9"/>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05" name="Google Shape;805;p9"/>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endParaRPr/>
          </a:p>
        </p:txBody>
      </p:sp>
      <p:sp>
        <p:nvSpPr>
          <p:cNvPr id="806" name="Google Shape;806;p9"/>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807" name="Google Shape;807;p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8" name="Google Shape;808;p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9" name="Google Shape;809;p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10"/>
        <p:cNvGrpSpPr/>
        <p:nvPr/>
      </p:nvGrpSpPr>
      <p:grpSpPr>
        <a:xfrm>
          <a:off x="0" y="0"/>
          <a:ext cx="0" cy="0"/>
          <a:chOff x="0" y="0"/>
          <a:chExt cx="0" cy="0"/>
        </a:xfrm>
      </p:grpSpPr>
      <p:sp>
        <p:nvSpPr>
          <p:cNvPr id="811" name="Google Shape;811;p1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12" name="Google Shape;812;p10"/>
          <p:cNvSpPr>
            <a:spLocks noGrp="1"/>
          </p:cNvSpPr>
          <p:nvPr>
            <p:ph type="pic" idx="2"/>
          </p:nvPr>
        </p:nvSpPr>
        <p:spPr>
          <a:xfrm>
            <a:off x="5183188" y="987427"/>
            <a:ext cx="6172200" cy="4873500"/>
          </a:xfrm>
          <a:prstGeom prst="rect">
            <a:avLst/>
          </a:prstGeom>
          <a:noFill/>
          <a:ln>
            <a:noFill/>
          </a:ln>
        </p:spPr>
        <p:txBody>
          <a:bodyPr/>
          <a:lstStyle/>
          <a:p>
            <a:endParaRPr lang="en-IN"/>
          </a:p>
        </p:txBody>
      </p:sp>
      <p:sp>
        <p:nvSpPr>
          <p:cNvPr id="813" name="Google Shape;813;p10"/>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814" name="Google Shape;814;p1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5" name="Google Shape;815;p1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6" name="Google Shape;816;p1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7"/>
        <p:cNvGrpSpPr/>
        <p:nvPr/>
      </p:nvGrpSpPr>
      <p:grpSpPr>
        <a:xfrm>
          <a:off x="0" y="0"/>
          <a:ext cx="0" cy="0"/>
          <a:chOff x="0" y="0"/>
          <a:chExt cx="0" cy="0"/>
        </a:xfrm>
      </p:grpSpPr>
      <p:sp>
        <p:nvSpPr>
          <p:cNvPr id="818" name="Google Shape;818;p1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19" name="Google Shape;819;p11"/>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20" name="Google Shape;820;p1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1" name="Google Shape;821;p1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2" name="Google Shape;822;p1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3"/>
        <p:cNvGrpSpPr/>
        <p:nvPr/>
      </p:nvGrpSpPr>
      <p:grpSpPr>
        <a:xfrm>
          <a:off x="0" y="0"/>
          <a:ext cx="0" cy="0"/>
          <a:chOff x="0" y="0"/>
          <a:chExt cx="0" cy="0"/>
        </a:xfrm>
      </p:grpSpPr>
      <p:sp>
        <p:nvSpPr>
          <p:cNvPr id="824" name="Google Shape;824;p12"/>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5" name="Google Shape;825;p12"/>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26" name="Google Shape;826;p1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7" name="Google Shape;827;p1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8" name="Google Shape;828;p1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829"/>
        <p:cNvGrpSpPr/>
        <p:nvPr/>
      </p:nvGrpSpPr>
      <p:grpSpPr>
        <a:xfrm>
          <a:off x="0" y="0"/>
          <a:ext cx="0" cy="0"/>
          <a:chOff x="0" y="0"/>
          <a:chExt cx="0" cy="0"/>
        </a:xfrm>
      </p:grpSpPr>
      <p:sp>
        <p:nvSpPr>
          <p:cNvPr id="830" name="Google Shape;830;p13"/>
          <p:cNvSpPr txBox="1">
            <a:spLocks noGrp="1"/>
          </p:cNvSpPr>
          <p:nvPr>
            <p:ph type="title"/>
          </p:nvPr>
        </p:nvSpPr>
        <p:spPr>
          <a:xfrm>
            <a:off x="838091" y="365084"/>
            <a:ext cx="10515900" cy="831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3599"/>
              <a:buFont typeface="Poppins"/>
              <a:buNone/>
              <a:defRPr sz="3599"/>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831"/>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41"/>
        <p:cNvGrpSpPr/>
        <p:nvPr/>
      </p:nvGrpSpPr>
      <p:grpSpPr>
        <a:xfrm>
          <a:off x="0" y="0"/>
          <a:ext cx="0" cy="0"/>
          <a:chOff x="0" y="0"/>
          <a:chExt cx="0" cy="0"/>
        </a:xfrm>
      </p:grpSpPr>
      <p:sp>
        <p:nvSpPr>
          <p:cNvPr id="842" name="Google Shape;842;p16"/>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43" name="Google Shape;843;p16"/>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44" name="Google Shape;844;p1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5" name="Google Shape;845;p1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6" name="Google Shape;846;p1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59"/>
        <p:cNvGrpSpPr/>
        <p:nvPr/>
      </p:nvGrpSpPr>
      <p:grpSpPr>
        <a:xfrm>
          <a:off x="0" y="0"/>
          <a:ext cx="0" cy="0"/>
          <a:chOff x="0" y="0"/>
          <a:chExt cx="0" cy="0"/>
        </a:xfrm>
      </p:grpSpPr>
      <p:sp>
        <p:nvSpPr>
          <p:cNvPr id="860" name="Google Shape;860;p19"/>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61" name="Google Shape;861;p19"/>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62" name="Google Shape;862;p19"/>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63" name="Google Shape;863;p1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64" name="Google Shape;864;p1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65" name="Google Shape;865;p1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66"/>
        <p:cNvGrpSpPr/>
        <p:nvPr/>
      </p:nvGrpSpPr>
      <p:grpSpPr>
        <a:xfrm>
          <a:off x="0" y="0"/>
          <a:ext cx="0" cy="0"/>
          <a:chOff x="0" y="0"/>
          <a:chExt cx="0" cy="0"/>
        </a:xfrm>
      </p:grpSpPr>
      <p:sp>
        <p:nvSpPr>
          <p:cNvPr id="867" name="Google Shape;867;p20"/>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68" name="Google Shape;868;p20"/>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869" name="Google Shape;869;p20"/>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70" name="Google Shape;870;p20"/>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871" name="Google Shape;871;p20"/>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72" name="Google Shape;872;p2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3" name="Google Shape;873;p2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4" name="Google Shape;874;p2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75"/>
        <p:cNvGrpSpPr/>
        <p:nvPr/>
      </p:nvGrpSpPr>
      <p:grpSpPr>
        <a:xfrm>
          <a:off x="0" y="0"/>
          <a:ext cx="0" cy="0"/>
          <a:chOff x="0" y="0"/>
          <a:chExt cx="0" cy="0"/>
        </a:xfrm>
      </p:grpSpPr>
      <p:sp>
        <p:nvSpPr>
          <p:cNvPr id="876" name="Google Shape;876;p2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77" name="Google Shape;877;p2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8" name="Google Shape;878;p2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9" name="Google Shape;879;p2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84"/>
        <p:cNvGrpSpPr/>
        <p:nvPr/>
      </p:nvGrpSpPr>
      <p:grpSpPr>
        <a:xfrm>
          <a:off x="0" y="0"/>
          <a:ext cx="0" cy="0"/>
          <a:chOff x="0" y="0"/>
          <a:chExt cx="0" cy="0"/>
        </a:xfrm>
      </p:grpSpPr>
      <p:sp>
        <p:nvSpPr>
          <p:cNvPr id="885" name="Google Shape;885;p23"/>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86" name="Google Shape;886;p23"/>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endParaRPr/>
          </a:p>
        </p:txBody>
      </p:sp>
      <p:sp>
        <p:nvSpPr>
          <p:cNvPr id="887" name="Google Shape;887;p23"/>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888" name="Google Shape;888;p2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9" name="Google Shape;889;p2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0" name="Google Shape;890;p2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91"/>
        <p:cNvGrpSpPr/>
        <p:nvPr/>
      </p:nvGrpSpPr>
      <p:grpSpPr>
        <a:xfrm>
          <a:off x="0" y="0"/>
          <a:ext cx="0" cy="0"/>
          <a:chOff x="0" y="0"/>
          <a:chExt cx="0" cy="0"/>
        </a:xfrm>
      </p:grpSpPr>
      <p:sp>
        <p:nvSpPr>
          <p:cNvPr id="892" name="Google Shape;892;p24"/>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93" name="Google Shape;893;p24"/>
          <p:cNvSpPr>
            <a:spLocks noGrp="1"/>
          </p:cNvSpPr>
          <p:nvPr>
            <p:ph type="pic" idx="2"/>
          </p:nvPr>
        </p:nvSpPr>
        <p:spPr>
          <a:xfrm>
            <a:off x="5183188" y="987427"/>
            <a:ext cx="6172200" cy="4873500"/>
          </a:xfrm>
          <a:prstGeom prst="rect">
            <a:avLst/>
          </a:prstGeom>
          <a:noFill/>
          <a:ln>
            <a:noFill/>
          </a:ln>
        </p:spPr>
        <p:txBody>
          <a:bodyPr/>
          <a:lstStyle/>
          <a:p>
            <a:endParaRPr lang="en-IN"/>
          </a:p>
        </p:txBody>
      </p:sp>
      <p:sp>
        <p:nvSpPr>
          <p:cNvPr id="894" name="Google Shape;894;p24"/>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895" name="Google Shape;895;p2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6" name="Google Shape;896;p2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7" name="Google Shape;897;p2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98"/>
        <p:cNvGrpSpPr/>
        <p:nvPr/>
      </p:nvGrpSpPr>
      <p:grpSpPr>
        <a:xfrm>
          <a:off x="0" y="0"/>
          <a:ext cx="0" cy="0"/>
          <a:chOff x="0" y="0"/>
          <a:chExt cx="0" cy="0"/>
        </a:xfrm>
      </p:grpSpPr>
      <p:sp>
        <p:nvSpPr>
          <p:cNvPr id="899" name="Google Shape;899;p2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00" name="Google Shape;900;p25"/>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01" name="Google Shape;901;p2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2" name="Google Shape;902;p2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3" name="Google Shape;903;p2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04"/>
        <p:cNvGrpSpPr/>
        <p:nvPr/>
      </p:nvGrpSpPr>
      <p:grpSpPr>
        <a:xfrm>
          <a:off x="0" y="0"/>
          <a:ext cx="0" cy="0"/>
          <a:chOff x="0" y="0"/>
          <a:chExt cx="0" cy="0"/>
        </a:xfrm>
      </p:grpSpPr>
      <p:sp>
        <p:nvSpPr>
          <p:cNvPr id="905" name="Google Shape;905;p26"/>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06" name="Google Shape;906;p26"/>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07" name="Google Shape;907;p2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8" name="Google Shape;908;p2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9" name="Google Shape;909;p2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10" Type="http://schemas.openxmlformats.org/officeDocument/2006/relationships/image" Target="../media/image1.png"/><Relationship Id="rId4" Type="http://schemas.openxmlformats.org/officeDocument/2006/relationships/slideLayout" Target="../slideLayouts/slideLayout17.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51"/>
        <p:cNvGrpSpPr/>
        <p:nvPr/>
      </p:nvGrpSpPr>
      <p:grpSpPr>
        <a:xfrm>
          <a:off x="0" y="0"/>
          <a:ext cx="0" cy="0"/>
          <a:chOff x="0" y="0"/>
          <a:chExt cx="0" cy="0"/>
        </a:xfrm>
      </p:grpSpPr>
      <p:sp>
        <p:nvSpPr>
          <p:cNvPr id="752" name="Google Shape;752;p1"/>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53" name="Google Shape;753;p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54" name="Google Shape;754;p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5" name="Google Shape;755;p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6" name="Google Shape;756;p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7" name="Google Shape;757;p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758" name="Google Shape;758;p1"/>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759" name="Google Shape;759;p1"/>
          <p:cNvPicPr preferRelativeResize="0"/>
          <p:nvPr/>
        </p:nvPicPr>
        <p:blipFill rotWithShape="1">
          <a:blip r:embed="rId15">
            <a:alphaModFix/>
          </a:blip>
          <a:srcRect/>
          <a:stretch/>
        </p:blipFill>
        <p:spPr>
          <a:xfrm>
            <a:off x="9890762" y="6165912"/>
            <a:ext cx="1935479" cy="61806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2"/>
        <p:cNvGrpSpPr/>
        <p:nvPr/>
      </p:nvGrpSpPr>
      <p:grpSpPr>
        <a:xfrm>
          <a:off x="0" y="0"/>
          <a:ext cx="0" cy="0"/>
          <a:chOff x="0" y="0"/>
          <a:chExt cx="0" cy="0"/>
        </a:xfrm>
      </p:grpSpPr>
      <p:sp>
        <p:nvSpPr>
          <p:cNvPr id="833" name="Google Shape;833;p15"/>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34" name="Google Shape;834;p1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835" name="Google Shape;835;p1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36" name="Google Shape;836;p1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7" name="Google Shape;837;p1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8" name="Google Shape;838;p1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839" name="Google Shape;839;p15"/>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840" name="Google Shape;840;p15"/>
          <p:cNvPicPr preferRelativeResize="0"/>
          <p:nvPr/>
        </p:nvPicPr>
        <p:blipFill rotWithShape="1">
          <a:blip r:embed="rId10">
            <a:alphaModFix/>
          </a:blip>
          <a:srcRect/>
          <a:stretch/>
        </p:blipFill>
        <p:spPr>
          <a:xfrm>
            <a:off x="9890762" y="6165912"/>
            <a:ext cx="1935479" cy="61806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1" r:id="rId1"/>
    <p:sldLayoutId id="2147483664" r:id="rId2"/>
    <p:sldLayoutId id="2147483665" r:id="rId3"/>
    <p:sldLayoutId id="2147483666" r:id="rId4"/>
    <p:sldLayoutId id="2147483668" r:id="rId5"/>
    <p:sldLayoutId id="2147483669" r:id="rId6"/>
    <p:sldLayoutId id="2147483670" r:id="rId7"/>
    <p:sldLayoutId id="2147483671"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Uppara-Veeranjaneyulu/SafeRoad-AI"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hyperlink" Target="mailto:cb.sc.u4cse23111@cb.students.amrita.edu" TargetMode="External"/><Relationship Id="rId3" Type="http://schemas.openxmlformats.org/officeDocument/2006/relationships/hyperlink" Target="https://github.com/iamchitturi" TargetMode="External"/><Relationship Id="rId7" Type="http://schemas.openxmlformats.org/officeDocument/2006/relationships/hyperlink" Target="https://github.com/Uppara-Veeranjaneyulu"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mailto:cb.sc.u4cse23131@cb.students.amrita.edu" TargetMode="External"/><Relationship Id="rId5" Type="http://schemas.openxmlformats.org/officeDocument/2006/relationships/hyperlink" Target="https://github.com/Hemasai23266" TargetMode="External"/><Relationship Id="rId4" Type="http://schemas.openxmlformats.org/officeDocument/2006/relationships/hyperlink" Target="mailto:cb.sc.u4cse23113@cb.students.amrita.edu" TargetMode="External"/><Relationship Id="rId9" Type="http://schemas.openxmlformats.org/officeDocument/2006/relationships/hyperlink" Target="https://github.com/charanchandr"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mobileye.com/" TargetMode="External"/><Relationship Id="rId2" Type="http://schemas.openxmlformats.org/officeDocument/2006/relationships/hyperlink" Target="https://www.tesla.com/autopilot"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garmin.com/"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9" name="Google Shape;1029;p45"/>
          <p:cNvSpPr txBox="1"/>
          <p:nvPr/>
        </p:nvSpPr>
        <p:spPr>
          <a:xfrm>
            <a:off x="432519" y="4558467"/>
            <a:ext cx="11220600" cy="15080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86072"/>
              </a:buClr>
              <a:buSzPts val="2400"/>
              <a:buFont typeface="Times New Roman"/>
              <a:buNone/>
            </a:pPr>
            <a:r>
              <a:rPr lang="en-IN" sz="2400" b="1" i="0" u="none" strike="noStrike" cap="none" dirty="0">
                <a:solidFill>
                  <a:srgbClr val="086072"/>
                </a:solidFill>
                <a:latin typeface="Times New Roman"/>
                <a:ea typeface="Times New Roman"/>
                <a:cs typeface="Times New Roman"/>
                <a:sym typeface="Times New Roman"/>
              </a:rPr>
              <a:t> </a:t>
            </a:r>
            <a:endParaRPr dirty="0"/>
          </a:p>
          <a:p>
            <a:pPr marL="0" marR="0" lvl="0" indent="0" algn="ctr" rtl="0">
              <a:lnSpc>
                <a:spcPct val="100000"/>
              </a:lnSpc>
              <a:spcBef>
                <a:spcPts val="0"/>
              </a:spcBef>
              <a:spcAft>
                <a:spcPts val="0"/>
              </a:spcAft>
              <a:buClr>
                <a:schemeClr val="dk1"/>
              </a:buClr>
              <a:buSzPts val="2400"/>
              <a:buFont typeface="Calibri"/>
              <a:buNone/>
            </a:pPr>
            <a:endParaRPr sz="2400" b="1" i="0" u="none" strike="noStrike" cap="none" dirty="0">
              <a:solidFill>
                <a:srgbClr val="086072"/>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86072"/>
              </a:buClr>
              <a:buSzPts val="2400"/>
              <a:buFont typeface="Times New Roman"/>
              <a:buNone/>
            </a:pPr>
            <a:r>
              <a:rPr lang="en-IN" sz="2400" b="1" i="0" u="none" strike="noStrike" cap="none" dirty="0">
                <a:solidFill>
                  <a:srgbClr val="086072"/>
                </a:solidFill>
                <a:latin typeface="Times New Roman"/>
                <a:ea typeface="Times New Roman"/>
                <a:cs typeface="Times New Roman"/>
                <a:sym typeface="Times New Roman"/>
              </a:rPr>
              <a:t>Case study Review 1</a:t>
            </a:r>
            <a:endParaRPr sz="2400" b="1" i="0" u="none" strike="noStrike" cap="none" dirty="0">
              <a:solidFill>
                <a:srgbClr val="086072"/>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B6114D"/>
              </a:buClr>
              <a:buSzPts val="2000"/>
              <a:buFont typeface="Times New Roman"/>
              <a:buNone/>
            </a:pPr>
            <a:r>
              <a:rPr lang="en-IN" sz="2000" b="1" i="0" u="none" strike="noStrike" cap="none" dirty="0">
                <a:solidFill>
                  <a:srgbClr val="B6114D"/>
                </a:solidFill>
                <a:latin typeface="Times New Roman"/>
                <a:ea typeface="Times New Roman"/>
                <a:cs typeface="Times New Roman"/>
                <a:sym typeface="Times New Roman"/>
              </a:rPr>
              <a:t>Professor – T Senthil Kumar (CSE)</a:t>
            </a:r>
          </a:p>
        </p:txBody>
      </p:sp>
      <p:sp>
        <p:nvSpPr>
          <p:cNvPr id="5" name="TextBox 4">
            <a:extLst>
              <a:ext uri="{FF2B5EF4-FFF2-40B4-BE49-F238E27FC236}">
                <a16:creationId xmlns:a16="http://schemas.microsoft.com/office/drawing/2014/main" id="{A883D02C-DB3D-099F-38CA-F5552D0764C8}"/>
              </a:ext>
            </a:extLst>
          </p:cNvPr>
          <p:cNvSpPr txBox="1"/>
          <p:nvPr/>
        </p:nvSpPr>
        <p:spPr>
          <a:xfrm>
            <a:off x="727586" y="629186"/>
            <a:ext cx="9807552" cy="2522485"/>
          </a:xfrm>
          <a:prstGeom prst="rect">
            <a:avLst/>
          </a:prstGeom>
          <a:noFill/>
        </p:spPr>
        <p:txBody>
          <a:bodyPr wrap="square" lIns="91440" tIns="45720" rIns="91440" bIns="45720" anchor="t">
            <a:spAutoFit/>
          </a:bodyPr>
          <a:lstStyle/>
          <a:p>
            <a:pPr algn="just">
              <a:lnSpc>
                <a:spcPts val="10425"/>
              </a:lnSpc>
              <a:buNone/>
            </a:pPr>
            <a:r>
              <a:rPr lang="en-IN" sz="3200" b="1" dirty="0">
                <a:solidFill>
                  <a:srgbClr val="FF0000"/>
                </a:solidFill>
                <a:latin typeface="Times New Roman" panose="02020603050405020304" pitchFamily="18" charset="0"/>
                <a:ea typeface="Calibri"/>
                <a:cs typeface="Times New Roman" panose="02020603050405020304" pitchFamily="18" charset="0"/>
              </a:rPr>
              <a:t> 			            23CSE473</a:t>
            </a:r>
            <a:endParaRPr lang="en-IN" sz="3200" b="1" i="0" dirty="0">
              <a:solidFill>
                <a:srgbClr val="FF0000"/>
              </a:solidFill>
              <a:effectLst/>
              <a:latin typeface="Times New Roman" panose="02020603050405020304" pitchFamily="18" charset="0"/>
              <a:ea typeface="Calibri"/>
              <a:cs typeface="Times New Roman" panose="02020603050405020304" pitchFamily="18" charset="0"/>
            </a:endParaRPr>
          </a:p>
          <a:p>
            <a:pPr algn="just">
              <a:lnSpc>
                <a:spcPts val="10425"/>
              </a:lnSpc>
              <a:buNone/>
            </a:pPr>
            <a:r>
              <a:rPr lang="en-IN" sz="3200" b="1" i="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NEURAL NETWORKS &amp; DEEP LEARNING</a:t>
            </a:r>
          </a:p>
        </p:txBody>
      </p:sp>
      <p:pic>
        <p:nvPicPr>
          <p:cNvPr id="4098" name="Picture 2">
            <a:hlinkClick r:id="rId3"/>
            <a:extLst>
              <a:ext uri="{FF2B5EF4-FFF2-40B4-BE49-F238E27FC236}">
                <a16:creationId xmlns:a16="http://schemas.microsoft.com/office/drawing/2014/main" id="{AD53C48F-588A-F114-1BCA-BE226FC41D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01239" y="2536764"/>
            <a:ext cx="533400" cy="533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6">
          <a:extLst>
            <a:ext uri="{FF2B5EF4-FFF2-40B4-BE49-F238E27FC236}">
              <a16:creationId xmlns:a16="http://schemas.microsoft.com/office/drawing/2014/main" id="{0FCCE3BC-3BAD-AB35-9E12-937AB403F66D}"/>
            </a:ext>
          </a:extLst>
        </p:cNvPr>
        <p:cNvGrpSpPr/>
        <p:nvPr/>
      </p:nvGrpSpPr>
      <p:grpSpPr>
        <a:xfrm>
          <a:off x="0" y="0"/>
          <a:ext cx="0" cy="0"/>
          <a:chOff x="0" y="0"/>
          <a:chExt cx="0" cy="0"/>
        </a:xfrm>
      </p:grpSpPr>
      <p:sp>
        <p:nvSpPr>
          <p:cNvPr id="1027" name="Google Shape;1027;p45">
            <a:extLst>
              <a:ext uri="{FF2B5EF4-FFF2-40B4-BE49-F238E27FC236}">
                <a16:creationId xmlns:a16="http://schemas.microsoft.com/office/drawing/2014/main" id="{C3E8B330-2614-C4CB-CDA5-23F108107F54}"/>
              </a:ext>
            </a:extLst>
          </p:cNvPr>
          <p:cNvSpPr txBox="1">
            <a:spLocks noGrp="1"/>
          </p:cNvSpPr>
          <p:nvPr>
            <p:ph type="ctrTitle"/>
          </p:nvPr>
        </p:nvSpPr>
        <p:spPr>
          <a:xfrm>
            <a:off x="109050" y="304800"/>
            <a:ext cx="11973900" cy="1273907"/>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150000"/>
              </a:lnSpc>
              <a:spcBef>
                <a:spcPts val="0"/>
              </a:spcBef>
              <a:spcAft>
                <a:spcPts val="0"/>
              </a:spcAft>
              <a:buClr>
                <a:srgbClr val="086072"/>
              </a:buClr>
              <a:buSzPct val="100000"/>
              <a:buFont typeface="Poppins"/>
              <a:buNone/>
            </a:pPr>
            <a:r>
              <a:rPr lang="en-US" sz="3600">
                <a:solidFill>
                  <a:srgbClr val="FF0000"/>
                </a:solidFill>
              </a:rPr>
              <a:t>ROAD SCENE RISK CLASSIFICATION &amp; TRAFFIC MONITORING</a:t>
            </a:r>
            <a:endParaRPr>
              <a:solidFill>
                <a:srgbClr val="FF0000"/>
              </a:solidFill>
            </a:endParaRPr>
          </a:p>
        </p:txBody>
      </p:sp>
      <p:graphicFrame>
        <p:nvGraphicFramePr>
          <p:cNvPr id="2" name="Table 1">
            <a:extLst>
              <a:ext uri="{FF2B5EF4-FFF2-40B4-BE49-F238E27FC236}">
                <a16:creationId xmlns:a16="http://schemas.microsoft.com/office/drawing/2014/main" id="{CCE043AD-284C-F947-811E-90A50AAD56A5}"/>
              </a:ext>
            </a:extLst>
          </p:cNvPr>
          <p:cNvGraphicFramePr>
            <a:graphicFrameLocks noGrp="1"/>
          </p:cNvGraphicFramePr>
          <p:nvPr>
            <p:extLst>
              <p:ext uri="{D42A27DB-BD31-4B8C-83A1-F6EECF244321}">
                <p14:modId xmlns:p14="http://schemas.microsoft.com/office/powerpoint/2010/main" val="2113161188"/>
              </p:ext>
            </p:extLst>
          </p:nvPr>
        </p:nvGraphicFramePr>
        <p:xfrm>
          <a:off x="355600" y="1981200"/>
          <a:ext cx="11445731" cy="3147726"/>
        </p:xfrm>
        <a:graphic>
          <a:graphicData uri="http://schemas.openxmlformats.org/drawingml/2006/table">
            <a:tbl>
              <a:tblPr firstRow="1" bandRow="1">
                <a:tableStyleId>{B229F12B-DD2F-434A-8BDD-88915C9BCD54}</a:tableStyleId>
              </a:tblPr>
              <a:tblGrid>
                <a:gridCol w="2289146">
                  <a:extLst>
                    <a:ext uri="{9D8B030D-6E8A-4147-A177-3AD203B41FA5}">
                      <a16:colId xmlns:a16="http://schemas.microsoft.com/office/drawing/2014/main" val="2695041279"/>
                    </a:ext>
                  </a:extLst>
                </a:gridCol>
                <a:gridCol w="2289146">
                  <a:extLst>
                    <a:ext uri="{9D8B030D-6E8A-4147-A177-3AD203B41FA5}">
                      <a16:colId xmlns:a16="http://schemas.microsoft.com/office/drawing/2014/main" val="2356188089"/>
                    </a:ext>
                  </a:extLst>
                </a:gridCol>
                <a:gridCol w="2417379">
                  <a:extLst>
                    <a:ext uri="{9D8B030D-6E8A-4147-A177-3AD203B41FA5}">
                      <a16:colId xmlns:a16="http://schemas.microsoft.com/office/drawing/2014/main" val="1426936652"/>
                    </a:ext>
                  </a:extLst>
                </a:gridCol>
                <a:gridCol w="2160914">
                  <a:extLst>
                    <a:ext uri="{9D8B030D-6E8A-4147-A177-3AD203B41FA5}">
                      <a16:colId xmlns:a16="http://schemas.microsoft.com/office/drawing/2014/main" val="3827750167"/>
                    </a:ext>
                  </a:extLst>
                </a:gridCol>
                <a:gridCol w="2289146">
                  <a:extLst>
                    <a:ext uri="{9D8B030D-6E8A-4147-A177-3AD203B41FA5}">
                      <a16:colId xmlns:a16="http://schemas.microsoft.com/office/drawing/2014/main" val="1476292282"/>
                    </a:ext>
                  </a:extLst>
                </a:gridCol>
              </a:tblGrid>
              <a:tr h="302219">
                <a:tc gridSpan="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800" b="1"/>
                        <a:t>TEAM NUMBER - 10</a:t>
                      </a:r>
                    </a:p>
                  </a:txBody>
                  <a:tcPr anchor="ct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93542243"/>
                  </a:ext>
                </a:extLst>
              </a:tr>
              <a:tr h="302219">
                <a:tc>
                  <a:txBody>
                    <a:bodyPr/>
                    <a:lstStyle/>
                    <a:p>
                      <a:pPr algn="ctr"/>
                      <a:r>
                        <a:rPr lang="en-IN" sz="1600" b="1"/>
                        <a:t>NAME</a:t>
                      </a:r>
                    </a:p>
                  </a:txBody>
                  <a:tcPr anchor="ctr"/>
                </a:tc>
                <a:tc>
                  <a:txBody>
                    <a:bodyPr/>
                    <a:lstStyle/>
                    <a:p>
                      <a:pPr algn="ctr"/>
                      <a:r>
                        <a:rPr lang="en-IN" sz="1600" b="1"/>
                        <a:t>ROLL NUMBER</a:t>
                      </a:r>
                    </a:p>
                  </a:txBody>
                  <a:tcPr anchor="ctr"/>
                </a:tc>
                <a:tc>
                  <a:txBody>
                    <a:bodyPr/>
                    <a:lstStyle/>
                    <a:p>
                      <a:pPr algn="ctr"/>
                      <a:r>
                        <a:rPr lang="en-IN" sz="1600" b="1"/>
                        <a:t>GITHUB URL</a:t>
                      </a:r>
                    </a:p>
                  </a:txBody>
                  <a:tcPr anchor="ctr"/>
                </a:tc>
                <a:tc>
                  <a:txBody>
                    <a:bodyPr/>
                    <a:lstStyle/>
                    <a:p>
                      <a:pPr algn="ctr"/>
                      <a:r>
                        <a:rPr lang="en-IN" sz="1600" b="1"/>
                        <a:t>COLLEGE MAIL ID</a:t>
                      </a:r>
                    </a:p>
                  </a:txBody>
                  <a:tcPr anchor="ctr"/>
                </a:tc>
                <a:tc>
                  <a:txBody>
                    <a:bodyPr/>
                    <a:lstStyle/>
                    <a:p>
                      <a:pPr algn="ctr"/>
                      <a:r>
                        <a:rPr lang="en-IN" b="1"/>
                        <a:t>MOBILE NUMBER</a:t>
                      </a:r>
                    </a:p>
                  </a:txBody>
                  <a:tcPr anchor="ctr"/>
                </a:tc>
                <a:extLst>
                  <a:ext uri="{0D108BD9-81ED-4DB2-BD59-A6C34878D82A}">
                    <a16:rowId xmlns:a16="http://schemas.microsoft.com/office/drawing/2014/main" val="2075334891"/>
                  </a:ext>
                </a:extLst>
              </a:tr>
              <a:tr h="676394">
                <a:tc>
                  <a:txBody>
                    <a:bodyPr/>
                    <a:lstStyle/>
                    <a:p>
                      <a:pPr algn="ctr" fontAlgn="b">
                        <a:buNone/>
                      </a:pPr>
                      <a:r>
                        <a:rPr lang="en-IN" sz="1600" b="1" i="0" u="none" strike="noStrike">
                          <a:solidFill>
                            <a:srgbClr val="000000"/>
                          </a:solidFill>
                          <a:effectLst/>
                          <a:latin typeface="Calibri"/>
                        </a:rPr>
                        <a:t>Chaitanya Chitturi</a:t>
                      </a:r>
                    </a:p>
                  </a:txBody>
                  <a:tcPr marL="4763" marR="4763" marT="4763" anchor="ctr"/>
                </a:tc>
                <a:tc>
                  <a:txBody>
                    <a:bodyPr/>
                    <a:lstStyle/>
                    <a:p>
                      <a:pPr algn="ctr" fontAlgn="b">
                        <a:buNone/>
                      </a:pPr>
                      <a:r>
                        <a:rPr lang="en-IN" sz="1600" b="0" i="0" u="none" strike="noStrike">
                          <a:solidFill>
                            <a:srgbClr val="000000"/>
                          </a:solidFill>
                          <a:effectLst/>
                          <a:latin typeface="Calibri"/>
                        </a:rPr>
                        <a:t>CB.SC.U4CSE23214</a:t>
                      </a:r>
                      <a:endParaRPr lang="en-IN" sz="1600" b="0" i="0" u="none" strike="noStrike">
                        <a:solidFill>
                          <a:srgbClr val="000000"/>
                        </a:solidFill>
                        <a:effectLst/>
                        <a:latin typeface="Calibri" panose="020F0502020204030204" pitchFamily="34" charset="0"/>
                      </a:endParaRPr>
                    </a:p>
                  </a:txBody>
                  <a:tcPr marL="4763" marR="4763" marT="4763" anchor="ctr"/>
                </a:tc>
                <a:tc>
                  <a:txBody>
                    <a:bodyPr/>
                    <a:lstStyle/>
                    <a:p>
                      <a:pPr lvl="0" algn="ctr">
                        <a:lnSpc>
                          <a:spcPct val="100000"/>
                        </a:lnSpc>
                        <a:spcBef>
                          <a:spcPts val="0"/>
                        </a:spcBef>
                        <a:spcAft>
                          <a:spcPts val="0"/>
                        </a:spcAft>
                        <a:buNone/>
                      </a:pPr>
                      <a:r>
                        <a:rPr lang="en-IN" sz="1600" b="1" i="0" u="none" strike="noStrike" noProof="0" dirty="0">
                          <a:solidFill>
                            <a:srgbClr val="000000"/>
                          </a:solidFill>
                          <a:latin typeface="Calibri"/>
                          <a:ea typeface="Calibri"/>
                          <a:cs typeface="Calibri"/>
                          <a:hlinkClick r:id="rId3"/>
                        </a:rPr>
                        <a:t>https://github.com/iamchitturi</a:t>
                      </a:r>
                      <a:endParaRPr 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600" b="1" dirty="0">
                          <a:hlinkClick r:id="rId4"/>
                        </a:rPr>
                        <a:t>cb.sc.u4cse23214@cb.students.amrita.edu</a:t>
                      </a:r>
                      <a:endParaRPr lang="en-IN" sz="1600" b="1" dirty="0"/>
                    </a:p>
                  </a:txBody>
                  <a:tcPr anchor="ctr"/>
                </a:tc>
                <a:tc>
                  <a:txBody>
                    <a:bodyPr/>
                    <a:lstStyle/>
                    <a:p>
                      <a:pPr algn="ctr"/>
                      <a:r>
                        <a:rPr lang="en-US" b="1"/>
                        <a:t>9392575566</a:t>
                      </a:r>
                    </a:p>
                  </a:txBody>
                  <a:tcPr anchor="ctr"/>
                </a:tc>
                <a:extLst>
                  <a:ext uri="{0D108BD9-81ED-4DB2-BD59-A6C34878D82A}">
                    <a16:rowId xmlns:a16="http://schemas.microsoft.com/office/drawing/2014/main" val="1033306112"/>
                  </a:ext>
                </a:extLst>
              </a:tr>
              <a:tr h="489307">
                <a:tc>
                  <a:txBody>
                    <a:bodyPr/>
                    <a:lstStyle/>
                    <a:p>
                      <a:pPr lvl="0" algn="ctr">
                        <a:lnSpc>
                          <a:spcPct val="100000"/>
                        </a:lnSpc>
                        <a:spcBef>
                          <a:spcPts val="0"/>
                        </a:spcBef>
                        <a:spcAft>
                          <a:spcPts val="0"/>
                        </a:spcAft>
                        <a:buNone/>
                      </a:pPr>
                      <a:r>
                        <a:rPr lang="en-IN" sz="1600" b="1" i="0" u="none" strike="noStrike" noProof="0">
                          <a:solidFill>
                            <a:srgbClr val="000000"/>
                          </a:solidFill>
                          <a:latin typeface="Calibri"/>
                          <a:ea typeface="Calibri"/>
                          <a:cs typeface="Calibri"/>
                        </a:rPr>
                        <a:t>T Hema Sai</a:t>
                      </a:r>
                      <a:endParaRPr lang="en-US"/>
                    </a:p>
                  </a:txBody>
                  <a:tcPr anchor="ctr"/>
                </a:tc>
                <a:tc>
                  <a:txBody>
                    <a:bodyPr/>
                    <a:lstStyle/>
                    <a:p>
                      <a:pPr algn="ctr" fontAlgn="b">
                        <a:buNone/>
                      </a:pPr>
                      <a:r>
                        <a:rPr lang="en-IN" sz="1600" b="0" i="0" u="none" strike="noStrike">
                          <a:solidFill>
                            <a:srgbClr val="000000"/>
                          </a:solidFill>
                          <a:effectLst/>
                          <a:latin typeface="Calibri"/>
                        </a:rPr>
                        <a:t>CB.SC.U4CSE23266</a:t>
                      </a:r>
                      <a:endParaRPr lang="en-IN" sz="1600" b="0" i="0" u="none" strike="noStrike">
                        <a:solidFill>
                          <a:srgbClr val="000000"/>
                        </a:solidFill>
                        <a:effectLst/>
                        <a:latin typeface="Calibri" panose="020F0502020204030204" pitchFamily="34" charset="0"/>
                      </a:endParaRPr>
                    </a:p>
                  </a:txBody>
                  <a:tcPr marL="4763" marR="4763" marT="4763" anchor="ctr"/>
                </a:tc>
                <a:tc>
                  <a:txBody>
                    <a:bodyPr/>
                    <a:lstStyle/>
                    <a:p>
                      <a:pPr lvl="0" algn="ctr">
                        <a:lnSpc>
                          <a:spcPct val="100000"/>
                        </a:lnSpc>
                        <a:spcBef>
                          <a:spcPts val="0"/>
                        </a:spcBef>
                        <a:spcAft>
                          <a:spcPts val="0"/>
                        </a:spcAft>
                        <a:buNone/>
                      </a:pPr>
                      <a:r>
                        <a:rPr lang="en-IN" sz="1600" b="1" i="0" u="none" strike="noStrike" noProof="0" dirty="0">
                          <a:solidFill>
                            <a:srgbClr val="000000"/>
                          </a:solidFill>
                          <a:latin typeface="Calibri"/>
                          <a:ea typeface="Calibri"/>
                          <a:cs typeface="Calibri"/>
                          <a:hlinkClick r:id="rId5"/>
                        </a:rPr>
                        <a:t>https://github.com/Hemasai23266</a:t>
                      </a:r>
                      <a:endParaRPr lang="en-US" dirty="0"/>
                    </a:p>
                  </a:txBody>
                  <a:tcPr anchor="ctr"/>
                </a:tc>
                <a:tc>
                  <a:txBody>
                    <a:bodyPr/>
                    <a:lstStyle/>
                    <a:p>
                      <a:pPr algn="ctr"/>
                      <a:r>
                        <a:rPr lang="en-IN" sz="1600" b="1" dirty="0">
                          <a:hlinkClick r:id="rId6"/>
                        </a:rPr>
                        <a:t>cb.sc.u4cse23266@cb.students.amrita.edu</a:t>
                      </a:r>
                      <a:endParaRPr lang="en-IN" sz="1600" b="1" dirty="0"/>
                    </a:p>
                  </a:txBody>
                  <a:tcPr anchor="ctr"/>
                </a:tc>
                <a:tc>
                  <a:txBody>
                    <a:bodyPr/>
                    <a:lstStyle/>
                    <a:p>
                      <a:pPr lvl="0" algn="ctr">
                        <a:lnSpc>
                          <a:spcPct val="100000"/>
                        </a:lnSpc>
                        <a:spcBef>
                          <a:spcPts val="0"/>
                        </a:spcBef>
                        <a:spcAft>
                          <a:spcPts val="0"/>
                        </a:spcAft>
                        <a:buNone/>
                      </a:pPr>
                      <a:r>
                        <a:rPr lang="en-IN" sz="1400" b="1" i="0" u="none" strike="noStrike" noProof="0">
                          <a:solidFill>
                            <a:srgbClr val="000000"/>
                          </a:solidFill>
                          <a:latin typeface="Calibri"/>
                          <a:ea typeface="Calibri"/>
                          <a:cs typeface="Calibri"/>
                        </a:rPr>
                        <a:t>9059587397</a:t>
                      </a:r>
                      <a:endParaRPr lang="en-US"/>
                    </a:p>
                  </a:txBody>
                  <a:tcPr anchor="ctr"/>
                </a:tc>
                <a:extLst>
                  <a:ext uri="{0D108BD9-81ED-4DB2-BD59-A6C34878D82A}">
                    <a16:rowId xmlns:a16="http://schemas.microsoft.com/office/drawing/2014/main" val="2780252474"/>
                  </a:ext>
                </a:extLst>
              </a:tr>
              <a:tr h="595586">
                <a:tc>
                  <a:txBody>
                    <a:bodyPr/>
                    <a:lstStyle/>
                    <a:p>
                      <a:pPr algn="ctr"/>
                      <a:r>
                        <a:rPr lang="en-US" sz="1600" b="1" dirty="0"/>
                        <a:t>U </a:t>
                      </a:r>
                      <a:r>
                        <a:rPr lang="en-US" sz="1600" b="1" dirty="0" err="1"/>
                        <a:t>Veeranjaneyulu</a:t>
                      </a:r>
                    </a:p>
                  </a:txBody>
                  <a:tcPr anchor="ctr"/>
                </a:tc>
                <a:tc>
                  <a:txBody>
                    <a:bodyPr/>
                    <a:lstStyle/>
                    <a:p>
                      <a:pPr algn="ctr" fontAlgn="b">
                        <a:buNone/>
                      </a:pPr>
                      <a:r>
                        <a:rPr lang="en-IN" sz="1600" b="0" i="0" u="none" strike="noStrike">
                          <a:solidFill>
                            <a:srgbClr val="000000"/>
                          </a:solidFill>
                          <a:effectLst/>
                          <a:latin typeface="Calibri" panose="020F0502020204030204" pitchFamily="34" charset="0"/>
                        </a:rPr>
                        <a:t>CB.SC.U4CSE23351</a:t>
                      </a:r>
                    </a:p>
                  </a:txBody>
                  <a:tcPr marL="4763" marR="4763" marT="4763" anchor="ctr"/>
                </a:tc>
                <a:tc>
                  <a:txBody>
                    <a:bodyPr/>
                    <a:lstStyle/>
                    <a:p>
                      <a:pPr lvl="0" algn="ctr">
                        <a:lnSpc>
                          <a:spcPct val="100000"/>
                        </a:lnSpc>
                        <a:spcBef>
                          <a:spcPts val="0"/>
                        </a:spcBef>
                        <a:spcAft>
                          <a:spcPts val="0"/>
                        </a:spcAft>
                        <a:buNone/>
                      </a:pPr>
                      <a:r>
                        <a:rPr lang="en-US" b="1" dirty="0">
                          <a:hlinkClick r:id="rId7"/>
                        </a:rPr>
                        <a:t>https://github.com/Uppara-Veeranjaneyulu</a:t>
                      </a:r>
                      <a:endParaRPr lang="en-US" b="1" dirty="0"/>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600" b="1" dirty="0">
                          <a:hlinkClick r:id="rId8"/>
                        </a:rPr>
                        <a:t>cb.sc.u4cse23351@cb.students.amrita.edu</a:t>
                      </a:r>
                      <a:endParaRPr lang="en-IN" sz="1600" b="1" dirty="0"/>
                    </a:p>
                  </a:txBody>
                  <a:tcPr anchor="ctr"/>
                </a:tc>
                <a:tc>
                  <a:txBody>
                    <a:bodyPr/>
                    <a:lstStyle/>
                    <a:p>
                      <a:pPr algn="ctr"/>
                      <a:r>
                        <a:rPr lang="en-US" b="1"/>
                        <a:t>9848267497</a:t>
                      </a:r>
                    </a:p>
                  </a:txBody>
                  <a:tcPr anchor="ctr"/>
                </a:tc>
                <a:extLst>
                  <a:ext uri="{0D108BD9-81ED-4DB2-BD59-A6C34878D82A}">
                    <a16:rowId xmlns:a16="http://schemas.microsoft.com/office/drawing/2014/main" val="1924407086"/>
                  </a:ext>
                </a:extLst>
              </a:tr>
              <a:tr h="595586">
                <a:tc>
                  <a:txBody>
                    <a:bodyPr/>
                    <a:lstStyle/>
                    <a:p>
                      <a:pPr algn="ctr"/>
                      <a:r>
                        <a:rPr lang="en-US" sz="1600" b="1"/>
                        <a:t>Charan Kola</a:t>
                      </a:r>
                    </a:p>
                  </a:txBody>
                  <a:tcPr anchor="ctr"/>
                </a:tc>
                <a:tc>
                  <a:txBody>
                    <a:bodyPr/>
                    <a:lstStyle/>
                    <a:p>
                      <a:pPr algn="ctr" fontAlgn="b">
                        <a:buNone/>
                      </a:pPr>
                      <a:r>
                        <a:rPr lang="en-IN" sz="1600" b="0" i="0" u="none" strike="noStrike">
                          <a:solidFill>
                            <a:srgbClr val="000000"/>
                          </a:solidFill>
                          <a:effectLst/>
                          <a:latin typeface="Calibri" panose="020F0502020204030204" pitchFamily="34" charset="0"/>
                        </a:rPr>
                        <a:t>CB.SC.U4CSE23332</a:t>
                      </a:r>
                    </a:p>
                  </a:txBody>
                  <a:tcPr marL="4763" marR="4763" marT="4763" anchor="ctr"/>
                </a:tc>
                <a:tc>
                  <a:txBody>
                    <a:bodyPr/>
                    <a:lstStyle/>
                    <a:p>
                      <a:pPr lvl="0" algn="ctr">
                        <a:lnSpc>
                          <a:spcPct val="100000"/>
                        </a:lnSpc>
                        <a:spcBef>
                          <a:spcPts val="0"/>
                        </a:spcBef>
                        <a:spcAft>
                          <a:spcPts val="0"/>
                        </a:spcAft>
                        <a:buNone/>
                      </a:pPr>
                      <a:r>
                        <a:rPr lang="en-IN" sz="1600" b="1" i="0" u="sng" strike="noStrike" noProof="0" dirty="0">
                          <a:solidFill>
                            <a:srgbClr val="000000"/>
                          </a:solidFill>
                          <a:latin typeface="Calibri"/>
                          <a:ea typeface="Calibri"/>
                          <a:cs typeface="Calibri"/>
                          <a:hlinkClick r:id="rId9"/>
                        </a:rPr>
                        <a:t>https://github.com/charanchandr</a:t>
                      </a:r>
                      <a:endParaRPr 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600" b="1" dirty="0">
                          <a:hlinkClick r:id="rId8"/>
                        </a:rPr>
                        <a:t>cb.sc.u4cse23332@cb.students.amrita.edu</a:t>
                      </a:r>
                      <a:endParaRPr lang="en-IN" sz="1600" b="1" dirty="0"/>
                    </a:p>
                  </a:txBody>
                  <a:tcPr anchor="ctr"/>
                </a:tc>
                <a:tc>
                  <a:txBody>
                    <a:bodyPr/>
                    <a:lstStyle/>
                    <a:p>
                      <a:pPr algn="ctr"/>
                      <a:r>
                        <a:rPr lang="en-US" b="1" dirty="0"/>
                        <a:t>8977400553</a:t>
                      </a:r>
                    </a:p>
                  </a:txBody>
                  <a:tcPr anchor="ctr"/>
                </a:tc>
                <a:extLst>
                  <a:ext uri="{0D108BD9-81ED-4DB2-BD59-A6C34878D82A}">
                    <a16:rowId xmlns:a16="http://schemas.microsoft.com/office/drawing/2014/main" val="965930612"/>
                  </a:ext>
                </a:extLst>
              </a:tr>
            </a:tbl>
          </a:graphicData>
        </a:graphic>
      </p:graphicFrame>
    </p:spTree>
    <p:extLst>
      <p:ext uri="{BB962C8B-B14F-4D97-AF65-F5344CB8AC3E}">
        <p14:creationId xmlns:p14="http://schemas.microsoft.com/office/powerpoint/2010/main" val="1805503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0F9A32D-F2C0-354D-E953-37860128BB51}"/>
              </a:ext>
            </a:extLst>
          </p:cNvPr>
          <p:cNvSpPr txBox="1"/>
          <p:nvPr/>
        </p:nvSpPr>
        <p:spPr>
          <a:xfrm>
            <a:off x="611866" y="287028"/>
            <a:ext cx="9175365" cy="742511"/>
          </a:xfrm>
          <a:prstGeom prst="rect">
            <a:avLst/>
          </a:prstGeom>
          <a:noFill/>
        </p:spPr>
        <p:txBody>
          <a:bodyPr wrap="square">
            <a:spAutoFit/>
          </a:bodyPr>
          <a:lstStyle/>
          <a:p>
            <a:pPr lvl="0" eaLnBrk="0" fontAlgn="base" hangingPunct="0">
              <a:lnSpc>
                <a:spcPct val="150000"/>
              </a:lnSpc>
              <a:spcBef>
                <a:spcPct val="0"/>
              </a:spcBef>
              <a:spcAft>
                <a:spcPct val="0"/>
              </a:spcAft>
              <a:buClrTx/>
            </a:pPr>
            <a:r>
              <a:rPr lang="en-US" altLang="en-US" sz="3200" b="1">
                <a:solidFill>
                  <a:srgbClr val="FF0000"/>
                </a:solidFill>
                <a:latin typeface="Times New Roman" panose="02020603050405020304" pitchFamily="18" charset="0"/>
                <a:cs typeface="Times New Roman" panose="02020603050405020304" pitchFamily="18" charset="0"/>
              </a:rPr>
              <a:t>Product</a:t>
            </a:r>
          </a:p>
        </p:txBody>
      </p:sp>
      <p:sp>
        <p:nvSpPr>
          <p:cNvPr id="3" name="TextBox 2">
            <a:extLst>
              <a:ext uri="{FF2B5EF4-FFF2-40B4-BE49-F238E27FC236}">
                <a16:creationId xmlns:a16="http://schemas.microsoft.com/office/drawing/2014/main" id="{4A44D66B-B755-39A6-D1E0-EB9E8964E934}"/>
              </a:ext>
            </a:extLst>
          </p:cNvPr>
          <p:cNvSpPr txBox="1"/>
          <p:nvPr/>
        </p:nvSpPr>
        <p:spPr>
          <a:xfrm>
            <a:off x="1879042" y="1836130"/>
            <a:ext cx="8867111" cy="2000548"/>
          </a:xfrm>
          <a:prstGeom prst="rect">
            <a:avLst/>
          </a:prstGeom>
          <a:noFill/>
        </p:spPr>
        <p:txBody>
          <a:bodyPr wrap="square">
            <a:spAutoFit/>
          </a:bodyPr>
          <a:lstStyle/>
          <a:p>
            <a:pPr algn="ctr"/>
            <a:r>
              <a:rPr lang="en-IN" sz="4800" b="1" dirty="0" err="1">
                <a:solidFill>
                  <a:schemeClr val="accent1"/>
                </a:solidFill>
                <a:latin typeface="Times New Roman" panose="02020603050405020304" pitchFamily="18" charset="0"/>
                <a:cs typeface="Times New Roman" panose="02020603050405020304" pitchFamily="18" charset="0"/>
              </a:rPr>
              <a:t>SafeRoad</a:t>
            </a:r>
            <a:r>
              <a:rPr lang="en-IN" sz="4800" b="1" dirty="0">
                <a:solidFill>
                  <a:schemeClr val="accent1"/>
                </a:solidFill>
                <a:latin typeface="Times New Roman" panose="02020603050405020304" pitchFamily="18" charset="0"/>
                <a:cs typeface="Times New Roman" panose="02020603050405020304" pitchFamily="18" charset="0"/>
              </a:rPr>
              <a:t> AI</a:t>
            </a:r>
          </a:p>
          <a:p>
            <a:pPr lvl="4"/>
            <a:r>
              <a:rPr lang="en-IN" sz="2800" b="1" dirty="0">
                <a:latin typeface="Times New Roman" panose="02020603050405020304" pitchFamily="18" charset="0"/>
                <a:cs typeface="Times New Roman" panose="02020603050405020304" pitchFamily="18" charset="0"/>
              </a:rPr>
              <a:t>                   "Predict Risks. Prevent Accidents."</a:t>
            </a:r>
            <a:endParaRPr lang="en-IN" sz="2800" dirty="0"/>
          </a:p>
          <a:p>
            <a:endParaRPr lang="en-IN" sz="4800" b="1" dirty="0">
              <a:solidFill>
                <a:schemeClr val="accent1"/>
              </a:solidFill>
            </a:endParaRPr>
          </a:p>
        </p:txBody>
      </p:sp>
    </p:spTree>
    <p:extLst>
      <p:ext uri="{BB962C8B-B14F-4D97-AF65-F5344CB8AC3E}">
        <p14:creationId xmlns:p14="http://schemas.microsoft.com/office/powerpoint/2010/main" val="3625539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5F30F-5885-3904-3044-A8DAFF050518}"/>
              </a:ext>
            </a:extLst>
          </p:cNvPr>
          <p:cNvSpPr>
            <a:spLocks noGrp="1"/>
          </p:cNvSpPr>
          <p:nvPr>
            <p:ph type="title"/>
          </p:nvPr>
        </p:nvSpPr>
        <p:spPr/>
        <p:txBody>
          <a:bodyPr>
            <a:normAutofit/>
          </a:bodyPr>
          <a:lstStyle/>
          <a:p>
            <a:r>
              <a:rPr lang="en-IN" sz="3200" dirty="0">
                <a:solidFill>
                  <a:srgbClr val="FF0000"/>
                </a:solidFill>
                <a:latin typeface="Times New Roman" panose="02020603050405020304" pitchFamily="18" charset="0"/>
                <a:cs typeface="Times New Roman" panose="02020603050405020304" pitchFamily="18" charset="0"/>
              </a:rPr>
              <a:t>1. Introduction</a:t>
            </a:r>
          </a:p>
        </p:txBody>
      </p:sp>
      <p:sp>
        <p:nvSpPr>
          <p:cNvPr id="3" name="Text Placeholder 2">
            <a:extLst>
              <a:ext uri="{FF2B5EF4-FFF2-40B4-BE49-F238E27FC236}">
                <a16:creationId xmlns:a16="http://schemas.microsoft.com/office/drawing/2014/main" id="{DCC0F353-6C30-E50E-3605-02FD30988837}"/>
              </a:ext>
            </a:extLst>
          </p:cNvPr>
          <p:cNvSpPr>
            <a:spLocks noGrp="1"/>
          </p:cNvSpPr>
          <p:nvPr>
            <p:ph type="body" idx="1"/>
          </p:nvPr>
        </p:nvSpPr>
        <p:spPr>
          <a:xfrm>
            <a:off x="838200" y="1416818"/>
            <a:ext cx="10515600" cy="3530320"/>
          </a:xfrm>
        </p:spPr>
        <p:txBody>
          <a:bodyPr>
            <a:normAutofit/>
          </a:bodyPr>
          <a:lstStyle/>
          <a:p>
            <a:pPr marL="50800" indent="0">
              <a:buNone/>
            </a:pPr>
            <a:r>
              <a:rPr lang="en-IN" sz="2000" dirty="0">
                <a:solidFill/>
                <a:latin typeface="Times New Roman" panose="02020603050405020304" pitchFamily="18" charset="0"/>
                <a:cs typeface="Times New Roman" panose="02020603050405020304" pitchFamily="18" charset="0"/>
              </a:rPr>
              <a:t>Road traffic accidents are among the leading causes of injuries and fatalities worldwide. Many accidents occur due to delayed recognition of hazardous road conditions, heavy traffic, poor visibility, or unsafe driving </a:t>
            </a:r>
            <a:r>
              <a:rPr lang="en-IN" sz="2000" dirty="0" err="1">
                <a:solidFill/>
                <a:latin typeface="Times New Roman" panose="02020603050405020304" pitchFamily="18" charset="0"/>
                <a:cs typeface="Times New Roman" panose="02020603050405020304" pitchFamily="18" charset="0"/>
              </a:rPr>
              <a:t>behaviors</a:t>
            </a:r>
            <a:r>
              <a:rPr lang="en-IN" sz="2000" dirty="0">
                <a:solidFill/>
                <a:latin typeface="Times New Roman" panose="02020603050405020304" pitchFamily="18" charset="0"/>
                <a:cs typeface="Times New Roman" panose="02020603050405020304" pitchFamily="18" charset="0"/>
              </a:rPr>
              <a:t>. Existing safety measures often react only after a dangerous situation has already developed.</a:t>
            </a:r>
          </a:p>
          <a:p>
            <a:pPr marL="50800" indent="0">
              <a:buNone/>
            </a:pPr>
            <a:r>
              <a:rPr lang="en-IN" sz="2000" dirty="0" err="1">
                <a:solidFill/>
                <a:latin typeface="Times New Roman" panose="02020603050405020304" pitchFamily="18" charset="0"/>
                <a:cs typeface="Times New Roman" panose="02020603050405020304" pitchFamily="18" charset="0"/>
              </a:rPr>
              <a:t>SafeRoad</a:t>
            </a:r>
            <a:r>
              <a:rPr lang="en-IN" sz="2000" dirty="0">
                <a:solidFill/>
                <a:latin typeface="Times New Roman" panose="02020603050405020304" pitchFamily="18" charset="0"/>
                <a:cs typeface="Times New Roman" panose="02020603050405020304" pitchFamily="18" charset="0"/>
              </a:rPr>
              <a:t> AI is an AI-powered road safety assistant designed to perform early detection of road accident risk using deep learning and computer vision. The system </a:t>
            </a:r>
            <a:r>
              <a:rPr lang="en-IN" sz="2000" dirty="0" err="1">
                <a:solidFill/>
                <a:latin typeface="Times New Roman" panose="02020603050405020304" pitchFamily="18" charset="0"/>
                <a:cs typeface="Times New Roman" panose="02020603050405020304" pitchFamily="18" charset="0"/>
              </a:rPr>
              <a:t>analyzes</a:t>
            </a:r>
            <a:r>
              <a:rPr lang="en-IN" sz="2000" dirty="0">
                <a:solidFill/>
                <a:latin typeface="Times New Roman" panose="02020603050405020304" pitchFamily="18" charset="0"/>
                <a:cs typeface="Times New Roman" panose="02020603050405020304" pitchFamily="18" charset="0"/>
              </a:rPr>
              <a:t> road-scene images in near real time and classifies them into Safe, Moderate Risk, or High Risk categories.</a:t>
            </a:r>
          </a:p>
          <a:p>
            <a:pPr marL="50800" indent="0">
              <a:buNone/>
            </a:pPr>
            <a:r>
              <a:rPr lang="en-US" sz="2000" dirty="0"/>
              <a:t>The project employs three deep learning models—CNN, MobileNetV2, and EfficientNetB0 to compare their performance in terms of accuracy, inference speed, and computational efficiency. A web-based application is developed to demonstrate practical deployment.</a:t>
            </a:r>
          </a:p>
          <a:p>
            <a:pPr marL="50800" indent="0">
              <a:buNone/>
            </a:pPr>
            <a:endParaRPr lang="en-IN" sz="2000" dirty="0">
              <a:solidFill/>
              <a:latin typeface="Times New Roman" panose="02020603050405020304" pitchFamily="18" charset="0"/>
              <a:cs typeface="Times New Roman" panose="02020603050405020304" pitchFamily="18" charset="0"/>
            </a:endParaRPr>
          </a:p>
          <a:p>
            <a:pPr marL="50800" indent="0" algn="ctr">
              <a:buNone/>
            </a:pPr>
            <a:endParaRPr lang="en-IN" sz="3600" dirty="0"/>
          </a:p>
        </p:txBody>
      </p:sp>
    </p:spTree>
    <p:extLst>
      <p:ext uri="{BB962C8B-B14F-4D97-AF65-F5344CB8AC3E}">
        <p14:creationId xmlns:p14="http://schemas.microsoft.com/office/powerpoint/2010/main" val="3718742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C8D61-08BF-7CBC-E928-0F93F7DBD23D}"/>
              </a:ext>
            </a:extLst>
          </p:cNvPr>
          <p:cNvSpPr>
            <a:spLocks noGrp="1"/>
          </p:cNvSpPr>
          <p:nvPr>
            <p:ph type="title"/>
          </p:nvPr>
        </p:nvSpPr>
        <p:spPr/>
        <p:txBody>
          <a:bodyPr>
            <a:normAutofit/>
          </a:bodyPr>
          <a:lstStyle/>
          <a:p>
            <a:r>
              <a:rPr lang="en-IN" sz="3200" dirty="0">
                <a:solidFill>
                  <a:srgbClr val="FF0000"/>
                </a:solidFill>
                <a:latin typeface="Times New Roman" panose="02020603050405020304" pitchFamily="18" charset="0"/>
                <a:cs typeface="Times New Roman" panose="02020603050405020304" pitchFamily="18" charset="0"/>
              </a:rPr>
              <a:t>2. Problem Statement</a:t>
            </a:r>
          </a:p>
        </p:txBody>
      </p:sp>
      <p:sp>
        <p:nvSpPr>
          <p:cNvPr id="3" name="Text Placeholder 2">
            <a:extLst>
              <a:ext uri="{FF2B5EF4-FFF2-40B4-BE49-F238E27FC236}">
                <a16:creationId xmlns:a16="http://schemas.microsoft.com/office/drawing/2014/main" id="{ECE1A499-3DBF-1A95-25D4-93B12C30FDB0}"/>
              </a:ext>
            </a:extLst>
          </p:cNvPr>
          <p:cNvSpPr>
            <a:spLocks noGrp="1"/>
          </p:cNvSpPr>
          <p:nvPr>
            <p:ph type="body" idx="1"/>
          </p:nvPr>
        </p:nvSpPr>
        <p:spPr>
          <a:xfrm>
            <a:off x="838200" y="1256044"/>
            <a:ext cx="10515600" cy="3557116"/>
          </a:xfrm>
        </p:spPr>
        <p:txBody>
          <a:bodyPr>
            <a:normAutofit/>
          </a:bodyPr>
          <a:lstStyle/>
          <a:p>
            <a:pPr marL="50800" indent="0">
              <a:buNone/>
            </a:pPr>
            <a:r>
              <a:rPr lang="en-IN" sz="2000" dirty="0">
                <a:solidFill/>
                <a:latin typeface="Times New Roman" panose="02020603050405020304" pitchFamily="18" charset="0"/>
                <a:cs typeface="Times New Roman" panose="02020603050405020304" pitchFamily="18" charset="0"/>
              </a:rPr>
              <a:t>Road accidents remain a significant public safety challenge due to traffic congestion, poor weather conditions, reduced visibility, and unsafe driving </a:t>
            </a:r>
            <a:r>
              <a:rPr lang="en-IN" sz="2000" dirty="0" err="1">
                <a:solidFill/>
                <a:latin typeface="Times New Roman" panose="02020603050405020304" pitchFamily="18" charset="0"/>
                <a:cs typeface="Times New Roman" panose="02020603050405020304" pitchFamily="18" charset="0"/>
              </a:rPr>
              <a:t>behavior</a:t>
            </a:r>
            <a:r>
              <a:rPr lang="en-IN" sz="2000" dirty="0">
                <a:solidFill/>
                <a:latin typeface="Times New Roman" panose="02020603050405020304" pitchFamily="18" charset="0"/>
                <a:cs typeface="Times New Roman" panose="02020603050405020304" pitchFamily="18" charset="0"/>
              </a:rPr>
              <a:t>. Although Advanced Driver Assistance Systems (ADAS) are available, they are expensive and inaccessible to most drivers.</a:t>
            </a:r>
          </a:p>
          <a:p>
            <a:r>
              <a:rPr sz="2000" dirty="0">
                <a:latin typeface="Times New Roman"/>
              </a:rPr>
              <a:t>There is a need for an affordable, AI-based system capable of recognizing accident-prone road situations before accidents occur. Such a system should provide timely warnings that improve driver awareness and reduce collisions</a:t>
            </a:r>
            <a:r>
              <a:rPr sz="2000" b="1" dirty="0">
                <a:latin typeface="Times New Roman"/>
              </a:rPr>
              <a:t>.</a:t>
            </a:r>
            <a:endParaRPr lang="en-IN" sz="2000" b="1" dirty="0">
              <a:latin typeface="Times New Roman"/>
            </a:endParaRPr>
          </a:p>
          <a:p>
            <a:r>
              <a:rPr lang="en-US" sz="2000" dirty="0" err="1"/>
              <a:t>SafeRoad</a:t>
            </a:r>
            <a:r>
              <a:rPr lang="en-US" sz="2000" dirty="0"/>
              <a:t> AI addresses this challenge by automatically classifying road scenes into different risk levels using deep learning techniques and providing preventive alerts through a user-friendly, lightweight web application.</a:t>
            </a:r>
          </a:p>
          <a:p>
            <a:endParaRPr sz="2000" b="1" dirty="0">
              <a:latin typeface="Times New Roman"/>
            </a:endParaRPr>
          </a:p>
        </p:txBody>
      </p:sp>
    </p:spTree>
    <p:extLst>
      <p:ext uri="{BB962C8B-B14F-4D97-AF65-F5344CB8AC3E}">
        <p14:creationId xmlns:p14="http://schemas.microsoft.com/office/powerpoint/2010/main" val="3105500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4D374-B1DF-B5CB-4B2D-6C44F3C63DA5}"/>
              </a:ext>
            </a:extLst>
          </p:cNvPr>
          <p:cNvSpPr>
            <a:spLocks noGrp="1"/>
          </p:cNvSpPr>
          <p:nvPr>
            <p:ph type="title"/>
          </p:nvPr>
        </p:nvSpPr>
        <p:spPr/>
        <p:txBody>
          <a:bodyPr>
            <a:normAutofit/>
          </a:bodyPr>
          <a:lstStyle/>
          <a:p>
            <a:r>
              <a:rPr lang="en-IN" sz="3200" dirty="0">
                <a:solidFill>
                  <a:srgbClr val="FF0000"/>
                </a:solidFill>
                <a:latin typeface="Times New Roman" panose="02020603050405020304" pitchFamily="18" charset="0"/>
                <a:cs typeface="Times New Roman" panose="02020603050405020304" pitchFamily="18" charset="0"/>
              </a:rPr>
              <a:t>3. Motivation</a:t>
            </a:r>
          </a:p>
        </p:txBody>
      </p:sp>
      <p:sp>
        <p:nvSpPr>
          <p:cNvPr id="3" name="Text Placeholder 2">
            <a:extLst>
              <a:ext uri="{FF2B5EF4-FFF2-40B4-BE49-F238E27FC236}">
                <a16:creationId xmlns:a16="http://schemas.microsoft.com/office/drawing/2014/main" id="{8AE96C49-1F14-F3D7-A4BC-D79E58518578}"/>
              </a:ext>
            </a:extLst>
          </p:cNvPr>
          <p:cNvSpPr>
            <a:spLocks noGrp="1"/>
          </p:cNvSpPr>
          <p:nvPr>
            <p:ph type="body" idx="1"/>
          </p:nvPr>
        </p:nvSpPr>
        <p:spPr>
          <a:xfrm>
            <a:off x="838200" y="1386673"/>
            <a:ext cx="9915769" cy="3979147"/>
          </a:xfrm>
        </p:spPr>
        <p:txBody>
          <a:bodyPr>
            <a:normAutofit/>
          </a:bodyPr>
          <a:lstStyle/>
          <a:p>
            <a:pPr marL="50800" indent="0">
              <a:buNone/>
            </a:pPr>
            <a:r>
              <a:rPr lang="en-IN" sz="2000" dirty="0">
                <a:solidFill/>
                <a:latin typeface="Times New Roman" panose="02020603050405020304" pitchFamily="18" charset="0"/>
                <a:cs typeface="Times New Roman" panose="02020603050405020304" pitchFamily="18" charset="0"/>
              </a:rPr>
              <a:t>Road safety is a major global concern, with millions affected by traffic accidents each year. Many of these accidents could be prevented if drivers received early warnings about dangerous road situations.</a:t>
            </a:r>
          </a:p>
          <a:p>
            <a:r>
              <a:rPr sz="2000" dirty="0">
                <a:latin typeface="Times New Roman"/>
              </a:rPr>
              <a:t>The motivation behind </a:t>
            </a:r>
            <a:r>
              <a:rPr sz="2000" dirty="0" err="1">
                <a:latin typeface="Times New Roman"/>
              </a:rPr>
              <a:t>SafeRoad</a:t>
            </a:r>
            <a:r>
              <a:rPr sz="2000" dirty="0">
                <a:latin typeface="Times New Roman"/>
              </a:rPr>
              <a:t> AI is to leverage AI and Deep Learning to build an accessible road safety solution capable of assisting drivers in recognizing potential risks before accidents occur.</a:t>
            </a:r>
          </a:p>
          <a:p>
            <a:r>
              <a:rPr sz="2000" dirty="0">
                <a:latin typeface="Times New Roman"/>
              </a:rPr>
              <a:t>The project also provides practical exposure to key deep learning domains:</a:t>
            </a:r>
            <a:endParaRPr lang="en-IN" sz="2000" dirty="0">
              <a:latin typeface="Times New Roman"/>
            </a:endParaRPr>
          </a:p>
          <a:p>
            <a:r>
              <a:rPr lang="en-IN" sz="2000" dirty="0">
                <a:solidFill/>
              </a:rPr>
              <a:t>Deep Learning &amp; Computer Vision (Real-time road scene analysis)</a:t>
            </a:r>
          </a:p>
          <a:p>
            <a:r>
              <a:rPr lang="en-IN" sz="2000" dirty="0"/>
              <a:t>Image Classification &amp; Transfer Learning (Using CNN, MobileNetV2, EfficientNetB0)</a:t>
            </a:r>
          </a:p>
          <a:p>
            <a:r>
              <a:rPr lang="en-IN" sz="2000" dirty="0"/>
              <a:t>Hyperparameter Tuning &amp; AI Web App Deployment (</a:t>
            </a:r>
            <a:r>
              <a:rPr lang="en-IN" sz="2000" dirty="0" err="1"/>
              <a:t>Streamlit</a:t>
            </a:r>
            <a:r>
              <a:rPr lang="en-IN" sz="2000" dirty="0"/>
              <a:t>-based system)</a:t>
            </a:r>
          </a:p>
          <a:p>
            <a:endParaRPr sz="2000" dirty="0">
              <a:latin typeface="Times New Roman"/>
            </a:endParaRPr>
          </a:p>
        </p:txBody>
      </p:sp>
    </p:spTree>
    <p:extLst>
      <p:ext uri="{BB962C8B-B14F-4D97-AF65-F5344CB8AC3E}">
        <p14:creationId xmlns:p14="http://schemas.microsoft.com/office/powerpoint/2010/main" val="3640318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1A308-EDA5-83F3-3D5C-7DFEEE97D3B4}"/>
              </a:ext>
            </a:extLst>
          </p:cNvPr>
          <p:cNvSpPr>
            <a:spLocks noGrp="1"/>
          </p:cNvSpPr>
          <p:nvPr>
            <p:ph type="title"/>
          </p:nvPr>
        </p:nvSpPr>
        <p:spPr/>
        <p:txBody>
          <a:bodyPr>
            <a:normAutofit/>
          </a:bodyPr>
          <a:lstStyle/>
          <a:p>
            <a:r>
              <a:rPr lang="en-US" sz="3200" dirty="0">
                <a:solidFill>
                  <a:srgbClr val="FF0000"/>
                </a:solidFill>
                <a:latin typeface="Times New Roman" panose="02020603050405020304" pitchFamily="18" charset="0"/>
                <a:cs typeface="Times New Roman" panose="02020603050405020304" pitchFamily="18" charset="0"/>
              </a:rPr>
              <a:t>4. Research Questions &amp; Gaps</a:t>
            </a:r>
          </a:p>
        </p:txBody>
      </p:sp>
      <p:sp>
        <p:nvSpPr>
          <p:cNvPr id="3" name="Text Placeholder 2">
            <a:extLst>
              <a:ext uri="{FF2B5EF4-FFF2-40B4-BE49-F238E27FC236}">
                <a16:creationId xmlns:a16="http://schemas.microsoft.com/office/drawing/2014/main" id="{23AADD5E-D8E9-ACA3-C961-FF314FB2CCC5}"/>
              </a:ext>
            </a:extLst>
          </p:cNvPr>
          <p:cNvSpPr>
            <a:spLocks noGrp="1"/>
          </p:cNvSpPr>
          <p:nvPr>
            <p:ph type="body" idx="1"/>
          </p:nvPr>
        </p:nvSpPr>
        <p:spPr>
          <a:xfrm>
            <a:off x="838200" y="1517301"/>
            <a:ext cx="10515600" cy="3627455"/>
          </a:xfrm>
        </p:spPr>
        <p:txBody>
          <a:bodyPr>
            <a:normAutofit fontScale="85000" lnSpcReduction="20000"/>
          </a:bodyPr>
          <a:lstStyle/>
          <a:p>
            <a:pPr marL="50800" indent="0">
              <a:buNone/>
            </a:pPr>
            <a:r>
              <a:rPr lang="en-IN" sz="2300" b="1" dirty="0">
                <a:solidFill>
                  <a:srgbClr val="FF0000"/>
                </a:solidFill>
                <a:latin typeface="Times New Roman" panose="02020603050405020304" pitchFamily="18" charset="0"/>
                <a:cs typeface="Times New Roman" panose="02020603050405020304" pitchFamily="18" charset="0"/>
              </a:rPr>
              <a:t>Research Questions</a:t>
            </a:r>
          </a:p>
          <a:p>
            <a:r>
              <a:rPr lang="en-IN" sz="2300" dirty="0">
                <a:solidFill/>
                <a:latin typeface="Times New Roman" panose="02020603050405020304" pitchFamily="18" charset="0"/>
                <a:cs typeface="Times New Roman" panose="02020603050405020304" pitchFamily="18" charset="0"/>
              </a:rPr>
              <a:t>Can deep learning models accurately classify road scenes into Safe, Moderate Risk, and High Risk categories?</a:t>
            </a:r>
          </a:p>
          <a:p>
            <a:r>
              <a:rPr lang="en-IN" sz="2300" dirty="0">
                <a:solidFill/>
                <a:latin typeface="Times New Roman" panose="02020603050405020304" pitchFamily="18" charset="0"/>
                <a:cs typeface="Times New Roman" panose="02020603050405020304" pitchFamily="18" charset="0"/>
              </a:rPr>
              <a:t>Which deep learning model (CNN, MobileNetV2, or EfficientNetB0) provides the best balance between accuracy and computational efficiency?</a:t>
            </a:r>
          </a:p>
          <a:p>
            <a:r>
              <a:rPr lang="en-IN" sz="2300" dirty="0">
                <a:solidFill/>
                <a:latin typeface="Times New Roman" panose="02020603050405020304" pitchFamily="18" charset="0"/>
                <a:cs typeface="Times New Roman" panose="02020603050405020304" pitchFamily="18" charset="0"/>
              </a:rPr>
              <a:t>Can a lightweight AI model be deployed through a web application for near real-time road risk prediction?</a:t>
            </a:r>
          </a:p>
          <a:p>
            <a:r>
              <a:rPr lang="en-IN" sz="2300" dirty="0">
                <a:solidFill>
                  <a:schemeClr val="tx1"/>
                </a:solidFill>
                <a:latin typeface="Times New Roman" panose="02020603050405020304" pitchFamily="18" charset="0"/>
                <a:cs typeface="Times New Roman" panose="02020603050405020304" pitchFamily="18" charset="0"/>
              </a:rPr>
              <a:t>Can early recognition of hazardous road conditions contribute to improving driver awareness and road safety?</a:t>
            </a:r>
          </a:p>
          <a:p>
            <a:endParaRPr lang="en-IN" sz="2300" dirty="0">
              <a:solidFill/>
              <a:latin typeface="Times New Roman" panose="02020603050405020304" pitchFamily="18" charset="0"/>
              <a:cs typeface="Times New Roman" panose="02020603050405020304" pitchFamily="18" charset="0"/>
            </a:endParaRPr>
          </a:p>
          <a:p>
            <a:pPr marL="50800" indent="0">
              <a:buNone/>
            </a:pPr>
            <a:r>
              <a:rPr lang="en-IN" sz="2300" dirty="0">
                <a:solidFill>
                  <a:srgbClr val="FF0000"/>
                </a:solidFill>
                <a:latin typeface="Times New Roman" panose="02020603050405020304" pitchFamily="18" charset="0"/>
                <a:cs typeface="Times New Roman" panose="02020603050405020304" pitchFamily="18" charset="0"/>
              </a:rPr>
              <a:t>  	</a:t>
            </a:r>
            <a:endParaRPr lang="en-IN" sz="2300" b="1" dirty="0">
              <a:solidFill>
                <a:srgbClr val="FF0000"/>
              </a:solidFill>
              <a:latin typeface="Times New Roman" panose="02020603050405020304" pitchFamily="18" charset="0"/>
              <a:cs typeface="Times New Roman" panose="02020603050405020304" pitchFamily="18" charset="0"/>
            </a:endParaRPr>
          </a:p>
          <a:p>
            <a:endParaRPr lang="en-IN" sz="2300" b="1" dirty="0">
              <a:solidFill>
                <a:srgbClr val="FF0000"/>
              </a:solidFill>
              <a:latin typeface="Times New Roman" panose="02020603050405020304" pitchFamily="18" charset="0"/>
              <a:cs typeface="Times New Roman" panose="02020603050405020304" pitchFamily="18" charset="0"/>
            </a:endParaRPr>
          </a:p>
          <a:p>
            <a:endParaRPr lang="en-IN" sz="2300" b="1" dirty="0">
              <a:solidFill>
                <a:srgbClr val="FF000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529618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dirty="0">
                <a:solidFill>
                  <a:srgbClr val="FF0000"/>
                </a:solidFill>
              </a:rPr>
              <a:t>4. </a:t>
            </a:r>
            <a:r>
              <a:rPr lang="en-US" sz="3200" dirty="0">
                <a:solidFill>
                  <a:srgbClr val="FF0000"/>
                </a:solidFill>
                <a:latin typeface="Times New Roman" panose="02020603050405020304" pitchFamily="18" charset="0"/>
                <a:cs typeface="Times New Roman" panose="02020603050405020304" pitchFamily="18" charset="0"/>
              </a:rPr>
              <a:t>Research Questions &amp; Gaps</a:t>
            </a:r>
            <a:endParaRPr sz="3200" dirty="0"/>
          </a:p>
        </p:txBody>
      </p:sp>
      <p:sp>
        <p:nvSpPr>
          <p:cNvPr id="3" name="Text Placeholder 2"/>
          <p:cNvSpPr>
            <a:spLocks noGrp="1"/>
          </p:cNvSpPr>
          <p:nvPr>
            <p:ph type="body" idx="1"/>
          </p:nvPr>
        </p:nvSpPr>
        <p:spPr>
          <a:xfrm>
            <a:off x="838200" y="1406769"/>
            <a:ext cx="10515600" cy="2944167"/>
          </a:xfrm>
        </p:spPr>
        <p:txBody>
          <a:bodyPr>
            <a:normAutofit fontScale="92500"/>
          </a:bodyPr>
          <a:lstStyle/>
          <a:p>
            <a:pPr marL="50800" indent="0">
              <a:buNone/>
            </a:pPr>
            <a:r>
              <a:rPr lang="en-IN" sz="2200" b="1" dirty="0">
                <a:solidFill>
                  <a:srgbClr val="FF0000"/>
                </a:solidFill>
                <a:latin typeface="Times New Roman" panose="02020603050405020304" pitchFamily="18" charset="0"/>
                <a:cs typeface="Times New Roman" panose="02020603050405020304" pitchFamily="18" charset="0"/>
              </a:rPr>
              <a:t>Research Gaps</a:t>
            </a:r>
            <a:endParaRPr lang="en-IN" sz="2200" dirty="0"/>
          </a:p>
          <a:p>
            <a:r>
              <a:rPr sz="2200" dirty="0">
                <a:latin typeface="Times New Roman" panose="02020603050405020304" pitchFamily="18" charset="0"/>
                <a:cs typeface="Times New Roman" panose="02020603050405020304" pitchFamily="18" charset="0"/>
              </a:rPr>
              <a:t>Most commercial systems require expensive hardware.</a:t>
            </a:r>
          </a:p>
          <a:p>
            <a:r>
              <a:rPr sz="2200" dirty="0">
                <a:latin typeface="Times New Roman" panose="02020603050405020304" pitchFamily="18" charset="0"/>
                <a:cs typeface="Times New Roman" panose="02020603050405020304" pitchFamily="18" charset="0"/>
              </a:rPr>
              <a:t>Many research datasets focus on object detection rather than overall road risk classification.</a:t>
            </a:r>
          </a:p>
          <a:p>
            <a:r>
              <a:rPr sz="2200" dirty="0">
                <a:latin typeface="Times New Roman" panose="02020603050405020304" pitchFamily="18" charset="0"/>
                <a:cs typeface="Times New Roman" panose="02020603050405020304" pitchFamily="18" charset="0"/>
              </a:rPr>
              <a:t>Few systems provide simple three-level risk classification (Safe, Moderate Risk, High Risk).</a:t>
            </a:r>
          </a:p>
          <a:p>
            <a:r>
              <a:rPr sz="2200" dirty="0">
                <a:solidFill/>
                <a:latin typeface="Times New Roman" panose="02020603050405020304" pitchFamily="18" charset="0"/>
                <a:cs typeface="Times New Roman" panose="02020603050405020304" pitchFamily="18" charset="0"/>
              </a:rPr>
              <a:t>Many existing AI solutions require high computational resources, making deployment on low-cost devices difficult.</a:t>
            </a:r>
          </a:p>
          <a:p>
            <a:r>
              <a:rPr sz="2200" dirty="0">
                <a:solidFill/>
                <a:latin typeface="Times New Roman" panose="02020603050405020304" pitchFamily="18" charset="0"/>
                <a:cs typeface="Times New Roman" panose="02020603050405020304" pitchFamily="18" charset="0"/>
              </a:rPr>
              <a:t>Limited availability of customizable datasets suitable for educational research.</a:t>
            </a:r>
          </a:p>
          <a:p>
            <a:endParaRPr b="1" dirty="0">
              <a:solidFill/>
            </a:endParaRPr>
          </a:p>
          <a:p>
            <a:endParaRPr b="1" dirty="0">
              <a:solidFill/>
            </a:endParaRPr>
          </a:p>
          <a:p>
            <a:endParaRPr b="1" dirty="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5560C-9D4A-299C-C638-E1D367BC198D}"/>
              </a:ext>
            </a:extLst>
          </p:cNvPr>
          <p:cNvSpPr>
            <a:spLocks noGrp="1"/>
          </p:cNvSpPr>
          <p:nvPr>
            <p:ph type="title"/>
          </p:nvPr>
        </p:nvSpPr>
        <p:spPr>
          <a:xfrm>
            <a:off x="838200" y="365127"/>
            <a:ext cx="10515600" cy="869704"/>
          </a:xfrm>
        </p:spPr>
        <p:txBody>
          <a:bodyPr>
            <a:normAutofit/>
          </a:bodyPr>
          <a:lstStyle/>
          <a:p>
            <a:r>
              <a:rPr lang="en-US" sz="3200" dirty="0">
                <a:solidFill>
                  <a:srgbClr val="FF0000"/>
                </a:solidFill>
                <a:latin typeface="Times New Roman" panose="02020603050405020304" pitchFamily="18" charset="0"/>
                <a:cs typeface="Times New Roman" panose="02020603050405020304" pitchFamily="18" charset="0"/>
              </a:rPr>
              <a:t>5. Related Products</a:t>
            </a:r>
          </a:p>
        </p:txBody>
      </p:sp>
      <p:sp>
        <p:nvSpPr>
          <p:cNvPr id="3" name="Text Placeholder 2">
            <a:extLst>
              <a:ext uri="{FF2B5EF4-FFF2-40B4-BE49-F238E27FC236}">
                <a16:creationId xmlns:a16="http://schemas.microsoft.com/office/drawing/2014/main" id="{9F8F3D6D-5CA8-A1C8-E49D-A517007E31B6}"/>
              </a:ext>
            </a:extLst>
          </p:cNvPr>
          <p:cNvSpPr>
            <a:spLocks noGrp="1"/>
          </p:cNvSpPr>
          <p:nvPr>
            <p:ph type="body" idx="1"/>
          </p:nvPr>
        </p:nvSpPr>
        <p:spPr>
          <a:xfrm>
            <a:off x="838200" y="1079745"/>
            <a:ext cx="10515600" cy="3974576"/>
          </a:xfrm>
        </p:spPr>
        <p:txBody>
          <a:bodyPr>
            <a:noAutofit/>
          </a:bodyPr>
          <a:lstStyle/>
          <a:p>
            <a:pPr marL="50800" indent="0">
              <a:buNone/>
            </a:pPr>
            <a:r>
              <a:rPr lang="en-IN" sz="2000" b="1" dirty="0">
                <a:solidFill/>
                <a:latin typeface="Times New Roman" panose="02020603050405020304" pitchFamily="18" charset="0"/>
                <a:cs typeface="Times New Roman" panose="02020603050405020304" pitchFamily="18" charset="0"/>
              </a:rPr>
              <a:t>1. Product Name</a:t>
            </a:r>
            <a:r>
              <a:rPr lang="en-IN" sz="2000" dirty="0">
                <a:solidFill/>
                <a:latin typeface="Times New Roman" panose="02020603050405020304" pitchFamily="18" charset="0"/>
                <a:cs typeface="Times New Roman" panose="02020603050405020304" pitchFamily="18" charset="0"/>
              </a:rPr>
              <a:t>: Tesla Autopilot</a:t>
            </a:r>
            <a:endParaRPr lang="en-IN" sz="2000" dirty="0">
              <a:latin typeface="Times New Roman" panose="02020603050405020304" pitchFamily="18" charset="0"/>
              <a:cs typeface="Times New Roman" panose="02020603050405020304" pitchFamily="18" charset="0"/>
            </a:endParaRPr>
          </a:p>
          <a:p>
            <a:pPr marL="50800" indent="0">
              <a:buNone/>
            </a:pPr>
            <a:r>
              <a:rPr lang="en-IN" sz="2000" dirty="0">
                <a:solidFill/>
                <a:latin typeface="Times New Roman" panose="02020603050405020304" pitchFamily="18" charset="0"/>
                <a:cs typeface="Times New Roman" panose="02020603050405020304" pitchFamily="18" charset="0"/>
              </a:rPr>
              <a:t>        </a:t>
            </a:r>
            <a:r>
              <a:rPr lang="en-IN" sz="2000" b="1" dirty="0">
                <a:solidFill/>
                <a:latin typeface="Times New Roman" panose="02020603050405020304" pitchFamily="18" charset="0"/>
                <a:cs typeface="Times New Roman" panose="02020603050405020304" pitchFamily="18" charset="0"/>
              </a:rPr>
              <a:t>URL</a:t>
            </a:r>
            <a:r>
              <a:rPr lang="en-IN" sz="2000" dirty="0">
                <a:solidFill/>
                <a:latin typeface="Times New Roman" panose="02020603050405020304" pitchFamily="18" charset="0"/>
                <a:cs typeface="Times New Roman" panose="02020603050405020304" pitchFamily="18" charset="0"/>
              </a:rPr>
              <a:t>: </a:t>
            </a:r>
            <a:r>
              <a:rPr lang="en-IN" sz="2000" dirty="0">
                <a:solidFill>
                  <a:schemeClr val="accent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https://www.tesla.com/autopilot</a:t>
            </a:r>
            <a:r>
              <a:rPr lang="en-IN" sz="2000" dirty="0">
                <a:solidFill/>
                <a:latin typeface="Times New Roman" panose="02020603050405020304" pitchFamily="18" charset="0"/>
                <a:cs typeface="Times New Roman" panose="02020603050405020304" pitchFamily="18" charset="0"/>
              </a:rPr>
              <a:t>
        </a:t>
            </a:r>
            <a:r>
              <a:rPr lang="en-IN" sz="2000" b="1" dirty="0">
                <a:solidFill/>
                <a:latin typeface="Times New Roman" panose="02020603050405020304" pitchFamily="18" charset="0"/>
                <a:cs typeface="Times New Roman" panose="02020603050405020304" pitchFamily="18" charset="0"/>
              </a:rPr>
              <a:t>Features</a:t>
            </a:r>
            <a:r>
              <a:rPr lang="en-IN" sz="2000" dirty="0">
                <a:solidFill/>
                <a:latin typeface="Times New Roman" panose="02020603050405020304" pitchFamily="18" charset="0"/>
                <a:cs typeface="Times New Roman" panose="02020603050405020304" pitchFamily="18" charset="0"/>
              </a:rPr>
              <a:t>: AI-assisted driving, lane keeping, adaptive cruise control, collision warning.
        </a:t>
            </a:r>
            <a:r>
              <a:rPr lang="en-IN" sz="2000" b="1" dirty="0">
                <a:solidFill/>
                <a:latin typeface="Times New Roman" panose="02020603050405020304" pitchFamily="18" charset="0"/>
                <a:cs typeface="Times New Roman" panose="02020603050405020304" pitchFamily="18" charset="0"/>
              </a:rPr>
              <a:t>Limitations</a:t>
            </a:r>
            <a:r>
              <a:rPr lang="en-IN" sz="2000" dirty="0">
                <a:solidFill/>
                <a:latin typeface="Times New Roman" panose="02020603050405020304" pitchFamily="18" charset="0"/>
                <a:cs typeface="Times New Roman" panose="02020603050405020304" pitchFamily="18" charset="0"/>
              </a:rPr>
              <a:t>: Available only in Tesla vehicles, requires expensive proprietary hardware, not affordable.</a:t>
            </a:r>
            <a:endParaRPr lang="en-IN" sz="2000" dirty="0">
              <a:latin typeface="Times New Roman" panose="02020603050405020304" pitchFamily="18" charset="0"/>
              <a:cs typeface="Times New Roman" panose="02020603050405020304" pitchFamily="18" charset="0"/>
            </a:endParaRPr>
          </a:p>
          <a:p>
            <a:pPr marL="50800" indent="0">
              <a:buNone/>
            </a:pPr>
            <a:r>
              <a:rPr lang="en-IN" sz="2000" b="1" dirty="0">
                <a:solidFill/>
                <a:latin typeface="Times New Roman" panose="02020603050405020304" pitchFamily="18" charset="0"/>
                <a:cs typeface="Times New Roman" panose="02020603050405020304" pitchFamily="18" charset="0"/>
              </a:rPr>
              <a:t>2. Product Name</a:t>
            </a:r>
            <a:r>
              <a:rPr lang="en-IN" sz="2000" dirty="0">
                <a:solidFill/>
                <a:latin typeface="Times New Roman" panose="02020603050405020304" pitchFamily="18" charset="0"/>
                <a:cs typeface="Times New Roman" panose="02020603050405020304" pitchFamily="18" charset="0"/>
              </a:rPr>
              <a:t>: Mobileye Driver Assist</a:t>
            </a:r>
            <a:endParaRPr lang="en-IN" sz="2000" dirty="0">
              <a:latin typeface="Times New Roman" panose="02020603050405020304" pitchFamily="18" charset="0"/>
              <a:cs typeface="Times New Roman" panose="02020603050405020304" pitchFamily="18" charset="0"/>
            </a:endParaRPr>
          </a:p>
          <a:p>
            <a:pPr marL="50800" indent="0">
              <a:buNone/>
            </a:pPr>
            <a:r>
              <a:rPr lang="en-IN" sz="2000" dirty="0">
                <a:solidFill/>
                <a:latin typeface="Times New Roman" panose="02020603050405020304" pitchFamily="18" charset="0"/>
                <a:cs typeface="Times New Roman" panose="02020603050405020304" pitchFamily="18" charset="0"/>
              </a:rPr>
              <a:t>        </a:t>
            </a:r>
            <a:r>
              <a:rPr lang="en-IN" sz="2000" b="1" dirty="0">
                <a:solidFill/>
                <a:latin typeface="Times New Roman" panose="02020603050405020304" pitchFamily="18" charset="0"/>
                <a:cs typeface="Times New Roman" panose="02020603050405020304" pitchFamily="18" charset="0"/>
              </a:rPr>
              <a:t>URL:</a:t>
            </a:r>
            <a:r>
              <a:rPr lang="en-IN" sz="2000" dirty="0">
                <a:solidFill/>
                <a:latin typeface="Times New Roman" panose="02020603050405020304" pitchFamily="18" charset="0"/>
                <a:cs typeface="Times New Roman" panose="02020603050405020304" pitchFamily="18" charset="0"/>
              </a:rPr>
              <a:t> </a:t>
            </a:r>
            <a:r>
              <a:rPr lang="en-IN" sz="2000" dirty="0">
                <a:solidFill/>
                <a:latin typeface="Times New Roman" panose="02020603050405020304" pitchFamily="18" charset="0"/>
                <a:cs typeface="Times New Roman" panose="02020603050405020304" pitchFamily="18" charset="0"/>
                <a:hlinkClick r:id="rId3"/>
              </a:rPr>
              <a:t>https://www.mobileye.com</a:t>
            </a:r>
            <a:r>
              <a:rPr lang="en-IN" sz="2000" dirty="0">
                <a:solidFill/>
                <a:latin typeface="Times New Roman" panose="02020603050405020304" pitchFamily="18" charset="0"/>
                <a:cs typeface="Times New Roman" panose="02020603050405020304" pitchFamily="18" charset="0"/>
              </a:rPr>
              <a:t>
        </a:t>
            </a:r>
            <a:r>
              <a:rPr lang="en-IN" sz="2000" b="1" dirty="0">
                <a:solidFill/>
                <a:latin typeface="Times New Roman" panose="02020603050405020304" pitchFamily="18" charset="0"/>
                <a:cs typeface="Times New Roman" panose="02020603050405020304" pitchFamily="18" charset="0"/>
              </a:rPr>
              <a:t>Features</a:t>
            </a:r>
            <a:r>
              <a:rPr lang="en-IN" sz="2000" dirty="0">
                <a:solidFill/>
                <a:latin typeface="Times New Roman" panose="02020603050405020304" pitchFamily="18" charset="0"/>
                <a:cs typeface="Times New Roman" panose="02020603050405020304" pitchFamily="18" charset="0"/>
              </a:rPr>
              <a:t>: Collision avoidance, pedestrian detection, lane departure warning.
        </a:t>
            </a:r>
            <a:r>
              <a:rPr lang="en-IN" sz="2000" b="1" dirty="0">
                <a:solidFill/>
                <a:latin typeface="Times New Roman" panose="02020603050405020304" pitchFamily="18" charset="0"/>
                <a:cs typeface="Times New Roman" panose="02020603050405020304" pitchFamily="18" charset="0"/>
              </a:rPr>
              <a:t>Limitations</a:t>
            </a:r>
            <a:r>
              <a:rPr lang="en-IN" sz="2000" dirty="0">
                <a:solidFill/>
                <a:latin typeface="Times New Roman" panose="02020603050405020304" pitchFamily="18" charset="0"/>
                <a:cs typeface="Times New Roman" panose="02020603050405020304" pitchFamily="18" charset="0"/>
              </a:rPr>
              <a:t>: Requires dedicated hardware installation, commercial licensing, not easily customizable for research.</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a:p>
            <a:pPr marL="50800" indent="0">
              <a:buNone/>
            </a:pPr>
            <a:endParaRPr lang="en-IN" sz="2000" b="1" dirty="0">
              <a:latin typeface="Times New Roman" panose="02020603050405020304" pitchFamily="18" charset="0"/>
              <a:cs typeface="Times New Roman" panose="02020603050405020304" pitchFamily="18" charset="0"/>
            </a:endParaRPr>
          </a:p>
          <a:p>
            <a:pPr marL="50800" indent="0">
              <a:buNone/>
            </a:pPr>
            <a:endParaRPr lang="en-IN" sz="2000" b="1"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7323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FF0000"/>
                </a:solidFill>
                <a:latin typeface="Times New Roman" panose="02020603050405020304" pitchFamily="18" charset="0"/>
                <a:cs typeface="Times New Roman" panose="02020603050405020304" pitchFamily="18" charset="0"/>
              </a:rPr>
              <a:t>5. Related Products</a:t>
            </a:r>
            <a:endParaRPr sz="3200" dirty="0"/>
          </a:p>
        </p:txBody>
      </p:sp>
      <p:sp>
        <p:nvSpPr>
          <p:cNvPr id="3" name="Text Placeholder 2"/>
          <p:cNvSpPr>
            <a:spLocks noGrp="1"/>
          </p:cNvSpPr>
          <p:nvPr>
            <p:ph type="body" idx="1"/>
          </p:nvPr>
        </p:nvSpPr>
        <p:spPr>
          <a:xfrm>
            <a:off x="838200" y="1497204"/>
            <a:ext cx="10515600" cy="2602523"/>
          </a:xfrm>
        </p:spPr>
        <p:txBody>
          <a:bodyPr>
            <a:normAutofit fontScale="85000" lnSpcReduction="20000"/>
          </a:bodyPr>
          <a:lstStyle/>
          <a:p>
            <a:pPr marL="50800" indent="0">
              <a:buNone/>
            </a:pPr>
            <a:r>
              <a:rPr lang="en-US" b="1" dirty="0"/>
              <a:t>3. Product Name: </a:t>
            </a:r>
            <a:r>
              <a:rPr lang="en-US" dirty="0"/>
              <a:t>Garmin Dash Cam Live</a:t>
            </a:r>
          </a:p>
          <a:p>
            <a:pPr marL="50800" indent="0">
              <a:buNone/>
            </a:pPr>
            <a:r>
              <a:rPr lang="en-US" dirty="0"/>
              <a:t>        </a:t>
            </a:r>
            <a:r>
              <a:rPr lang="en-US" b="1" dirty="0"/>
              <a:t>URL</a:t>
            </a:r>
            <a:r>
              <a:rPr lang="en-US" dirty="0"/>
              <a:t>: </a:t>
            </a:r>
            <a:r>
              <a:rPr lang="en-US" dirty="0">
                <a:hlinkClick r:id="rId2"/>
              </a:rPr>
              <a:t>https://www.garmin.com</a:t>
            </a:r>
            <a:r>
              <a:rPr lang="en-US" dirty="0"/>
              <a:t>
        </a:t>
            </a:r>
            <a:r>
              <a:rPr lang="en-US" b="1" dirty="0"/>
              <a:t>Features</a:t>
            </a:r>
            <a:r>
              <a:rPr lang="en-US" dirty="0"/>
              <a:t>: Dashcam recording, incident detection, cloud connectivity.
        </a:t>
            </a:r>
            <a:r>
              <a:rPr lang="en-US" b="1" dirty="0"/>
              <a:t>Limitations</a:t>
            </a:r>
            <a:r>
              <a:rPr lang="en-US" dirty="0"/>
              <a:t>: Mainly records events and incidents; does not predict accident risk or classify road safety levels.</a:t>
            </a:r>
            <a:br>
              <a:rPr lang="en-US" b="1" dirty="0"/>
            </a:br>
            <a:br>
              <a:rPr lang="en-US" b="1" dirty="0"/>
            </a:br>
            <a:endParaRPr lang="en-US" b="1" dirty="0"/>
          </a:p>
          <a:p>
            <a:endParaRPr dirty="0"/>
          </a:p>
          <a:p>
            <a:endParaRPr dirty="0"/>
          </a:p>
          <a:p>
            <a:endParaRPr dirty="0"/>
          </a:p>
          <a:p>
            <a:endParaRPr dirty="0"/>
          </a:p>
          <a:p>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34"/>
        <p:cNvGrpSpPr/>
        <p:nvPr/>
      </p:nvGrpSpPr>
      <p:grpSpPr>
        <a:xfrm>
          <a:off x="0" y="0"/>
          <a:ext cx="0" cy="0"/>
          <a:chOff x="0" y="0"/>
          <a:chExt cx="0" cy="0"/>
        </a:xfrm>
      </p:grpSpPr>
      <p:sp>
        <p:nvSpPr>
          <p:cNvPr id="2" name="Text Placeholder 1">
            <a:extLst>
              <a:ext uri="{FF2B5EF4-FFF2-40B4-BE49-F238E27FC236}">
                <a16:creationId xmlns:a16="http://schemas.microsoft.com/office/drawing/2014/main" id="{AE507B08-B25D-12A1-1039-197187867A1E}"/>
              </a:ext>
            </a:extLst>
          </p:cNvPr>
          <p:cNvSpPr>
            <a:spLocks noGrp="1" noChangeArrowheads="1"/>
          </p:cNvSpPr>
          <p:nvPr>
            <p:ph type="body" idx="1"/>
          </p:nvPr>
        </p:nvSpPr>
        <p:spPr bwMode="auto">
          <a:xfrm>
            <a:off x="554890" y="1775739"/>
            <a:ext cx="10324125" cy="33188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000" b="1" dirty="0">
                <a:solidFill/>
                <a:latin typeface="Times New Roman" panose="02020603050405020304" pitchFamily="18" charset="0"/>
                <a:cs typeface="Times New Roman" panose="02020603050405020304" pitchFamily="18" charset="0"/>
              </a:rPr>
              <a:t>SDG 3</a:t>
            </a:r>
            <a:r>
              <a:rPr lang="en-IN" sz="2000" dirty="0">
                <a:solidFill/>
                <a:latin typeface="Times New Roman" panose="02020603050405020304" pitchFamily="18" charset="0"/>
                <a:cs typeface="Times New Roman" panose="02020603050405020304" pitchFamily="18" charset="0"/>
              </a:rPr>
              <a:t>: Good Health and Well-Being </a:t>
            </a:r>
          </a:p>
          <a:p>
            <a:pPr marL="50800" indent="0">
              <a:buNone/>
            </a:pPr>
            <a:r>
              <a:rPr lang="en-IN" sz="2000" dirty="0">
                <a:solidFill/>
                <a:latin typeface="Times New Roman" panose="02020603050405020304" pitchFamily="18" charset="0"/>
                <a:cs typeface="Times New Roman" panose="02020603050405020304" pitchFamily="18" charset="0"/>
              </a:rPr>
              <a:t>      Target: Reduce deaths and injuries resulting from road traffic accidents through improved             	     safety measures.</a:t>
            </a:r>
          </a:p>
          <a:p>
            <a:r>
              <a:rPr lang="en-IN" sz="2000" b="1" dirty="0">
                <a:solidFill/>
                <a:latin typeface="Times New Roman" panose="02020603050405020304" pitchFamily="18" charset="0"/>
                <a:cs typeface="Times New Roman" panose="02020603050405020304" pitchFamily="18" charset="0"/>
              </a:rPr>
              <a:t>SDG 11</a:t>
            </a:r>
            <a:r>
              <a:rPr lang="en-IN" sz="2000" dirty="0">
                <a:solidFill/>
                <a:latin typeface="Times New Roman" panose="02020603050405020304" pitchFamily="18" charset="0"/>
                <a:cs typeface="Times New Roman" panose="02020603050405020304" pitchFamily="18" charset="0"/>
              </a:rPr>
              <a:t>: Sustainable Cities and Communities</a:t>
            </a:r>
          </a:p>
          <a:p>
            <a:pPr marL="50800" indent="0">
              <a:buNone/>
            </a:pPr>
            <a:r>
              <a:rPr lang="en-IN" sz="2000" dirty="0">
                <a:solidFill>
                  <a:srgbClr val="FF0000"/>
                </a:solidFill>
                <a:latin typeface="Times New Roman" panose="02020603050405020304" pitchFamily="18" charset="0"/>
                <a:cs typeface="Times New Roman" panose="02020603050405020304" pitchFamily="18" charset="0"/>
              </a:rPr>
              <a:t>      </a:t>
            </a:r>
            <a:r>
              <a:rPr lang="en-IN" sz="2000" dirty="0">
                <a:solidFill>
                  <a:schemeClr val="tx1"/>
                </a:solidFill>
                <a:latin typeface="Times New Roman" panose="02020603050405020304" pitchFamily="18" charset="0"/>
                <a:cs typeface="Times New Roman" panose="02020603050405020304" pitchFamily="18" charset="0"/>
              </a:rPr>
              <a:t>Target: Improve road transportation safety through intelligent and sustainable urban mobility.</a:t>
            </a:r>
          </a:p>
          <a:p>
            <a:pPr marL="50800" indent="0">
              <a:buNone/>
            </a:pPr>
            <a:endParaRPr lang="en-IN" sz="2000" dirty="0">
              <a:solidFill>
                <a:srgbClr val="FF0000"/>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None/>
              <a:tabLst/>
            </a:pPr>
            <a:endParaRPr lang="en-US" altLang="en-US" sz="2000" dirty="0">
              <a:solidFill>
                <a:schemeClr val="tx1"/>
              </a:solidFill>
            </a:endParaRP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2000" u="none" strike="noStrike" cap="none" normalizeH="0" baseline="0" dirty="0">
              <a:ln>
                <a:noFill/>
              </a:ln>
              <a:solidFill>
                <a:schemeClr val="tx1"/>
              </a:solidFill>
              <a:effectLst/>
            </a:endParaRPr>
          </a:p>
        </p:txBody>
      </p:sp>
      <p:sp>
        <p:nvSpPr>
          <p:cNvPr id="4" name="TextBox 3">
            <a:extLst>
              <a:ext uri="{FF2B5EF4-FFF2-40B4-BE49-F238E27FC236}">
                <a16:creationId xmlns:a16="http://schemas.microsoft.com/office/drawing/2014/main" id="{00828C27-559A-009F-1F71-AEB00A2DE27A}"/>
              </a:ext>
            </a:extLst>
          </p:cNvPr>
          <p:cNvSpPr txBox="1"/>
          <p:nvPr/>
        </p:nvSpPr>
        <p:spPr>
          <a:xfrm>
            <a:off x="554890" y="902959"/>
            <a:ext cx="8628185" cy="584775"/>
          </a:xfrm>
          <a:prstGeom prst="rect">
            <a:avLst/>
          </a:prstGeom>
          <a:noFill/>
        </p:spPr>
        <p:txBody>
          <a:bodyPr wrap="square">
            <a:spAutoFit/>
          </a:bodyPr>
          <a:lstStyle/>
          <a:p>
            <a:r>
              <a:rPr lang="en-IN" sz="3200">
                <a:solidFill>
                  <a:srgbClr val="FF0000"/>
                </a:solidFill>
                <a:latin typeface="Times New Roman" panose="02020603050405020304" pitchFamily="18" charset="0"/>
                <a:cs typeface="Times New Roman" panose="02020603050405020304" pitchFamily="18" charset="0"/>
              </a:rPr>
              <a:t>6. SDG Mapping</a:t>
            </a:r>
            <a:endParaRPr lang="en-IN" sz="320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3ECEA98-87F0-24B1-F7F0-8CFE5066F9C0}"/>
              </a:ext>
            </a:extLst>
          </p:cNvPr>
          <p:cNvPicPr>
            <a:picLocks noChangeAspect="1"/>
          </p:cNvPicPr>
          <p:nvPr/>
        </p:nvPicPr>
        <p:blipFill>
          <a:blip r:embed="rId3"/>
          <a:stretch>
            <a:fillRect/>
          </a:stretch>
        </p:blipFill>
        <p:spPr>
          <a:xfrm>
            <a:off x="3688545" y="3966425"/>
            <a:ext cx="1737565" cy="1486515"/>
          </a:xfrm>
          <a:prstGeom prst="rect">
            <a:avLst/>
          </a:prstGeom>
        </p:spPr>
      </p:pic>
      <p:pic>
        <p:nvPicPr>
          <p:cNvPr id="7" name="Picture 6">
            <a:extLst>
              <a:ext uri="{FF2B5EF4-FFF2-40B4-BE49-F238E27FC236}">
                <a16:creationId xmlns:a16="http://schemas.microsoft.com/office/drawing/2014/main" id="{B6263D67-0730-A314-12FE-2C094C8D611A}"/>
              </a:ext>
            </a:extLst>
          </p:cNvPr>
          <p:cNvPicPr>
            <a:picLocks noChangeAspect="1"/>
          </p:cNvPicPr>
          <p:nvPr/>
        </p:nvPicPr>
        <p:blipFill>
          <a:blip r:embed="rId4"/>
          <a:stretch>
            <a:fillRect/>
          </a:stretch>
        </p:blipFill>
        <p:spPr>
          <a:xfrm>
            <a:off x="5601567" y="3971394"/>
            <a:ext cx="1767226" cy="148154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dirty="0">
                <a:solidFill>
                  <a:srgbClr val="FF0000"/>
                </a:solidFill>
              </a:rPr>
              <a:t>6. SDG Mapping</a:t>
            </a:r>
          </a:p>
        </p:txBody>
      </p:sp>
      <p:sp>
        <p:nvSpPr>
          <p:cNvPr id="3" name="Text Placeholder 2"/>
          <p:cNvSpPr>
            <a:spLocks noGrp="1"/>
          </p:cNvSpPr>
          <p:nvPr>
            <p:ph type="body" idx="1"/>
          </p:nvPr>
        </p:nvSpPr>
        <p:spPr>
          <a:xfrm>
            <a:off x="838200" y="1406769"/>
            <a:ext cx="10515600" cy="2924071"/>
          </a:xfrm>
        </p:spPr>
        <p:txBody>
          <a:bodyPr>
            <a:normAutofit fontScale="85000" lnSpcReduction="20000"/>
          </a:bodyPr>
          <a:lstStyle/>
          <a:p>
            <a:pPr marL="50800" indent="0">
              <a:buNone/>
            </a:pPr>
            <a:r>
              <a:rPr dirty="0">
                <a:solidFill>
                  <a:srgbClr val="FF0000"/>
                </a:solidFill>
              </a:rPr>
              <a:t>6.2 How the Case Study is Related to the SDGs ?</a:t>
            </a:r>
          </a:p>
          <a:p>
            <a:r>
              <a:rPr dirty="0" err="1">
                <a:solidFill>
                  <a:schemeClr val="tx1"/>
                </a:solidFill>
                <a:latin typeface="Times New Roman" panose="02020603050405020304" pitchFamily="18" charset="0"/>
                <a:cs typeface="Times New Roman" panose="02020603050405020304" pitchFamily="18" charset="0"/>
              </a:rPr>
              <a:t>SafeRoad</a:t>
            </a:r>
            <a:r>
              <a:rPr dirty="0">
                <a:solidFill>
                  <a:schemeClr val="tx1"/>
                </a:solidFill>
                <a:latin typeface="Times New Roman" panose="02020603050405020304" pitchFamily="18" charset="0"/>
                <a:cs typeface="Times New Roman" panose="02020603050405020304" pitchFamily="18" charset="0"/>
              </a:rPr>
              <a:t> AI contributes to public health by helping drivers recognize potentially dangerous road conditions before accidents occur. Through AI-powered early risk detection and timely safety alerts, the system aims to reduce the likelihood of road accidents, injuries, and fatalities.</a:t>
            </a:r>
          </a:p>
          <a:p>
            <a:r>
              <a:rPr dirty="0">
                <a:solidFill>
                  <a:schemeClr val="tx1"/>
                </a:solidFill>
                <a:latin typeface="Times New Roman" panose="02020603050405020304" pitchFamily="18" charset="0"/>
                <a:cs typeface="Times New Roman" panose="02020603050405020304" pitchFamily="18" charset="0"/>
              </a:rPr>
              <a:t>The proposed system supports smarter and safer transportation by enabling intelligent monitoring of road conditions. It can be extended for use in smart city infrastructures, traffic management systems, and connected vehicle ecosystems, contributing to safer urban mobility.</a:t>
            </a:r>
          </a:p>
          <a:p>
            <a:endParaRPr b="1" dirty="0"/>
          </a:p>
          <a:p>
            <a:endParaRPr b="1" dirty="0"/>
          </a:p>
          <a:p>
            <a:pPr algn="l">
              <a:lnSpc>
                <a:spcPct val="150000"/>
              </a:lnSpc>
            </a:pPr>
            <a:endParaRPr b="1" dirty="0"/>
          </a:p>
          <a:p>
            <a:pPr algn="l">
              <a:lnSpc>
                <a:spcPct val="150000"/>
              </a:lnSpc>
            </a:pPr>
            <a:endParaRPr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CC6C441-2116-43D8-0140-257B5EC1588F}"/>
              </a:ext>
            </a:extLst>
          </p:cNvPr>
          <p:cNvSpPr>
            <a:spLocks noGrp="1"/>
          </p:cNvSpPr>
          <p:nvPr>
            <p:ph type="body" idx="1"/>
          </p:nvPr>
        </p:nvSpPr>
        <p:spPr>
          <a:xfrm>
            <a:off x="838200" y="554892"/>
            <a:ext cx="10642600" cy="4358752"/>
          </a:xfrm>
        </p:spPr>
        <p:txBody>
          <a:bodyPr>
            <a:normAutofit lnSpcReduction="10000"/>
          </a:bodyPr>
          <a:lstStyle/>
          <a:p>
            <a:pPr marL="114300" indent="0">
              <a:buNone/>
            </a:pPr>
            <a:r>
              <a:rPr lang="en-IN" sz="3800" b="1" dirty="0">
                <a:solidFill>
                  <a:srgbClr val="FF0000"/>
                </a:solidFill>
                <a:latin typeface="Times New Roman" panose="02020603050405020304" pitchFamily="18" charset="0"/>
                <a:cs typeface="Times New Roman" panose="02020603050405020304" pitchFamily="18" charset="0"/>
              </a:rPr>
              <a:t>7.1 Dataset Description</a:t>
            </a:r>
          </a:p>
          <a:p>
            <a:pPr marL="571500" lvl="1" indent="0">
              <a:buNone/>
            </a:pPr>
            <a:r>
              <a:rPr lang="en-IN" sz="2200" dirty="0">
                <a:solidFill/>
                <a:latin typeface="Times New Roman" panose="02020603050405020304" pitchFamily="18" charset="0"/>
                <a:cs typeface="Times New Roman" panose="02020603050405020304" pitchFamily="18" charset="0"/>
              </a:rPr>
              <a:t>The proposed </a:t>
            </a:r>
            <a:r>
              <a:rPr lang="en-IN" sz="2200" dirty="0" err="1">
                <a:solidFill/>
                <a:latin typeface="Times New Roman" panose="02020603050405020304" pitchFamily="18" charset="0"/>
                <a:cs typeface="Times New Roman" panose="02020603050405020304" pitchFamily="18" charset="0"/>
              </a:rPr>
              <a:t>SafeRoad</a:t>
            </a:r>
            <a:r>
              <a:rPr lang="en-IN" sz="2200" dirty="0">
                <a:solidFill/>
                <a:latin typeface="Times New Roman" panose="02020603050405020304" pitchFamily="18" charset="0"/>
                <a:cs typeface="Times New Roman" panose="02020603050405020304" pitchFamily="18" charset="0"/>
              </a:rPr>
              <a:t> AI system utilizes road-scene images from two publicly available benchmark datasets: BDD100K (Berkeley </a:t>
            </a:r>
            <a:r>
              <a:rPr lang="en-IN" sz="2200" dirty="0" err="1">
                <a:solidFill/>
                <a:latin typeface="Times New Roman" panose="02020603050405020304" pitchFamily="18" charset="0"/>
                <a:cs typeface="Times New Roman" panose="02020603050405020304" pitchFamily="18" charset="0"/>
              </a:rPr>
              <a:t>DeepDrive</a:t>
            </a:r>
            <a:r>
              <a:rPr lang="en-IN" sz="2200" dirty="0">
                <a:solidFill/>
                <a:latin typeface="Times New Roman" panose="02020603050405020304" pitchFamily="18" charset="0"/>
                <a:cs typeface="Times New Roman" panose="02020603050405020304" pitchFamily="18" charset="0"/>
              </a:rPr>
              <a:t> Dataset) and the IDD (India Driving Dataset). BDD100K contains diverse driving images captured under various environmental conditions, including day and night scenes, different weather conditions, highways, urban roads, and varying traffic densities. The IDD dataset complements this by providing Indian road scenarios with heterogeneous traffic, complex road layouts, pedestrians, motorcycles, auto-rickshaws, and varying infrastructure conditions. Images from both datasets are manually categorized into Safe, Moderate Risk, and High Risk classes based on traffic density, road conditions, visibility, and surrounding environmental factors. This combined dataset enables the development of a robust deep learning model capable of </a:t>
            </a:r>
            <a:r>
              <a:rPr lang="en-IN" sz="2200" dirty="0" err="1">
                <a:solidFill/>
                <a:latin typeface="Times New Roman" panose="02020603050405020304" pitchFamily="18" charset="0"/>
                <a:cs typeface="Times New Roman" panose="02020603050405020304" pitchFamily="18" charset="0"/>
              </a:rPr>
              <a:t>analyzing</a:t>
            </a:r>
            <a:r>
              <a:rPr lang="en-IN" sz="2200" dirty="0">
                <a:solidFill/>
                <a:latin typeface="Times New Roman" panose="02020603050405020304" pitchFamily="18" charset="0"/>
                <a:cs typeface="Times New Roman" panose="02020603050405020304" pitchFamily="18" charset="0"/>
              </a:rPr>
              <a:t> road scenes from different geographical regions and traffic environments for intelligent traffic monitoring and road risk analysis.</a:t>
            </a:r>
            <a:endParaRPr lang="en-IN" sz="2200" dirty="0"/>
          </a:p>
          <a:p>
            <a:pPr marL="114300" indent="0">
              <a:buNone/>
            </a:pPr>
            <a:endParaRPr lang="en-IN" dirty="0"/>
          </a:p>
          <a:p>
            <a:pPr marL="114300" indent="0">
              <a:buNone/>
            </a:pPr>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1030813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FF0000"/>
                </a:solidFill>
                <a:latin typeface="Times New Roman" panose="02020603050405020304" pitchFamily="18" charset="0"/>
                <a:cs typeface="Times New Roman" panose="02020603050405020304" pitchFamily="18" charset="0"/>
              </a:rPr>
              <a:t>7.2</a:t>
            </a:r>
            <a:r>
              <a:rPr lang="en-IN" b="1" dirty="0"/>
              <a:t> </a:t>
            </a:r>
            <a:r>
              <a:rPr lang="en-IN" sz="3200" b="1" dirty="0">
                <a:solidFill>
                  <a:srgbClr val="FF0000"/>
                </a:solidFill>
                <a:latin typeface="Times New Roman" panose="02020603050405020304" pitchFamily="18" charset="0"/>
                <a:cs typeface="Times New Roman" panose="02020603050405020304" pitchFamily="18" charset="0"/>
              </a:rPr>
              <a:t>Dataset Challenges Addressed</a:t>
            </a:r>
            <a:r>
              <a:rPr lang="en-IN" sz="3200" dirty="0">
                <a:solidFill>
                  <a:srgbClr val="FF0000"/>
                </a:solidFill>
                <a:latin typeface="Times New Roman" panose="02020603050405020304" pitchFamily="18" charset="0"/>
                <a:cs typeface="Times New Roman" panose="02020603050405020304" pitchFamily="18" charset="0"/>
              </a:rPr>
              <a:t>​</a:t>
            </a:r>
            <a:endParaRPr sz="3200"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914400" y="1065125"/>
            <a:ext cx="10354407" cy="4521759"/>
          </a:xfrm>
        </p:spPr>
        <p:txBody>
          <a:bodyPr>
            <a:normAutofit fontScale="55000" lnSpcReduction="20000"/>
          </a:bodyPr>
          <a:lstStyle/>
          <a:p>
            <a:pPr marL="114300" indent="0">
              <a:buNone/>
            </a:pPr>
            <a:endParaRPr lang="en-IN" dirty="0"/>
          </a:p>
          <a:p>
            <a:r>
              <a:rPr sz="3600" dirty="0">
                <a:latin typeface="Times New Roman" panose="02020603050405020304" pitchFamily="18" charset="0"/>
                <a:cs typeface="Times New Roman" panose="02020603050405020304" pitchFamily="18" charset="0"/>
              </a:rPr>
              <a:t>Image preprocessing including resizing all images to a uniform input size suitable for deep learning models.</a:t>
            </a:r>
            <a:endParaRPr lang="en-IN" sz="3600" dirty="0">
              <a:latin typeface="Times New Roman" panose="02020603050405020304" pitchFamily="18" charset="0"/>
              <a:cs typeface="Times New Roman" panose="02020603050405020304" pitchFamily="18" charset="0"/>
            </a:endParaRPr>
          </a:p>
          <a:p>
            <a:r>
              <a:rPr sz="3600" dirty="0">
                <a:solidFill/>
                <a:latin typeface="Times New Roman" panose="02020603050405020304" pitchFamily="18" charset="0"/>
                <a:cs typeface="Times New Roman" panose="02020603050405020304" pitchFamily="18" charset="0"/>
              </a:rPr>
              <a:t>Image normalization to</a:t>
            </a:r>
            <a:r>
              <a:rPr lang="en-IN" sz="3600" dirty="0">
                <a:solidFill/>
                <a:latin typeface="Times New Roman" panose="02020603050405020304" pitchFamily="18" charset="0"/>
                <a:cs typeface="Times New Roman" panose="02020603050405020304" pitchFamily="18" charset="0"/>
              </a:rPr>
              <a:t> </a:t>
            </a:r>
            <a:r>
              <a:rPr sz="3600" dirty="0">
                <a:solidFill/>
                <a:latin typeface="Times New Roman" panose="02020603050405020304" pitchFamily="18" charset="0"/>
                <a:cs typeface="Times New Roman" panose="02020603050405020304" pitchFamily="18" charset="0"/>
              </a:rPr>
              <a:t>improve training stability and convergence.</a:t>
            </a:r>
          </a:p>
          <a:p>
            <a:r>
              <a:rPr sz="3600" dirty="0">
                <a:solidFill/>
                <a:latin typeface="Times New Roman" panose="02020603050405020304" pitchFamily="18" charset="0"/>
                <a:cs typeface="Times New Roman" panose="02020603050405020304" pitchFamily="18" charset="0"/>
              </a:rPr>
              <a:t>Manual annotation of road scenes into Safe, Moderate Risk, and High Risk categories.</a:t>
            </a:r>
          </a:p>
          <a:p>
            <a:r>
              <a:rPr sz="3600" dirty="0">
                <a:latin typeface="Times New Roman" panose="02020603050405020304" pitchFamily="18" charset="0"/>
                <a:cs typeface="Times New Roman" panose="02020603050405020304" pitchFamily="18" charset="0"/>
              </a:rPr>
              <a:t>Handling variations in illumination such as daytime, nighttime, shadows, and low-light conditions.</a:t>
            </a:r>
          </a:p>
          <a:p>
            <a:r>
              <a:rPr sz="3600" dirty="0">
                <a:latin typeface="Times New Roman" panose="02020603050405020304" pitchFamily="18" charset="0"/>
                <a:cs typeface="Times New Roman" panose="02020603050405020304" pitchFamily="18" charset="0"/>
              </a:rPr>
              <a:t>Managing different weather conditions including sunny, rainy, foggy, and cloudy environments.</a:t>
            </a:r>
          </a:p>
          <a:p>
            <a:r>
              <a:rPr sz="3600" dirty="0">
                <a:latin typeface="Times New Roman" panose="02020603050405020304" pitchFamily="18" charset="0"/>
                <a:cs typeface="Times New Roman" panose="02020603050405020304" pitchFamily="18" charset="0"/>
              </a:rPr>
              <a:t>Handling diverse traffic densities ranging from low to highly congested roads.</a:t>
            </a:r>
          </a:p>
          <a:p>
            <a:r>
              <a:rPr sz="3600" dirty="0">
                <a:latin typeface="Times New Roman" panose="02020603050405020304" pitchFamily="18" charset="0"/>
                <a:cs typeface="Times New Roman" panose="02020603050405020304" pitchFamily="18" charset="0"/>
              </a:rPr>
              <a:t>Removing duplicate or low-quality images to improve dataset quality.</a:t>
            </a:r>
          </a:p>
          <a:p>
            <a:r>
              <a:rPr sz="3600" dirty="0">
                <a:latin typeface="Times New Roman" panose="02020603050405020304" pitchFamily="18" charset="0"/>
                <a:cs typeface="Times New Roman" panose="02020603050405020304" pitchFamily="18" charset="0"/>
              </a:rPr>
              <a:t>Performing data augmentation (</a:t>
            </a:r>
            <a:r>
              <a:rPr sz="3600" dirty="0" err="1">
                <a:latin typeface="Times New Roman" panose="02020603050405020304" pitchFamily="18" charset="0"/>
                <a:cs typeface="Times New Roman" panose="02020603050405020304" pitchFamily="18" charset="0"/>
              </a:rPr>
              <a:t>rotati</a:t>
            </a:r>
            <a:r>
              <a:rPr lang="en-IN" sz="3600" dirty="0">
                <a:latin typeface="Times New Roman" panose="02020603050405020304" pitchFamily="18" charset="0"/>
                <a:cs typeface="Times New Roman" panose="02020603050405020304" pitchFamily="18" charset="0"/>
              </a:rPr>
              <a:t>o</a:t>
            </a:r>
            <a:r>
              <a:rPr sz="3600" dirty="0">
                <a:latin typeface="Times New Roman" panose="02020603050405020304" pitchFamily="18" charset="0"/>
                <a:cs typeface="Times New Roman" panose="02020603050405020304" pitchFamily="18" charset="0"/>
              </a:rPr>
              <a:t>n, flipping, zooming, brightness adjustment) to improve model generalization.</a:t>
            </a:r>
          </a:p>
          <a:p>
            <a:r>
              <a:rPr sz="3600" dirty="0">
                <a:latin typeface="Times New Roman" panose="02020603050405020304" pitchFamily="18" charset="0"/>
                <a:cs typeface="Times New Roman" panose="02020603050405020304" pitchFamily="18" charset="0"/>
              </a:rPr>
              <a:t>Balancing the number of samples across all risk categories to reduce class imbalance.</a:t>
            </a:r>
          </a:p>
          <a:p>
            <a:endParaRPr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369C5-6F9D-1452-FD1D-6850D450B6F5}"/>
              </a:ext>
            </a:extLst>
          </p:cNvPr>
          <p:cNvSpPr>
            <a:spLocks noGrp="1"/>
          </p:cNvSpPr>
          <p:nvPr>
            <p:ph type="title"/>
          </p:nvPr>
        </p:nvSpPr>
        <p:spPr/>
        <p:txBody>
          <a:bodyPr>
            <a:normAutofit fontScale="90000"/>
          </a:bodyPr>
          <a:lstStyle/>
          <a:p>
            <a:br>
              <a:rPr lang="en-US"/>
            </a:br>
            <a:br>
              <a:rPr lang="en-IN"/>
            </a:br>
            <a:br>
              <a:rPr lang="en-IN"/>
            </a:br>
            <a:br>
              <a:rPr lang="en-IN"/>
            </a:br>
            <a:br>
              <a:rPr lang="en-IN"/>
            </a:br>
            <a:endParaRPr lang="en-IN"/>
          </a:p>
        </p:txBody>
      </p:sp>
      <p:sp>
        <p:nvSpPr>
          <p:cNvPr id="6" name="TextBox 5">
            <a:extLst>
              <a:ext uri="{FF2B5EF4-FFF2-40B4-BE49-F238E27FC236}">
                <a16:creationId xmlns:a16="http://schemas.microsoft.com/office/drawing/2014/main" id="{2C85D000-7439-4362-CFD1-FF6694988E0D}"/>
              </a:ext>
            </a:extLst>
          </p:cNvPr>
          <p:cNvSpPr txBox="1"/>
          <p:nvPr/>
        </p:nvSpPr>
        <p:spPr>
          <a:xfrm>
            <a:off x="887046" y="1027977"/>
            <a:ext cx="9792677" cy="3046988"/>
          </a:xfrm>
          <a:prstGeom prst="rect">
            <a:avLst/>
          </a:prstGeom>
          <a:noFill/>
        </p:spPr>
        <p:txBody>
          <a:bodyPr wrap="square">
            <a:spAutoFit/>
          </a:bodyPr>
          <a:lstStyle/>
          <a:p>
            <a:pPr>
              <a:buNone/>
            </a:pPr>
            <a:r>
              <a:rPr lang="en-IN" sz="3200" b="1" dirty="0">
                <a:solidFill>
                  <a:srgbClr val="FF0000"/>
                </a:solidFill>
                <a:latin typeface="Times New Roman" panose="02020603050405020304" pitchFamily="18" charset="0"/>
                <a:cs typeface="Times New Roman" panose="02020603050405020304" pitchFamily="18" charset="0"/>
              </a:rPr>
              <a:t>8. Novelty of the Product</a:t>
            </a:r>
          </a:p>
          <a:p>
            <a:pPr>
              <a:buNone/>
            </a:pPr>
            <a:endParaRPr lang="en-IN" sz="2000" b="1" dirty="0">
              <a:solidFill>
                <a:srgbClr val="FF0000"/>
              </a:solidFill>
              <a:latin typeface="Times New Roman" panose="02020603050405020304" pitchFamily="18" charset="0"/>
              <a:cs typeface="Times New Roman" panose="02020603050405020304" pitchFamily="18" charset="0"/>
            </a:endParaRPr>
          </a:p>
          <a:p>
            <a:pPr>
              <a:buNone/>
            </a:pPr>
            <a:r>
              <a:rPr lang="en-IN" sz="2000" dirty="0">
                <a:latin typeface="Times New Roman" panose="02020603050405020304" pitchFamily="18" charset="0"/>
                <a:cs typeface="Times New Roman" panose="02020603050405020304" pitchFamily="18" charset="0"/>
              </a:rPr>
              <a:t>The novelty of the </a:t>
            </a:r>
            <a:r>
              <a:rPr lang="en-IN" sz="2000" dirty="0" err="1">
                <a:latin typeface="Times New Roman" panose="02020603050405020304" pitchFamily="18" charset="0"/>
                <a:cs typeface="Times New Roman" panose="02020603050405020304" pitchFamily="18" charset="0"/>
              </a:rPr>
              <a:t>SafeRoad</a:t>
            </a:r>
            <a:r>
              <a:rPr lang="en-IN" sz="2000" dirty="0">
                <a:latin typeface="Times New Roman" panose="02020603050405020304" pitchFamily="18" charset="0"/>
                <a:cs typeface="Times New Roman" panose="02020603050405020304" pitchFamily="18" charset="0"/>
              </a:rPr>
              <a:t> AI system lies in its ability to perform near real-time road scene analysis using deep learning for proactive traffic monitoring and road safety. Unlike traditional systems that focus on post-collision detection or require expensive proprietary hardware, </a:t>
            </a:r>
            <a:r>
              <a:rPr lang="en-IN" sz="2000" dirty="0" err="1">
                <a:latin typeface="Times New Roman" panose="02020603050405020304" pitchFamily="18" charset="0"/>
                <a:cs typeface="Times New Roman" panose="02020603050405020304" pitchFamily="18" charset="0"/>
              </a:rPr>
              <a:t>SafeRoad</a:t>
            </a:r>
            <a:r>
              <a:rPr lang="en-IN" sz="2000" dirty="0">
                <a:latin typeface="Times New Roman" panose="02020603050405020304" pitchFamily="18" charset="0"/>
                <a:cs typeface="Times New Roman" panose="02020603050405020304" pitchFamily="18" charset="0"/>
              </a:rPr>
              <a:t> AI provides a lightweight, web-based prototype. By combining diverse traffic scenarios from both BDD100K and IDD datasets, it evaluates and compares three models (CNN, MobileNetV2, and EfficientNetB0) to classify road conditions into Safe, Moderate Risk, and High Risk categories, generating preventive safety alerts.</a:t>
            </a:r>
          </a:p>
        </p:txBody>
      </p:sp>
    </p:spTree>
    <p:extLst>
      <p:ext uri="{BB962C8B-B14F-4D97-AF65-F5344CB8AC3E}">
        <p14:creationId xmlns:p14="http://schemas.microsoft.com/office/powerpoint/2010/main" val="12616177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38B8F-9C56-44E2-08CB-819AB2D30052}"/>
              </a:ext>
            </a:extLst>
          </p:cNvPr>
          <p:cNvSpPr>
            <a:spLocks noGrp="1"/>
          </p:cNvSpPr>
          <p:nvPr>
            <p:ph type="title"/>
          </p:nvPr>
        </p:nvSpPr>
        <p:spPr>
          <a:xfrm>
            <a:off x="838200" y="2103300"/>
            <a:ext cx="10515600" cy="1325700"/>
          </a:xfrm>
        </p:spPr>
        <p:txBody>
          <a:bodyPr>
            <a:noAutofit/>
          </a:bodyPr>
          <a:lstStyle/>
          <a:p>
            <a:pPr algn="ctr"/>
            <a:r>
              <a:rPr lang="en-US" sz="9600" i="1">
                <a:solidFill>
                  <a:srgbClr val="FF0000"/>
                </a:solidFill>
                <a:latin typeface="Brush Script MT" panose="03060802040406070304" pitchFamily="66" charset="0"/>
              </a:rPr>
              <a:t>Thank you</a:t>
            </a:r>
            <a:endParaRPr lang="en-IN" sz="9600" i="1">
              <a:solidFill>
                <a:srgbClr val="FF0000"/>
              </a:solidFill>
              <a:latin typeface="Brush Script MT" panose="03060802040406070304" pitchFamily="66" charset="0"/>
            </a:endParaRPr>
          </a:p>
        </p:txBody>
      </p:sp>
    </p:spTree>
    <p:extLst>
      <p:ext uri="{BB962C8B-B14F-4D97-AF65-F5344CB8AC3E}">
        <p14:creationId xmlns:p14="http://schemas.microsoft.com/office/powerpoint/2010/main" val="1734432672"/>
      </p:ext>
    </p:extLst>
  </p:cSld>
  <p:clrMapOvr>
    <a:masterClrMapping/>
  </p:clrMapOvr>
</p:sld>
</file>

<file path=ppt/theme/theme1.xml><?xml version="1.0" encoding="utf-8"?>
<a:theme xmlns:a="http://schemas.openxmlformats.org/drawingml/2006/main" name="2_Presentation slide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resentation slide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TotalTime>
  <Words>1420</Words>
  <Application>Microsoft Office PowerPoint</Application>
  <PresentationFormat>Widescreen</PresentationFormat>
  <Paragraphs>118</Paragraphs>
  <Slides>16</Slides>
  <Notes>4</Notes>
  <HiddenSlides>0</HiddenSlides>
  <MMClips>0</MMClips>
  <ScaleCrop>false</ScaleCrop>
  <HeadingPairs>
    <vt:vector size="4" baseType="variant">
      <vt:variant>
        <vt:lpstr>Theme</vt:lpstr>
      </vt:variant>
      <vt:variant>
        <vt:i4>2</vt:i4>
      </vt:variant>
      <vt:variant>
        <vt:lpstr>Slide Titles</vt:lpstr>
      </vt:variant>
      <vt:variant>
        <vt:i4>16</vt:i4>
      </vt:variant>
    </vt:vector>
  </HeadingPairs>
  <TitlesOfParts>
    <vt:vector size="18" baseType="lpstr">
      <vt:lpstr>2_Presentation slides</vt:lpstr>
      <vt:lpstr>Presentation slides</vt:lpstr>
      <vt:lpstr>PowerPoint Presentation</vt:lpstr>
      <vt:lpstr>ROAD SCENE RISK CLASSIFICATION &amp; TRAFFIC MONITORING</vt:lpstr>
      <vt:lpstr>PowerPoint Presentation</vt:lpstr>
      <vt:lpstr>1. Introduction</vt:lpstr>
      <vt:lpstr>2. Problem Statement</vt:lpstr>
      <vt:lpstr>3. Motivation</vt:lpstr>
      <vt:lpstr>4. Research Questions &amp; Gaps</vt:lpstr>
      <vt:lpstr>4. Research Questions &amp; Gaps</vt:lpstr>
      <vt:lpstr>5. Related Products</vt:lpstr>
      <vt:lpstr>5. Related Products</vt:lpstr>
      <vt:lpstr>PowerPoint Presentation</vt:lpstr>
      <vt:lpstr>6. SDG Mapping</vt:lpstr>
      <vt:lpstr>PowerPoint Presentation</vt:lpstr>
      <vt:lpstr>7.2 Dataset Challenges Addressed​</vt:lpstr>
      <vt:lpstr>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Senthil</dc:creator>
  <cp:lastModifiedBy>Uppara Veeranjaneyulu</cp:lastModifiedBy>
  <cp:revision>7</cp:revision>
  <dcterms:modified xsi:type="dcterms:W3CDTF">2026-07-05T16:38:07Z</dcterms:modified>
</cp:coreProperties>
</file>